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Gait Temporal Asymmetry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27432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CAE9F5"/>
                </a:solidFill>
                <a:latin typeface="Calibri"/>
              </a:rPr>
              <a:t>Methods · Group Comparisons · Clinical Relevance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66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BMED712 Track A  |  216 subjects  |  974 trials  |  IMU Gait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5303520"/>
            <a:ext cx="2103120" cy="548640"/>
          </a:xfrm>
          <a:prstGeom prst="rect">
            <a:avLst/>
          </a:prstGeom>
          <a:solidFill>
            <a:srgbClr val="2E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5349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Healthy (n=70)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5303520"/>
            <a:ext cx="2103120" cy="5486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5349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Ortho (n=35)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60" y="5303520"/>
            <a:ext cx="21031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5349240"/>
            <a:ext cx="1920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Neuro (n=82)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Background &amp; Data Source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</a:rPr>
              <a:t>Clinical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828800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Gait asymmetry = difference in timing between left and right steps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86000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240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Healthy walking has natural lateralization (preferred side leads)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6974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Neurological &amp; orthopedic conditions disrupt this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1546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Heel-Strike (HS) timing from wearable IMUs → objective measure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657600"/>
            <a:ext cx="54864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611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Key question: does |AI| differ across Healthy / Ortho / Neuro groups?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09728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23444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065A82"/>
                </a:solidFill>
                <a:latin typeface="Calibri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828800"/>
            <a:ext cx="2194560" cy="1097280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874519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  <a:latin typeface="Calibri"/>
              </a:rPr>
              <a:t>216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48716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Subjects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828800"/>
            <a:ext cx="2194560" cy="1097280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874519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  <a:latin typeface="Calibri"/>
              </a:rPr>
              <a:t>974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48716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Valid Trials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200400"/>
            <a:ext cx="2194560" cy="1097280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2461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385876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IMU Sensors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3200400"/>
            <a:ext cx="2194560" cy="1097280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3246120"/>
            <a:ext cx="1920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65A82"/>
                </a:solidFill>
                <a:latin typeface="Calibri"/>
              </a:rPr>
              <a:t>100 Hz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3858768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Calibri"/>
              </a:rPr>
              <a:t>Sampling Rate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7548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65A82"/>
                </a:solidFill>
                <a:latin typeface="Calibri"/>
              </a:rPr>
              <a:t>Groups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5166360"/>
            <a:ext cx="1600200" cy="868680"/>
          </a:xfrm>
          <a:prstGeom prst="rect">
            <a:avLst/>
          </a:prstGeom>
          <a:solidFill>
            <a:srgbClr val="2E8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51937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Healthy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73952" y="546811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n=70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83879" y="5166360"/>
            <a:ext cx="1600200" cy="86868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51937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Ortho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1" y="546811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n=35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966960" y="5166360"/>
            <a:ext cx="1600200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5193792"/>
            <a:ext cx="1463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Neuro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40112" y="5468112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n=82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Methods: How Asymmetry is Calculated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15568"/>
            <a:ext cx="548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11556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Extract Heel-Strike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50876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From metadata: leftGaitEvents / rightGaitEvents → pair[1] = HS sample index
U-turn segment excluded via uturnBoundaries. Quality filter: ≥3 HS per side, no duplicates.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7440"/>
            <a:ext cx="54864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2395728"/>
            <a:ext cx="548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95728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Compute Step &amp; Stride 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788920"/>
            <a:ext cx="8686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Step time = interval R→next L (left step) and L→next R (right step)
Stride time = consecutive same-foot HS intervals. Valid range: 0.2–3.0 s step, 0.4–5.0 s stride.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657600"/>
            <a:ext cx="54864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3675887"/>
            <a:ext cx="5486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75887"/>
            <a:ext cx="6400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65A82"/>
                </a:solidFill>
                <a:latin typeface="Calibri"/>
              </a:rPr>
              <a:t>Five Asymmetry Metrics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4160520"/>
            <a:ext cx="141732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" y="4206240"/>
            <a:ext cx="129844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4160520"/>
            <a:ext cx="269748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96312" y="4206240"/>
            <a:ext cx="257860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Formula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66360" y="4160520"/>
            <a:ext cx="434340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9512" y="4206240"/>
            <a:ext cx="42245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Interpretation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" y="4572000"/>
            <a:ext cx="141732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" y="4617720"/>
            <a:ext cx="12984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Signed 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4572000"/>
            <a:ext cx="269748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96312" y="4617720"/>
            <a:ext cx="25786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alibri"/>
              </a:rPr>
              <a:t>(L−R) / mean(L,R)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66360" y="4572000"/>
            <a:ext cx="434340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9512" y="4617720"/>
            <a:ext cx="42245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Direction of asymmetry (positive = L dominates)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983480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" y="5029200"/>
            <a:ext cx="12984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|AI|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983480"/>
            <a:ext cx="2697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96312" y="5029200"/>
            <a:ext cx="25786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alibri"/>
              </a:rPr>
              <a:t>|L−R| / mean(L,R)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66360" y="4983480"/>
            <a:ext cx="4343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9512" y="5029200"/>
            <a:ext cx="42245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Magnitude — our PRIMARY metric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0120" y="5394960"/>
            <a:ext cx="141732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3272" y="5440680"/>
            <a:ext cx="12984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|L−R| diff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23160" y="5394960"/>
            <a:ext cx="269748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96312" y="5440680"/>
            <a:ext cx="25786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alibri"/>
              </a:rPr>
              <a:t>|L−R| (seconds)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166360" y="5394960"/>
            <a:ext cx="434340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39512" y="5440680"/>
            <a:ext cx="42245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Absolute timing gap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5806440"/>
            <a:ext cx="14173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852159"/>
            <a:ext cx="12984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Ratio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23160" y="5806440"/>
            <a:ext cx="26974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96312" y="5852159"/>
            <a:ext cx="25786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alibri"/>
              </a:rPr>
              <a:t>L / 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166360" y="5806440"/>
            <a:ext cx="434340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39512" y="5852159"/>
            <a:ext cx="42245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Ratio of left to right duration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60120" y="6217920"/>
            <a:ext cx="141732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33272" y="6263640"/>
            <a:ext cx="129844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  <a:latin typeface="Calibri"/>
              </a:rPr>
              <a:t>CV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23160" y="6217920"/>
            <a:ext cx="269748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496312" y="6263640"/>
            <a:ext cx="257860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65A82"/>
                </a:solidFill>
                <a:latin typeface="Calibri"/>
              </a:rPr>
              <a:t>SD / mean (per side)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166360" y="6217920"/>
            <a:ext cx="4343400" cy="384048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239512" y="6263640"/>
            <a:ext cx="4224528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0D1B2A"/>
                </a:solidFill>
                <a:latin typeface="Calibri"/>
              </a:rPr>
              <a:t>Within-trial variability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464808"/>
            <a:ext cx="113385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⚠  Subject-level aggregation: trial means averaged per subject → 216 data points (avoids pseudoreplication)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Key Finding: Healthy Gait is MORE Asymmetric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CAE9F5"/>
                </a:solidFill>
                <a:latin typeface="Calibri"/>
              </a:rPr>
              <a:t>Counterintuitive but validated: neurological pathology leads to loss of natural motor lateralization → more symmetric gait</a:t>
            </a:r>
          </a:p>
        </p:txBody>
      </p:sp>
      <p:pic>
        <p:nvPicPr>
          <p:cNvPr id="5" name="Picture 4" descr="step06_asymmetry_boxplot_ab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00200"/>
            <a:ext cx="5943600" cy="4572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75120" y="1600200"/>
            <a:ext cx="5212080" cy="10515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64592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Cohen's d = 0.77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24028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H vs N (Stride |AI|)</a:t>
            </a:r>
          </a:p>
        </p:txBody>
      </p:sp>
      <p:sp>
        <p:nvSpPr>
          <p:cNvPr id="9" name="Rectangle 8"/>
          <p:cNvSpPr/>
          <p:nvPr/>
        </p:nvSpPr>
        <p:spPr>
          <a:xfrm>
            <a:off x="6675120" y="2788920"/>
            <a:ext cx="5212080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2834639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p &lt; 0.001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42900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Kruskal-Wallis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3977639"/>
            <a:ext cx="5212080" cy="105156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023359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AUC = 0.716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461772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Single-feature screening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5166360"/>
            <a:ext cx="5212080" cy="1051560"/>
          </a:xfrm>
          <a:prstGeom prst="rect">
            <a:avLst/>
          </a:prstGeom>
          <a:solidFill>
            <a:srgbClr val="028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5212080"/>
            <a:ext cx="48463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83%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5806440"/>
            <a:ext cx="484632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Calibri"/>
              </a:rPr>
              <a:t>Specificity at optimal threshold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Statistical Validation</a:t>
            </a:r>
          </a:p>
        </p:txBody>
      </p:sp>
      <p:pic>
        <p:nvPicPr>
          <p:cNvPr id="4" name="Picture 3" descr="step11_bootstrap_l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7498079" cy="53035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001000" y="11887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1000" y="1188720"/>
            <a:ext cx="91440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0" y="128016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Bootstrap CI (n=10,000)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645920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d = 0.77  [0.50, 1.07]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AUC = 0.716  [0.635, 0.792]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1000" y="288036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1000" y="2880360"/>
            <a:ext cx="91440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97180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Linear Mixed Effects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337560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stride_AI ~ group + (1|Subject)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685032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Neuro: β=−0.019, p=3×10⁻⁶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1000" y="457200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1000" y="4572000"/>
            <a:ext cx="91440" cy="1463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4663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65A82"/>
                </a:solidFill>
                <a:latin typeface="Calibri"/>
              </a:rPr>
              <a:t>Neuro vs Healthy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029200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Significant loss of lateralization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376672"/>
            <a:ext cx="35661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1C7293"/>
                </a:solidFill>
                <a:latin typeface="Calibri"/>
              </a:rPr>
              <a:t>Ortho: β≈0, p=1.00 (not affected)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6217920"/>
            <a:ext cx="3931920" cy="548640"/>
          </a:xfrm>
          <a:prstGeom prst="rect">
            <a:avLst/>
          </a:prstGeom>
          <a:solidFill>
            <a:srgbClr val="CAE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6263640"/>
            <a:ext cx="374903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65A82"/>
                </a:solidFill>
                <a:latin typeface="Calibri"/>
              </a:rPr>
              <a:t>Best subtype:  RIL d=0.87  &gt;  PD d=0.77  &gt;  CVA d=0.73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Clinical Relevance</a:t>
            </a:r>
          </a:p>
        </p:txBody>
      </p:sp>
      <p:pic>
        <p:nvPicPr>
          <p:cNvPr id="4" name="Picture 3" descr="step13_vga_stride_ab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5852160" cy="4114800"/>
          </a:xfrm>
          <a:prstGeom prst="rect">
            <a:avLst/>
          </a:prstGeom>
        </p:spPr>
      </p:pic>
      <p:pic>
        <p:nvPicPr>
          <p:cNvPr id="5" name="Picture 4" descr="step12_phase_stride_absA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51560"/>
            <a:ext cx="557784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394960"/>
            <a:ext cx="12188952" cy="14173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5486400"/>
            <a:ext cx="3749039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5532120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VGA Correlation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5897880"/>
            <a:ext cx="352958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E9F5"/>
                </a:solidFill>
                <a:latin typeface="Calibri"/>
              </a:rPr>
              <a:t>r = −0.206,  p = 2.3×10⁻¹⁰
(n=927 trials)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5486400"/>
            <a:ext cx="3749039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5532120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Phase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5897880"/>
            <a:ext cx="352958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E9F5"/>
                </a:solidFill>
                <a:latin typeface="Calibri"/>
              </a:rPr>
              <a:t>Pre-uturn p=0.026
U-turn: ns — no added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5486400"/>
            <a:ext cx="3749039" cy="1188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39327" y="5532120"/>
            <a:ext cx="352958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Ortho U-turn Spike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7" y="5897880"/>
            <a:ext cx="3529584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AE9F5"/>
                </a:solidFill>
                <a:latin typeface="Calibri"/>
              </a:rPr>
              <a:t>|AI| = 0.110 vs 0.005 (healthy)
Compensatory weight-shift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74320"/>
            <a:ext cx="11430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430000" cy="914400"/>
          </a:xfrm>
          <a:prstGeom prst="rect">
            <a:avLst/>
          </a:prstGeom>
          <a:solidFill>
            <a:srgbClr val="0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109728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7957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Healthy &gt; Pathological asymmetry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E9F5"/>
                </a:solidFill>
                <a:latin typeface="Calibri"/>
              </a:rPr>
              <a:t>Natural motor lateralization is lost in neurological disease — not gained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194560"/>
            <a:ext cx="11430000" cy="914400"/>
          </a:xfrm>
          <a:prstGeom prst="rect">
            <a:avLst/>
          </a:prstGeom>
          <a:solidFill>
            <a:srgbClr val="0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194560"/>
            <a:ext cx="109728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3113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Stride |AI| is the strongest discriminator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7860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E9F5"/>
                </a:solidFill>
                <a:latin typeface="Calibri"/>
              </a:rPr>
              <a:t>Cohen's d = 0.77 [0.50, 1.07], AUC = 0.716 [0.635, 0.792] (bootstrap confirmed)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246120"/>
            <a:ext cx="11430000" cy="914400"/>
          </a:xfrm>
          <a:prstGeom prst="rect">
            <a:avLst/>
          </a:prstGeom>
          <a:solidFill>
            <a:srgbClr val="0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246120"/>
            <a:ext cx="109728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8269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Neurological ≠ Orthopedic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3016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E9F5"/>
                </a:solidFill>
                <a:latin typeface="Calibri"/>
              </a:rPr>
              <a:t>LME: neuro β=−0.019 (p=3×10⁻⁶), ortho β≈0 (p=1.00) — different mechanisms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297679"/>
            <a:ext cx="11430000" cy="914400"/>
          </a:xfrm>
          <a:prstGeom prst="rect">
            <a:avLst/>
          </a:prstGeom>
          <a:solidFill>
            <a:srgbClr val="0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297679"/>
            <a:ext cx="109728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334255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Clinically 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681727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E9F5"/>
                </a:solidFill>
                <a:latin typeface="Calibri"/>
              </a:rPr>
              <a:t>Spearman r=−0.206 with VGA clinician rating (p=2.3×10⁻¹⁰, n=927 trials)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349240"/>
            <a:ext cx="11430000" cy="914400"/>
          </a:xfrm>
          <a:prstGeom prst="rect">
            <a:avLst/>
          </a:prstGeom>
          <a:solidFill>
            <a:srgbClr val="0D2D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349240"/>
            <a:ext cx="109728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385816"/>
            <a:ext cx="10972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Steady-state walking carries the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33288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AE9F5"/>
                </a:solidFill>
                <a:latin typeface="Calibri"/>
              </a:rPr>
              <a:t>Pre-uturn phase: p=0.026; U-turn adds noise not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