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10"/>
    <p:sldId id="257" r:id="rId11"/>
    <p:sldId id="258" r:id="rId12"/>
    <p:sldId id="259" r:id="rId13"/>
    <p:sldId id="260" r:id="rId9"/>
    <p:sldId id="261" r:id="rId8"/>
    <p:sldId id="262" r:id="rId7"/>
    <p:sldId id="263" r:id="rId6"/>
    <p:sldId id="264" r:id="rId5"/>
    <p:sldId id="265" r:id="rId4"/>
    <p:sldId id="266" r:id="rId3"/>
    <p:sldId id="267" r:id="rId2"/>
    <p:sldId id="268" r:id="rId22"/>
    <p:sldId id="269"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FF014A"/>
    <a:srgbClr val="FFFFFF"/>
    <a:srgbClr val="D0CFCD"/>
    <a:srgbClr val="0047B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E8B1032C-EA38-4F05-BA0D-38AFFFC7BED3}">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458" autoAdjust="0"/>
    <p:restoredTop sz="94613" autoAdjust="0"/>
  </p:normalViewPr>
  <p:slideViewPr>
    <p:cSldViewPr snapToGrid="0" showGuides="1">
      <p:cViewPr varScale="1">
        <p:scale>
          <a:sx n="210" d="100"/>
          <a:sy n="210" d="100"/>
        </p:scale>
        <p:origin x="224" y="176"/>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2.xml"/><Relationship Id="rId3" Type="http://schemas.openxmlformats.org/officeDocument/2006/relationships/slide" Target="slides/slide11.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8.xml"/><Relationship Id="rId7" Type="http://schemas.openxmlformats.org/officeDocument/2006/relationships/slide" Target="slides/slide7.xml"/><Relationship Id="rId8" Type="http://schemas.openxmlformats.org/officeDocument/2006/relationships/slide" Target="slides/slide6.xml"/><Relationship Id="rId9" Type="http://schemas.openxmlformats.org/officeDocument/2006/relationships/slide" Target="slides/slide5.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customXml" Target="../customXml/item1.xml"/><Relationship Id="rId20" Type="http://schemas.openxmlformats.org/officeDocument/2006/relationships/customXml" Target="../customXml/item2.xml"/><Relationship Id="rId21" Type="http://schemas.openxmlformats.org/officeDocument/2006/relationships/customXml" Target="../customXml/item3.xml"/><Relationship Id="rId22" Type="http://schemas.openxmlformats.org/officeDocument/2006/relationships/slide" Target="slides/slide13.xml"/><Relationship Id="rId23"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B66FD6-D2A9-4F00-B491-A99A8AA44ED0}" type="datetimeFigureOut">
              <a:rPr lang="en-US" smtClean="0"/>
              <a:t>5/1/18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5F57D8-2956-440C-8FE5-2823967F9ED1}" type="slidenum">
              <a:rPr lang="en-US" smtClean="0"/>
              <a:t>‹#›</a:t>
            </a:fld>
            <a:endParaRPr lang="en-US"/>
          </a:p>
        </p:txBody>
      </p:sp>
    </p:spTree>
    <p:extLst>
      <p:ext uri="{BB962C8B-B14F-4D97-AF65-F5344CB8AC3E}">
        <p14:creationId xmlns:p14="http://schemas.microsoft.com/office/powerpoint/2010/main" val="3816629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a:t>
            </a:r>
          </a:p>
          <a:p>
            <a:r>
              <a:t>Our project is IMU-Based Gait Pathology Classification, using the GaitRec dataset with machine learning.</a:t>
            </a:r>
          </a:p>
          <a:p>
            <a:r>
              <a:t>This is Track A for BMED 712, Rehabilitation Engineering.</a:t>
            </a:r>
          </a:p>
          <a:p>
            <a:r>
              <a:t>Today our team of four will walk you through the dataset, the ML methods, the results, and the clinical implications.</a:t>
            </a:r>
          </a:p>
          <a:p>
            <a:r>
              <a:t>Each of us will cover three slides. Let's begin.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I am Presenter One. I will introduce the problem and the dataset.</a:t>
            </a:r>
          </a:p>
          <a:p/>
          <a:p>
            <a:r>
              <a:t>Our goal is to classify gait pathology into three severity levels — Healthy, Mild, and Severe — using only wearable IMU sensors.</a:t>
            </a:r>
          </a:p>
          <a:p/>
          <a:p>
            <a:r>
              <a:t>We use the GaitRec dataset from the Medical University of Innsbruck. It contains 260 subjects across 8 clinical cohorts, 1,356 walking trials, and after windowing, more than 300,000 feature windows.</a:t>
            </a:r>
          </a:p>
          <a:p/>
          <a:p>
            <a:r>
              <a:t>Each trial has 4 IMU sensors — Head, Lower Back, Left Foot, and Right Foot. Each sensor records three signals: free acceleration, gyroscope, and magnetometer, each in three axes. From every channel we extract six metrics, giving 216 hand-crafted features per window.</a:t>
            </a:r>
          </a:p>
          <a:p/>
          <a:p>
            <a:r>
              <a:t>The class distribution across cohorts is shown on the left. Some cohorts are imbalanced, so we use stratified cross-validation later.</a:t>
            </a:r>
          </a:p>
          <a:p/>
          <a:p>
            <a:r>
              <a:t>Next, I will show how we extract these features.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feature extraction has four steps.</a:t>
            </a:r>
          </a:p>
          <a:p/>
          <a:p>
            <a:r>
              <a:t>First, Windowing. We split each walking trial into 6-second windows with 50 percent overlap, which captures several gait cycles per window.</a:t>
            </a:r>
          </a:p>
          <a:p/>
          <a:p>
            <a:r>
              <a:t>Second, Extraction. From each window we use 4 sensors, times 3 channels, times 3 axes — that gives 36 time series per window.</a:t>
            </a:r>
          </a:p>
          <a:p/>
          <a:p>
            <a:r>
              <a:t>Third, Metrics. For every channel we compute six metrics: Mean, Standard deviation, Min, Max, Dominant frequency, and Spectral centroid. This gives us 216 features in total.</a:t>
            </a:r>
          </a:p>
          <a:p/>
          <a:p>
            <a:r>
              <a:t>Fourth, Selection. We use the Kruskal–Wallis H-test with eta-squared ranking to select the most discriminative features.</a:t>
            </a:r>
          </a:p>
          <a:p/>
          <a:p>
            <a:r>
              <a:t>Results are strong: 207 out of 216 features are statistically significant, even after Bonferroni correction. The top feature is the head sensor dominant frequency, with an eta-squared of 0.303.</a:t>
            </a:r>
          </a:p>
          <a:p/>
          <a:p>
            <a:r>
              <a:t>We also tested a shorter 3-second window for U-turn segments.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my last slide. Let's look at the feature correlation and the top-ranked features.</a:t>
            </a:r>
          </a:p>
          <a:p/>
          <a:p>
            <a:r>
              <a:t>The heatmap on the left is the Pearson correlation matrix for the top 50 features. You can see strong red clusters along the diagonal. This means same-sensor features are heavily correlated, especially for the foot sensors — their features are highly redundant.</a:t>
            </a:r>
          </a:p>
          <a:p/>
          <a:p>
            <a:r>
              <a:t>In contrast, the Head sensor features are more independent. They carry information the other sensors cannot provide.</a:t>
            </a:r>
          </a:p>
          <a:p/>
          <a:p>
            <a:r>
              <a:t>On the right we show the top three features by eta-squared effect size. Rank one is the Head free-acceleration X-axis dominant frequency, with eta-squared 0.303. Rank two is the Head Y-axis dominant frequency, 0.246. Rank three is the Lower-Back gyroscope Z-axis spectral centroid, 0.221.</a:t>
            </a:r>
          </a:p>
          <a:p/>
          <a:p>
            <a:r>
              <a:t>The key takeaway: frequency-domain features from the Head and Lower-Back sensors are the most informative for pathology classification.</a:t>
            </a:r>
          </a:p>
          <a:p/>
          <a:p>
            <a:r>
              <a:t>I will now hand over to Presenter Two for the machine learning methods.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Presenter Two, and I will cover the machine learning pipeline.</a:t>
            </a:r>
          </a:p>
          <a:p/>
          <a:p>
            <a:r>
              <a:t>We compared three classifiers on all 216 features. SVM with an RBF kernel achieved 81.0 percent balanced accuracy and F1 of 0.796 — this was our best model. Random Forest came second at 80.1 percent, and XGBoost at 79.8 percent. The three models are close, which suggests the features themselves are strong.</a:t>
            </a:r>
          </a:p>
          <a:p/>
          <a:p>
            <a:r>
              <a:t>Our cross-validation is very important. We use 10-fold Stratified Group K-Fold, grouped by subject ID. This prevents data leakage, because windows from the same subject never appear in both training and testing.</a:t>
            </a:r>
          </a:p>
          <a:p/>
          <a:p>
            <a:r>
              <a:t>To check for optimism bias, we also ran a nested CV — outer 10 fold, inner 5 fold. It gave 78.3 percent, which is only 2.7 percent below the standard CV. This small gap means the model is not overfit.</a:t>
            </a:r>
          </a:p>
          <a:p/>
          <a:p>
            <a:r>
              <a:t>We also added demographics — age, gender, laterality — and compared four feature sets: all 216, top 30, top 20, and significant only.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feature importance.</a:t>
            </a:r>
          </a:p>
          <a:p/>
          <a:p>
            <a:r>
              <a:t>The chart on the left shows permutation importance for the top 20 features of our three-class SVM. Each bar is one feature, ranked from most important at the top.</a:t>
            </a:r>
          </a:p>
          <a:p/>
          <a:p>
            <a:r>
              <a:t>Two patterns are clear. First, the Head sensor dominates the top ranks — most of the top features start with H-E. Second, the gyroscope and free-acceleration signals are the most informative. Magnetometer features are less useful for this task.</a:t>
            </a:r>
          </a:p>
          <a:p/>
          <a:p>
            <a:r>
              <a:t>The most interesting result is on the right. We compared models trained on all 216 features versus only the top 20. The top-20 model reaches about 95 percent of the full-feature performance.</a:t>
            </a:r>
          </a:p>
          <a:p/>
          <a:p>
            <a:r>
              <a:t>This is important for deployment. A small, well-chosen feature set runs faster on wearable devices, is easier to interpret for clinicians, and reduces the risk of overfitting.</a:t>
            </a:r>
          </a:p>
          <a:p/>
          <a:p>
            <a:r>
              <a:t>We tested four feature sets in total: all 216, top 30, top 20, and significant-only. All of them performed within two points of each other.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last slide is the sensor ablation study. This asks a very practical question: how many IMUs do we actually need?</a:t>
            </a:r>
          </a:p>
          <a:p/>
          <a:p>
            <a:r>
              <a:t>The chart on the left shows the balanced accuracy as we add more sensors, for both Logistic Regression in blue and Random Forest in orange.</a:t>
            </a:r>
          </a:p>
          <a:p/>
          <a:p>
            <a:r>
              <a:t>With only the Head sensor, we already get 77.5 percent. Adding the Lower Back sensor brings it up to 80.1 percent. And using all four sensors only adds 0.9 percent more, giving 81.0 percent.</a:t>
            </a:r>
          </a:p>
          <a:p/>
          <a:p>
            <a:r>
              <a:t>The clinical takeaway is at the bottom: the Head plus Lower Back configuration captures 98.9 percent of the four-sensor performance. So two IMUs are enough for clinical deployment.</a:t>
            </a:r>
          </a:p>
          <a:p/>
          <a:p>
            <a:r>
              <a:t>This matters because patients are much more likely to wear two sensors than four. It reduces cost, improves comfort, and makes home monitoring realistic.</a:t>
            </a:r>
          </a:p>
          <a:p/>
          <a:p>
            <a:r>
              <a:t>I will now hand over to Presenter Three for the detailed classification results.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Presenter Three, and I will present the classification results in detail.</a:t>
            </a:r>
          </a:p>
          <a:p/>
          <a:p>
            <a:r>
              <a:t>The confusion matrices on the left show all four models — Logistic Regression, Random Forest, SVM, and XGBoost. The rows are true labels, the columns are predictions. Brighter diagonals mean better performance.</a:t>
            </a:r>
          </a:p>
          <a:p/>
          <a:p>
            <a:r>
              <a:t>SVM is our best model, shown on the right, with 81.0 percent balanced accuracy. XGBoost and Random Forest are only slightly behind at around 80 percent. Logistic Regression trails at about 75 percent.</a:t>
            </a:r>
          </a:p>
          <a:p/>
          <a:p>
            <a:r>
              <a:t>Three key findings from the matrices.</a:t>
            </a:r>
          </a:p>
          <a:p/>
          <a:p>
            <a:r>
              <a:t>First, Healthy versus Pathological separation is very strong — recall is above 90 percent. So IMUs are reliable for initial clinical screening.</a:t>
            </a:r>
          </a:p>
          <a:p/>
          <a:p>
            <a:r>
              <a:t>Second, the main challenge is the Mild versus Severe boundary. This is not a surprise because the severity scale is ordinal and somewhat subjective.</a:t>
            </a:r>
          </a:p>
          <a:p/>
          <a:p>
            <a:r>
              <a:t>Third, the largest error is Severe predicted as Mild — 12.3 percent. These are mostly late-recovery patients whose gait has become close to normal.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compares different gait phases and window configurations.</a:t>
            </a:r>
          </a:p>
          <a:p/>
          <a:p>
            <a:r>
              <a:t>The bar chart on the left shows balanced accuracy for four phases: pre-U-turn, U-turn, post-U-turn, and full gait. Blue bars use only the best single sensor, orange bars use all four sensors.</a:t>
            </a:r>
          </a:p>
          <a:p/>
          <a:p>
            <a:r>
              <a:t>On the right we summarise three configurations.</a:t>
            </a:r>
          </a:p>
          <a:p/>
          <a:p>
            <a:r>
              <a:t>The Full Gait 6-second window with 50 percent overlap is our best, at 81.0 percent.</a:t>
            </a:r>
          </a:p>
          <a:p/>
          <a:p>
            <a:r>
              <a:t>If we combine Full Gait windows with U-turn windows, performance actually drops slightly to 79.5 percent.</a:t>
            </a:r>
          </a:p>
          <a:p/>
          <a:p>
            <a:r>
              <a:t>Using only U-turn 3-second windows gives 74.2 percent — the weakest.</a:t>
            </a:r>
          </a:p>
          <a:p/>
          <a:p>
            <a:r>
              <a:t>The conclusion is clear: steady-state gait carries the most discriminative information. U-turns are short, variable, and add noise rather than signal.</a:t>
            </a:r>
          </a:p>
          <a:p/>
          <a:p>
            <a:r>
              <a:t>So for clinical deployment we recommend using full gait cycles, not turn segments.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last slide analyses where the errors happen and whether they make clinical sense.</a:t>
            </a:r>
          </a:p>
          <a:p/>
          <a:p>
            <a:r>
              <a:t>On the right we list the three main error modes. Severe predicted as Mild is the largest, 12.3 percent — these are late-recovery patients. Mild predicted as Healthy is 8.1 percent — near-normal gait. Mild predicted as Severe is 5.7 percent, often compensatory walking patterns.</a:t>
            </a:r>
          </a:p>
          <a:p/>
          <a:p>
            <a:r>
              <a:t>The scatter and box plots on the left show the Visual Gait Assessment score versus our stride asymmetry index. Spearman rho is minus 0.206, p less than 0.001. Asymmetry rises clearly with VGA severity.</a:t>
            </a:r>
          </a:p>
          <a:p/>
          <a:p>
            <a:r>
              <a:t>The big number on the lower left is very important. The correlation between VGA scores and IMU-derived stride variability is 0.68, highly significant.</a:t>
            </a:r>
          </a:p>
          <a:p/>
          <a:p>
            <a:r>
              <a:t>The message: our model's errors cluster exactly where clinicians also disagree. IMU features do not replace the clinician — they provide an objective complement to a subjective scale.</a:t>
            </a:r>
          </a:p>
          <a:p/>
          <a:p>
            <a:r>
              <a:t>Now over to Presenter Four for robustness and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Presenter Four. I will cover robustness, clinical implications, and the conclusions.</a:t>
            </a:r>
          </a:p>
          <a:p/>
          <a:p>
            <a:r>
              <a:t>This slide shows two robustness checks.</a:t>
            </a:r>
          </a:p>
          <a:p/>
          <a:p>
            <a:r>
              <a:t>The top section is Leave-One-Cohort-Out validation. We hold out one clinical cohort completely, train on the other seven, then test on the held-out one. This simulates encountering a new pathology type at deployment time.</a:t>
            </a:r>
          </a:p>
          <a:p/>
          <a:p>
            <a:r>
              <a:t>The results range from 71.9 percent for Femoral Fracture up to 80.1 percent for Hip Replacement. Most cohorts stay above 74 percent. The model generalises reasonably well, even to cohorts it has never seen.</a:t>
            </a:r>
          </a:p>
          <a:p/>
          <a:p>
            <a:r>
              <a:t>The bottom row shows our Nested CV check. Standard 10-fold CV gives 81.0 percent. Nested CV gives 78.3 percent. The gap is only 2.7 percent, which is small for this type of problem.</a:t>
            </a:r>
          </a:p>
          <a:p/>
          <a:p>
            <a:r>
              <a:t>Put together, these two tests confirm the model is not overfit, and it is robust across different pathology types.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clinical implications and limitations.</a:t>
            </a:r>
          </a:p>
          <a:p/>
          <a:p>
            <a:r>
              <a:t>On the left, six clinical implications. We achieve 81 percent accuracy with wearable IMUs. Only two sensors — Head and Lower Back — are sufficient. Real-time screening is feasible. Our method provides an objective complement to Visual Gait Assessment. It is scalable to home and remote monitoring, and enables automated severity triage in clinics.</a:t>
            </a:r>
          </a:p>
          <a:p/>
          <a:p>
            <a:r>
              <a:t>On the right, we are honest about the limitations. The dataset is from a single site — Innsbruck — so external validation is needed. Recordings are in a controlled lab, not free-living. The Mild versus Severe boundary is subjective. The dataset is cross-sectional, without longitudinal follow-up. We do not have blood pressure or heart rate. And we only use hand-crafted features, no deep learning baseline yet.</a:t>
            </a:r>
          </a:p>
          <a:p/>
          <a:p>
            <a:r>
              <a:t>These limitations directly motivate our future work, which I will present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last slide — our conclusions and future work.</a:t>
            </a:r>
          </a:p>
          <a:p/>
          <a:p>
            <a:r>
              <a:t>Three main takeaways.</a:t>
            </a:r>
          </a:p>
          <a:p/>
          <a:p>
            <a:r>
              <a:t>Number one: we reach 81 percent balanced accuracy with an SVM on 216 IMU features, for robust three-class classification of gait pathology.</a:t>
            </a:r>
          </a:p>
          <a:p/>
          <a:p>
            <a:r>
              <a:t>Number two: two sensors are sufficient. Head plus Lower Back captures 98.9 percent of the full four-sensor performance.</a:t>
            </a:r>
          </a:p>
          <a:p/>
          <a:p>
            <a:r>
              <a:t>Number three: the method is clinically validated. Our feature rankings align well with established Visual Gait Assessment criteria.</a:t>
            </a:r>
          </a:p>
          <a:p/>
          <a:p>
            <a:r>
              <a:t>For future work, four directions. First, Deep Learning — train CNN or LSTM models directly on the raw IMU signals. Second, Multi-Site — external validation on other gait datasets. Third, Edge Deployment — real-time classification on wearable devices. Fourth, Longitudinal studies — to track recovery progression over time.</a:t>
            </a:r>
          </a:p>
          <a:p/>
          <a:p>
            <a:r>
              <a:t>That concludes our presentation. Thank you for listening, and we are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a:t>
            </a:r>
          </a:p>
          <a:p>
            <a:r>
              <a:t>We are happy to answer any questions you may have.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rgbClr val="0047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rgbClr val="FFFFFF"/>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10" name="Picture 9">
            <a:extLst>
              <a:ext uri="{FF2B5EF4-FFF2-40B4-BE49-F238E27FC236}">
                <a16:creationId xmlns:a16="http://schemas.microsoft.com/office/drawing/2014/main" id="{CEA79536-344B-4703-95C3-7F5AD0BFB38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04823" y="654528"/>
            <a:ext cx="3540072" cy="774496"/>
          </a:xfrm>
          <a:prstGeom prst="rect">
            <a:avLst/>
          </a:prstGeom>
        </p:spPr>
      </p:pic>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rgbClr val="FFFFFF"/>
                </a:solidFill>
              </a:defRPr>
            </a:lvl1pPr>
            <a:lvl2pPr algn="ctr">
              <a:defRPr/>
            </a:lvl2pPr>
            <a:lvl3pPr algn="ctr">
              <a:defRPr/>
            </a:lvl3pPr>
            <a:lvl4pPr algn="ctr">
              <a:defRPr/>
            </a:lvl4pPr>
            <a:lvl5pPr algn="ctr">
              <a:defRPr/>
            </a:lvl5pPr>
          </a:lstStyle>
          <a:p>
            <a:pPr lvl="0"/>
            <a:r>
              <a:rPr lang="en-US"/>
              <a:t>Edit Master text styles</a:t>
            </a:r>
          </a:p>
        </p:txBody>
      </p:sp>
      <p:cxnSp>
        <p:nvCxnSpPr>
          <p:cNvPr id="14" name="Straight Connector 13">
            <a:extLst>
              <a:ext uri="{FF2B5EF4-FFF2-40B4-BE49-F238E27FC236}">
                <a16:creationId xmlns:a16="http://schemas.microsoft.com/office/drawing/2014/main" id="{BB5B0621-5201-4B3C-B3F3-03D9DDA06A71}"/>
              </a:ext>
            </a:extLst>
          </p:cNvPr>
          <p:cNvCxnSpPr/>
          <p:nvPr userDrawn="1"/>
        </p:nvCxnSpPr>
        <p:spPr>
          <a:xfrm>
            <a:off x="1769036"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06634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Nega">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chemeClr val="tx2"/>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chemeClr val="bg2"/>
                </a:solidFill>
              </a:defRPr>
            </a:lvl1pPr>
            <a:lvl2pPr algn="ctr">
              <a:defRPr/>
            </a:lvl2pPr>
            <a:lvl3pPr algn="ctr">
              <a:defRPr/>
            </a:lvl3pPr>
            <a:lvl4pPr algn="ctr">
              <a:defRPr/>
            </a:lvl4pPr>
            <a:lvl5pPr algn="ctr">
              <a:defRPr/>
            </a:lvl5pPr>
          </a:lstStyle>
          <a:p>
            <a:pPr lvl="0"/>
            <a:r>
              <a:rPr lang="en-US"/>
              <a:t>Edit Master text styles</a:t>
            </a:r>
          </a:p>
        </p:txBody>
      </p:sp>
      <p:cxnSp>
        <p:nvCxnSpPr>
          <p:cNvPr id="14" name="Straight Connector 13">
            <a:extLst>
              <a:ext uri="{FF2B5EF4-FFF2-40B4-BE49-F238E27FC236}">
                <a16:creationId xmlns:a16="http://schemas.microsoft.com/office/drawing/2014/main" id="{BB5B0621-5201-4B3C-B3F3-03D9DDA06A71}"/>
              </a:ext>
            </a:extLst>
          </p:cNvPr>
          <p:cNvCxnSpPr/>
          <p:nvPr userDrawn="1"/>
        </p:nvCxnSpPr>
        <p:spPr>
          <a:xfrm>
            <a:off x="5181600"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27211BEC-8A05-5048-8010-DA55CE46723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04824" y="654528"/>
            <a:ext cx="3540072" cy="774496"/>
          </a:xfrm>
          <a:prstGeom prst="rect">
            <a:avLst/>
          </a:prstGeom>
        </p:spPr>
      </p:pic>
    </p:spTree>
    <p:extLst>
      <p:ext uri="{BB962C8B-B14F-4D97-AF65-F5344CB8AC3E}">
        <p14:creationId xmlns:p14="http://schemas.microsoft.com/office/powerpoint/2010/main" val="36847877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hoto">
    <p:bg>
      <p:bgPr>
        <a:solidFill>
          <a:srgbClr val="0047BA"/>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EB21E90-80D8-4070-8157-51F5D9E9BA7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796ED11D-86B6-41D9-804F-B21E465E6E73}"/>
              </a:ext>
            </a:extLst>
          </p:cNvPr>
          <p:cNvSpPr>
            <a:spLocks noGrp="1"/>
          </p:cNvSpPr>
          <p:nvPr>
            <p:ph type="ctrTitle"/>
          </p:nvPr>
        </p:nvSpPr>
        <p:spPr>
          <a:xfrm>
            <a:off x="1524000" y="2676525"/>
            <a:ext cx="9144000" cy="1714500"/>
          </a:xfrm>
        </p:spPr>
        <p:txBody>
          <a:bodyPr anchor="b"/>
          <a:lstStyle>
            <a:lvl1pPr algn="ctr">
              <a:defRPr sz="6000" spc="0" baseline="0">
                <a:solidFill>
                  <a:srgbClr val="FFFFFF"/>
                </a:solidFill>
              </a:defRPr>
            </a:lvl1pPr>
          </a:lstStyle>
          <a:p>
            <a:r>
              <a:rPr lang="en-US"/>
              <a:t>Click to edit Master title style</a:t>
            </a:r>
          </a:p>
        </p:txBody>
      </p:sp>
      <p:sp>
        <p:nvSpPr>
          <p:cNvPr id="3" name="Subtitle 2">
            <a:extLst>
              <a:ext uri="{FF2B5EF4-FFF2-40B4-BE49-F238E27FC236}">
                <a16:creationId xmlns:a16="http://schemas.microsoft.com/office/drawing/2014/main" id="{FB4DCADE-2A34-4B9D-9987-0330895D737E}"/>
              </a:ext>
            </a:extLst>
          </p:cNvPr>
          <p:cNvSpPr>
            <a:spLocks noGrp="1"/>
          </p:cNvSpPr>
          <p:nvPr>
            <p:ph type="subTitle" idx="1"/>
          </p:nvPr>
        </p:nvSpPr>
        <p:spPr>
          <a:xfrm>
            <a:off x="1524000" y="4429125"/>
            <a:ext cx="9144000" cy="1247775"/>
          </a:xfrm>
        </p:spPr>
        <p:txBody>
          <a:bodyPr>
            <a:normAutofit/>
          </a:bodyPr>
          <a:lstStyle>
            <a:lvl1pPr marL="0" indent="0" algn="ctr">
              <a:lnSpc>
                <a:spcPct val="80000"/>
              </a:lnSpc>
              <a:spcBef>
                <a:spcPts val="0"/>
              </a:spcBef>
              <a:buNone/>
              <a:defRPr sz="38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Text Placeholder 11">
            <a:extLst>
              <a:ext uri="{FF2B5EF4-FFF2-40B4-BE49-F238E27FC236}">
                <a16:creationId xmlns:a16="http://schemas.microsoft.com/office/drawing/2014/main" id="{45D87C84-1993-43C1-A570-C771C220FB5D}"/>
              </a:ext>
            </a:extLst>
          </p:cNvPr>
          <p:cNvSpPr>
            <a:spLocks noGrp="1"/>
          </p:cNvSpPr>
          <p:nvPr>
            <p:ph type="body" sz="quarter" idx="10"/>
          </p:nvPr>
        </p:nvSpPr>
        <p:spPr>
          <a:xfrm>
            <a:off x="3714750" y="6162674"/>
            <a:ext cx="4772025" cy="314325"/>
          </a:xfrm>
        </p:spPr>
        <p:txBody>
          <a:bodyPr>
            <a:normAutofit/>
          </a:bodyPr>
          <a:lstStyle>
            <a:lvl1pPr marL="0" indent="0" algn="ctr">
              <a:buNone/>
              <a:defRPr sz="1350" cap="all" baseline="0">
                <a:solidFill>
                  <a:srgbClr val="FFFFFF"/>
                </a:solidFill>
              </a:defRPr>
            </a:lvl1pPr>
            <a:lvl2pPr algn="ctr">
              <a:defRPr/>
            </a:lvl2pPr>
            <a:lvl3pPr algn="ctr">
              <a:defRPr/>
            </a:lvl3pPr>
            <a:lvl4pPr algn="ctr">
              <a:defRPr/>
            </a:lvl4pPr>
            <a:lvl5pPr algn="ctr">
              <a:defRPr/>
            </a:lvl5pPr>
          </a:lstStyle>
          <a:p>
            <a:pPr lvl="0"/>
            <a:r>
              <a:rPr lang="en-US"/>
              <a:t>Edit Master text styles</a:t>
            </a:r>
          </a:p>
        </p:txBody>
      </p:sp>
      <p:pic>
        <p:nvPicPr>
          <p:cNvPr id="8" name="Picture 7">
            <a:extLst>
              <a:ext uri="{FF2B5EF4-FFF2-40B4-BE49-F238E27FC236}">
                <a16:creationId xmlns:a16="http://schemas.microsoft.com/office/drawing/2014/main" id="{E14C8DC6-096E-714D-AF28-58697258972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04823" y="654528"/>
            <a:ext cx="3540072" cy="774496"/>
          </a:xfrm>
          <a:prstGeom prst="rect">
            <a:avLst/>
          </a:prstGeom>
        </p:spPr>
      </p:pic>
      <p:cxnSp>
        <p:nvCxnSpPr>
          <p:cNvPr id="9" name="Straight Connector 8">
            <a:extLst>
              <a:ext uri="{FF2B5EF4-FFF2-40B4-BE49-F238E27FC236}">
                <a16:creationId xmlns:a16="http://schemas.microsoft.com/office/drawing/2014/main" id="{41EF1488-91C4-7449-841C-78AF4CE5EB83}"/>
              </a:ext>
            </a:extLst>
          </p:cNvPr>
          <p:cNvCxnSpPr/>
          <p:nvPr userDrawn="1"/>
        </p:nvCxnSpPr>
        <p:spPr>
          <a:xfrm>
            <a:off x="1769036" y="2752725"/>
            <a:ext cx="1809750" cy="0"/>
          </a:xfrm>
          <a:prstGeom prst="line">
            <a:avLst/>
          </a:prstGeom>
          <a:ln w="127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58409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r>
              <a:rPr lang="en-US"/>
              <a:t>DD Month 20XX</a:t>
            </a:r>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a:t>Presentation Title Goes Here</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8" name="TextBox 7">
            <a:extLst>
              <a:ext uri="{FF2B5EF4-FFF2-40B4-BE49-F238E27FC236}">
                <a16:creationId xmlns:a16="http://schemas.microsoft.com/office/drawing/2014/main" id="{4E74C6A6-466D-458F-9462-128882D6EF6C}"/>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cxnSp>
        <p:nvCxnSpPr>
          <p:cNvPr id="11" name="Straight Connector 10">
            <a:extLst>
              <a:ext uri="{FF2B5EF4-FFF2-40B4-BE49-F238E27FC236}">
                <a16:creationId xmlns:a16="http://schemas.microsoft.com/office/drawing/2014/main" id="{8690FDB3-7706-4B32-BD35-532B4AC7ECDA}"/>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27913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ortrai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CB3A0E-D963-4BA4-863C-413B32E51AE7}"/>
              </a:ext>
            </a:extLst>
          </p:cNvPr>
          <p:cNvSpPr>
            <a:spLocks noGrp="1"/>
          </p:cNvSpPr>
          <p:nvPr>
            <p:ph idx="1" hasCustomPrompt="1"/>
          </p:nvPr>
        </p:nvSpPr>
        <p:spPr>
          <a:xfrm>
            <a:off x="6162675" y="1152524"/>
            <a:ext cx="5191124" cy="5162121"/>
          </a:xfrm>
        </p:spPr>
        <p:txBody>
          <a:bodyPr/>
          <a:lstStyle>
            <a:lvl1pPr>
              <a:defRPr b="0"/>
            </a:lvl1pPr>
          </a:lstStyle>
          <a:p>
            <a:pPr lvl="0"/>
            <a:r>
              <a:rPr lang="en-US"/>
              <a:t>Heading 1</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r>
              <a:rPr lang="en-US"/>
              <a:t>DD Month 20XX</a:t>
            </a:r>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a:t>Presentation Title Goes Here</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8" name="TextBox 7">
            <a:extLst>
              <a:ext uri="{FF2B5EF4-FFF2-40B4-BE49-F238E27FC236}">
                <a16:creationId xmlns:a16="http://schemas.microsoft.com/office/drawing/2014/main" id="{4E74C6A6-466D-458F-9462-128882D6EF6C}"/>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sp>
        <p:nvSpPr>
          <p:cNvPr id="11" name="Title 10">
            <a:extLst>
              <a:ext uri="{FF2B5EF4-FFF2-40B4-BE49-F238E27FC236}">
                <a16:creationId xmlns:a16="http://schemas.microsoft.com/office/drawing/2014/main" id="{1C1F0F3F-166A-422E-B49B-E35296BCC605}"/>
              </a:ext>
            </a:extLst>
          </p:cNvPr>
          <p:cNvSpPr>
            <a:spLocks noGrp="1"/>
          </p:cNvSpPr>
          <p:nvPr>
            <p:ph type="title"/>
          </p:nvPr>
        </p:nvSpPr>
        <p:spPr>
          <a:xfrm>
            <a:off x="1362075" y="1123950"/>
            <a:ext cx="4419600" cy="5190695"/>
          </a:xfrm>
        </p:spPr>
        <p:txBody>
          <a:bodyPr anchor="t" anchorCtr="0"/>
          <a:lstStyle/>
          <a:p>
            <a:r>
              <a:rPr lang="en-US"/>
              <a:t>Click to edit Master title style</a:t>
            </a:r>
          </a:p>
        </p:txBody>
      </p:sp>
      <p:cxnSp>
        <p:nvCxnSpPr>
          <p:cNvPr id="13" name="Straight Connector 12">
            <a:extLst>
              <a:ext uri="{FF2B5EF4-FFF2-40B4-BE49-F238E27FC236}">
                <a16:creationId xmlns:a16="http://schemas.microsoft.com/office/drawing/2014/main" id="{1385506D-9F69-4855-B473-3BFDAF44ED69}"/>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39095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8BB98-3A1E-4BA6-A18A-C711FCA9CA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F5B3EF-8293-4FA5-B31C-91F5BA7D4E00}"/>
              </a:ext>
            </a:extLst>
          </p:cNvPr>
          <p:cNvSpPr>
            <a:spLocks noGrp="1"/>
          </p:cNvSpPr>
          <p:nvPr>
            <p:ph sz="half" idx="1"/>
          </p:nvPr>
        </p:nvSpPr>
        <p:spPr>
          <a:xfrm>
            <a:off x="1360800" y="1868400"/>
            <a:ext cx="4680000" cy="4449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9F6ED27-71A5-4DAD-A199-5EA0A05E7D6B}"/>
              </a:ext>
            </a:extLst>
          </p:cNvPr>
          <p:cNvSpPr>
            <a:spLocks noGrp="1"/>
          </p:cNvSpPr>
          <p:nvPr>
            <p:ph sz="half" idx="2"/>
          </p:nvPr>
        </p:nvSpPr>
        <p:spPr>
          <a:xfrm>
            <a:off x="6667500" y="1868400"/>
            <a:ext cx="4680000" cy="44496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D6C24C3-5F25-4ACD-A2D4-0198F4B9FF53}"/>
              </a:ext>
            </a:extLst>
          </p:cNvPr>
          <p:cNvSpPr>
            <a:spLocks noGrp="1"/>
          </p:cNvSpPr>
          <p:nvPr>
            <p:ph type="dt" sz="half" idx="10"/>
          </p:nvPr>
        </p:nvSpPr>
        <p:spPr/>
        <p:txBody>
          <a:bodyPr/>
          <a:lstStyle/>
          <a:p>
            <a:r>
              <a:rPr lang="en-US"/>
              <a:t>DD Month 20XX</a:t>
            </a:r>
          </a:p>
        </p:txBody>
      </p:sp>
      <p:sp>
        <p:nvSpPr>
          <p:cNvPr id="6" name="Footer Placeholder 5">
            <a:extLst>
              <a:ext uri="{FF2B5EF4-FFF2-40B4-BE49-F238E27FC236}">
                <a16:creationId xmlns:a16="http://schemas.microsoft.com/office/drawing/2014/main" id="{EC61D6D0-37D4-42A5-B774-5A583D8407F5}"/>
              </a:ext>
            </a:extLst>
          </p:cNvPr>
          <p:cNvSpPr>
            <a:spLocks noGrp="1"/>
          </p:cNvSpPr>
          <p:nvPr>
            <p:ph type="ftr" sz="quarter" idx="11"/>
          </p:nvPr>
        </p:nvSpPr>
        <p:spPr/>
        <p:txBody>
          <a:bodyPr/>
          <a:lstStyle/>
          <a:p>
            <a:r>
              <a:rPr lang="en-US"/>
              <a:t>Presentation Title Goes Here</a:t>
            </a:r>
          </a:p>
        </p:txBody>
      </p:sp>
      <p:sp>
        <p:nvSpPr>
          <p:cNvPr id="7" name="Slide Number Placeholder 6">
            <a:extLst>
              <a:ext uri="{FF2B5EF4-FFF2-40B4-BE49-F238E27FC236}">
                <a16:creationId xmlns:a16="http://schemas.microsoft.com/office/drawing/2014/main" id="{C4B79724-736B-42D4-9FC2-BBF87F438A01}"/>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8" name="TextBox 7">
            <a:extLst>
              <a:ext uri="{FF2B5EF4-FFF2-40B4-BE49-F238E27FC236}">
                <a16:creationId xmlns:a16="http://schemas.microsoft.com/office/drawing/2014/main" id="{AA8462DF-95A9-4839-9F28-1A83BCE28186}"/>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9" name="Picture 8">
            <a:extLst>
              <a:ext uri="{FF2B5EF4-FFF2-40B4-BE49-F238E27FC236}">
                <a16:creationId xmlns:a16="http://schemas.microsoft.com/office/drawing/2014/main" id="{DEDB1926-9526-4026-8069-F153FB78BD8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10" name="Straight Connector 9">
            <a:extLst>
              <a:ext uri="{FF2B5EF4-FFF2-40B4-BE49-F238E27FC236}">
                <a16:creationId xmlns:a16="http://schemas.microsoft.com/office/drawing/2014/main" id="{5B93EDA0-B8B5-41ED-80CE-BFDA6DF8FC4B}"/>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6457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8BB98-3A1E-4BA6-A18A-C711FCA9CA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F5B3EF-8293-4FA5-B31C-91F5BA7D4E00}"/>
              </a:ext>
            </a:extLst>
          </p:cNvPr>
          <p:cNvSpPr>
            <a:spLocks noGrp="1"/>
          </p:cNvSpPr>
          <p:nvPr>
            <p:ph sz="half" idx="1"/>
          </p:nvPr>
        </p:nvSpPr>
        <p:spPr>
          <a:xfrm>
            <a:off x="1360800" y="2352674"/>
            <a:ext cx="4680000" cy="39653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9F6ED27-71A5-4DAD-A199-5EA0A05E7D6B}"/>
              </a:ext>
            </a:extLst>
          </p:cNvPr>
          <p:cNvSpPr>
            <a:spLocks noGrp="1"/>
          </p:cNvSpPr>
          <p:nvPr>
            <p:ph sz="half" idx="2"/>
          </p:nvPr>
        </p:nvSpPr>
        <p:spPr>
          <a:xfrm>
            <a:off x="6667500" y="2352674"/>
            <a:ext cx="4680000" cy="396532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D6C24C3-5F25-4ACD-A2D4-0198F4B9FF53}"/>
              </a:ext>
            </a:extLst>
          </p:cNvPr>
          <p:cNvSpPr>
            <a:spLocks noGrp="1"/>
          </p:cNvSpPr>
          <p:nvPr>
            <p:ph type="dt" sz="half" idx="10"/>
          </p:nvPr>
        </p:nvSpPr>
        <p:spPr/>
        <p:txBody>
          <a:bodyPr/>
          <a:lstStyle/>
          <a:p>
            <a:r>
              <a:rPr lang="en-US"/>
              <a:t>DD Month 20XX</a:t>
            </a:r>
          </a:p>
        </p:txBody>
      </p:sp>
      <p:sp>
        <p:nvSpPr>
          <p:cNvPr id="6" name="Footer Placeholder 5">
            <a:extLst>
              <a:ext uri="{FF2B5EF4-FFF2-40B4-BE49-F238E27FC236}">
                <a16:creationId xmlns:a16="http://schemas.microsoft.com/office/drawing/2014/main" id="{EC61D6D0-37D4-42A5-B774-5A583D8407F5}"/>
              </a:ext>
            </a:extLst>
          </p:cNvPr>
          <p:cNvSpPr>
            <a:spLocks noGrp="1"/>
          </p:cNvSpPr>
          <p:nvPr>
            <p:ph type="ftr" sz="quarter" idx="11"/>
          </p:nvPr>
        </p:nvSpPr>
        <p:spPr/>
        <p:txBody>
          <a:bodyPr/>
          <a:lstStyle/>
          <a:p>
            <a:r>
              <a:rPr lang="en-US"/>
              <a:t>Presentation Title Goes Here</a:t>
            </a:r>
          </a:p>
        </p:txBody>
      </p:sp>
      <p:sp>
        <p:nvSpPr>
          <p:cNvPr id="7" name="Slide Number Placeholder 6">
            <a:extLst>
              <a:ext uri="{FF2B5EF4-FFF2-40B4-BE49-F238E27FC236}">
                <a16:creationId xmlns:a16="http://schemas.microsoft.com/office/drawing/2014/main" id="{C4B79724-736B-42D4-9FC2-BBF87F438A01}"/>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8" name="Text Placeholder 2">
            <a:extLst>
              <a:ext uri="{FF2B5EF4-FFF2-40B4-BE49-F238E27FC236}">
                <a16:creationId xmlns:a16="http://schemas.microsoft.com/office/drawing/2014/main" id="{E4673FD0-9E13-4C1A-B859-688309735A0D}"/>
              </a:ext>
            </a:extLst>
          </p:cNvPr>
          <p:cNvSpPr>
            <a:spLocks noGrp="1"/>
          </p:cNvSpPr>
          <p:nvPr>
            <p:ph type="body" idx="13"/>
          </p:nvPr>
        </p:nvSpPr>
        <p:spPr>
          <a:xfrm>
            <a:off x="1360800" y="1868399"/>
            <a:ext cx="4680000" cy="379501"/>
          </a:xfr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9" name="Text Placeholder 4">
            <a:extLst>
              <a:ext uri="{FF2B5EF4-FFF2-40B4-BE49-F238E27FC236}">
                <a16:creationId xmlns:a16="http://schemas.microsoft.com/office/drawing/2014/main" id="{E81F1501-AF73-4AAC-9FF0-0767311D3E75}"/>
              </a:ext>
            </a:extLst>
          </p:cNvPr>
          <p:cNvSpPr>
            <a:spLocks noGrp="1"/>
          </p:cNvSpPr>
          <p:nvPr>
            <p:ph type="body" sz="quarter" idx="3"/>
          </p:nvPr>
        </p:nvSpPr>
        <p:spPr>
          <a:xfrm>
            <a:off x="6667500" y="1868399"/>
            <a:ext cx="4687888" cy="379501"/>
          </a:xfr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Box 9">
            <a:extLst>
              <a:ext uri="{FF2B5EF4-FFF2-40B4-BE49-F238E27FC236}">
                <a16:creationId xmlns:a16="http://schemas.microsoft.com/office/drawing/2014/main" id="{7ADE178B-FD49-4EE2-9A05-5F6BE0A0483C}"/>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11" name="Picture 10">
            <a:extLst>
              <a:ext uri="{FF2B5EF4-FFF2-40B4-BE49-F238E27FC236}">
                <a16:creationId xmlns:a16="http://schemas.microsoft.com/office/drawing/2014/main" id="{68D110D8-F82F-4692-8B00-F633DEF1AC1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12" name="Straight Connector 11">
            <a:extLst>
              <a:ext uri="{FF2B5EF4-FFF2-40B4-BE49-F238E27FC236}">
                <a16:creationId xmlns:a16="http://schemas.microsoft.com/office/drawing/2014/main" id="{6132C51C-6D36-4A71-A1DB-6C92A35CA313}"/>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27141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 with Caption">
    <p:spTree>
      <p:nvGrpSpPr>
        <p:cNvPr id="1" name=""/>
        <p:cNvGrpSpPr/>
        <p:nvPr/>
      </p:nvGrpSpPr>
      <p:grpSpPr>
        <a:xfrm>
          <a:off x="0" y="0"/>
          <a:ext cx="0" cy="0"/>
          <a:chOff x="0" y="0"/>
          <a:chExt cx="0" cy="0"/>
        </a:xfrm>
      </p:grpSpPr>
      <p:sp>
        <p:nvSpPr>
          <p:cNvPr id="8" name="Chart Placeholder 7">
            <a:extLst>
              <a:ext uri="{FF2B5EF4-FFF2-40B4-BE49-F238E27FC236}">
                <a16:creationId xmlns:a16="http://schemas.microsoft.com/office/drawing/2014/main" id="{F29153F9-78D4-4D70-B44A-4B9B91D91CB2}"/>
              </a:ext>
            </a:extLst>
          </p:cNvPr>
          <p:cNvSpPr>
            <a:spLocks noGrp="1"/>
          </p:cNvSpPr>
          <p:nvPr>
            <p:ph type="chart" sz="quarter" idx="14"/>
          </p:nvPr>
        </p:nvSpPr>
        <p:spPr>
          <a:xfrm>
            <a:off x="6162675" y="771525"/>
            <a:ext cx="5638800" cy="5534025"/>
          </a:xfrm>
        </p:spPr>
        <p:txBody>
          <a:bodyPr/>
          <a:lstStyle>
            <a:lvl1pPr marL="0" indent="0">
              <a:buNone/>
              <a:defRPr/>
            </a:lvl1pPr>
          </a:lstStyle>
          <a:p>
            <a:r>
              <a:rPr lang="en-US"/>
              <a:t>Click icon to add chart</a:t>
            </a:r>
          </a:p>
        </p:txBody>
      </p:sp>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5" y="542925"/>
            <a:ext cx="4181476"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362075" y="1866900"/>
            <a:ext cx="4181476" cy="4448175"/>
          </a:xfrm>
        </p:spPr>
        <p:txBody>
          <a:bodyPr/>
          <a:lstStyle>
            <a:lvl1pPr marL="0" indent="0">
              <a:buNone/>
              <a:defRPr b="0"/>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r>
              <a:rPr lang="en-US"/>
              <a:t>DD Month 20XX</a:t>
            </a:r>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a:t>Presentation Title Goes Here</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11" name="TextBox 10">
            <a:extLst>
              <a:ext uri="{FF2B5EF4-FFF2-40B4-BE49-F238E27FC236}">
                <a16:creationId xmlns:a16="http://schemas.microsoft.com/office/drawing/2014/main" id="{27C296D0-EF25-4659-9A29-DE874EE0BD57}"/>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12" name="Picture 11">
            <a:extLst>
              <a:ext uri="{FF2B5EF4-FFF2-40B4-BE49-F238E27FC236}">
                <a16:creationId xmlns:a16="http://schemas.microsoft.com/office/drawing/2014/main" id="{872D0369-8EEE-446D-A24C-9E71B185674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13" name="Straight Connector 12">
            <a:extLst>
              <a:ext uri="{FF2B5EF4-FFF2-40B4-BE49-F238E27FC236}">
                <a16:creationId xmlns:a16="http://schemas.microsoft.com/office/drawing/2014/main" id="{BDF66C09-963E-47DD-8166-11F0934BF635}"/>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14360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5" y="542925"/>
            <a:ext cx="4181476" cy="1114425"/>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2CB3A0E-D963-4BA4-863C-413B32E51AE7}"/>
              </a:ext>
            </a:extLst>
          </p:cNvPr>
          <p:cNvSpPr>
            <a:spLocks noGrp="1"/>
          </p:cNvSpPr>
          <p:nvPr>
            <p:ph idx="1"/>
          </p:nvPr>
        </p:nvSpPr>
        <p:spPr>
          <a:xfrm>
            <a:off x="1362075" y="1866900"/>
            <a:ext cx="4181476" cy="444817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r>
              <a:rPr lang="en-US"/>
              <a:t>DD Month 20XX</a:t>
            </a:r>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a:t>Presentation Title Goes Here</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9" name="Picture Placeholder 8">
            <a:extLst>
              <a:ext uri="{FF2B5EF4-FFF2-40B4-BE49-F238E27FC236}">
                <a16:creationId xmlns:a16="http://schemas.microsoft.com/office/drawing/2014/main" id="{A46E416A-BFDB-410E-9AC9-671259E5DAFB}"/>
              </a:ext>
            </a:extLst>
          </p:cNvPr>
          <p:cNvSpPr>
            <a:spLocks noGrp="1"/>
          </p:cNvSpPr>
          <p:nvPr>
            <p:ph type="pic" sz="quarter" idx="13"/>
          </p:nvPr>
        </p:nvSpPr>
        <p:spPr>
          <a:xfrm>
            <a:off x="6162675" y="771525"/>
            <a:ext cx="5638800" cy="5534025"/>
          </a:xfrm>
          <a:solidFill>
            <a:schemeClr val="bg1">
              <a:lumMod val="85000"/>
            </a:schemeClr>
          </a:solidFill>
        </p:spPr>
        <p:txBody>
          <a:bodyPr/>
          <a:lstStyle>
            <a:lvl1pPr marL="0" indent="0">
              <a:buNone/>
              <a:defRPr/>
            </a:lvl1pPr>
          </a:lstStyle>
          <a:p>
            <a:r>
              <a:rPr lang="en-US"/>
              <a:t>Click icon to add picture</a:t>
            </a:r>
          </a:p>
        </p:txBody>
      </p:sp>
      <p:sp>
        <p:nvSpPr>
          <p:cNvPr id="11" name="TextBox 10">
            <a:extLst>
              <a:ext uri="{FF2B5EF4-FFF2-40B4-BE49-F238E27FC236}">
                <a16:creationId xmlns:a16="http://schemas.microsoft.com/office/drawing/2014/main" id="{27C296D0-EF25-4659-9A29-DE874EE0BD57}"/>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12" name="Picture 11">
            <a:extLst>
              <a:ext uri="{FF2B5EF4-FFF2-40B4-BE49-F238E27FC236}">
                <a16:creationId xmlns:a16="http://schemas.microsoft.com/office/drawing/2014/main" id="{872D0369-8EEE-446D-A24C-9E71B185674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13" name="Straight Connector 12">
            <a:extLst>
              <a:ext uri="{FF2B5EF4-FFF2-40B4-BE49-F238E27FC236}">
                <a16:creationId xmlns:a16="http://schemas.microsoft.com/office/drawing/2014/main" id="{BDF66C09-963E-47DD-8166-11F0934BF635}"/>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505989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828676" y="542925"/>
            <a:ext cx="10544174" cy="1114425"/>
          </a:xfrm>
        </p:spPr>
        <p:txBody>
          <a:bodyPr/>
          <a:lstStyle>
            <a:lvl1pPr algn="ctr">
              <a:defRPr/>
            </a:lvl1pPr>
          </a:lstStyle>
          <a:p>
            <a:r>
              <a:rPr lang="en-US"/>
              <a:t>Click to edit Master title style</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r>
              <a:rPr lang="en-US"/>
              <a:t>DD Month 20XX</a:t>
            </a:r>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a:t>Presentation Title Goes Here</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8" name="TextBox 7">
            <a:extLst>
              <a:ext uri="{FF2B5EF4-FFF2-40B4-BE49-F238E27FC236}">
                <a16:creationId xmlns:a16="http://schemas.microsoft.com/office/drawing/2014/main" id="{4E74C6A6-466D-458F-9462-128882D6EF6C}"/>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cxnSp>
        <p:nvCxnSpPr>
          <p:cNvPr id="11" name="Straight Connector 10">
            <a:extLst>
              <a:ext uri="{FF2B5EF4-FFF2-40B4-BE49-F238E27FC236}">
                <a16:creationId xmlns:a16="http://schemas.microsoft.com/office/drawing/2014/main" id="{8690FDB3-7706-4B32-BD35-532B4AC7ECDA}"/>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3930B2A2-81DA-4F3D-9D9E-46E4F7B93857}"/>
              </a:ext>
            </a:extLst>
          </p:cNvPr>
          <p:cNvSpPr>
            <a:spLocks noGrp="1"/>
          </p:cNvSpPr>
          <p:nvPr>
            <p:ph type="pic" sz="quarter" idx="13"/>
          </p:nvPr>
        </p:nvSpPr>
        <p:spPr>
          <a:xfrm>
            <a:off x="4238625"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4" name="Picture Placeholder 12">
            <a:extLst>
              <a:ext uri="{FF2B5EF4-FFF2-40B4-BE49-F238E27FC236}">
                <a16:creationId xmlns:a16="http://schemas.microsoft.com/office/drawing/2014/main" id="{F16E22AE-DDB9-4C04-8CBA-FF04F1AFB382}"/>
              </a:ext>
            </a:extLst>
          </p:cNvPr>
          <p:cNvSpPr>
            <a:spLocks noGrp="1"/>
          </p:cNvSpPr>
          <p:nvPr>
            <p:ph type="pic" sz="quarter" idx="14"/>
          </p:nvPr>
        </p:nvSpPr>
        <p:spPr>
          <a:xfrm>
            <a:off x="400050"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5" name="Picture Placeholder 12">
            <a:extLst>
              <a:ext uri="{FF2B5EF4-FFF2-40B4-BE49-F238E27FC236}">
                <a16:creationId xmlns:a16="http://schemas.microsoft.com/office/drawing/2014/main" id="{55F3CFBF-C13C-4A9F-BDDF-0E18286F15C6}"/>
              </a:ext>
            </a:extLst>
          </p:cNvPr>
          <p:cNvSpPr>
            <a:spLocks noGrp="1"/>
          </p:cNvSpPr>
          <p:nvPr>
            <p:ph type="pic" sz="quarter" idx="15"/>
          </p:nvPr>
        </p:nvSpPr>
        <p:spPr>
          <a:xfrm>
            <a:off x="8077200" y="2752725"/>
            <a:ext cx="3714750" cy="3562350"/>
          </a:xfrm>
          <a:solidFill>
            <a:schemeClr val="bg1">
              <a:lumMod val="85000"/>
            </a:schemeClr>
          </a:solidFill>
        </p:spPr>
        <p:txBody>
          <a:bodyPr/>
          <a:lstStyle>
            <a:lvl1pPr marL="0" indent="0">
              <a:buNone/>
              <a:defRPr/>
            </a:lvl1pPr>
          </a:lstStyle>
          <a:p>
            <a:r>
              <a:rPr lang="en-US"/>
              <a:t>Click icon to add picture</a:t>
            </a:r>
          </a:p>
        </p:txBody>
      </p:sp>
    </p:spTree>
    <p:extLst>
      <p:ext uri="{BB962C8B-B14F-4D97-AF65-F5344CB8AC3E}">
        <p14:creationId xmlns:p14="http://schemas.microsoft.com/office/powerpoint/2010/main" val="41884930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Picture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C5EF6-6786-4ED3-B643-2BCA247B6B43}"/>
              </a:ext>
            </a:extLst>
          </p:cNvPr>
          <p:cNvSpPr>
            <a:spLocks noGrp="1"/>
          </p:cNvSpPr>
          <p:nvPr>
            <p:ph type="title"/>
          </p:nvPr>
        </p:nvSpPr>
        <p:spPr>
          <a:xfrm>
            <a:off x="1362074" y="1114424"/>
            <a:ext cx="6343651" cy="1438275"/>
          </a:xfrm>
        </p:spPr>
        <p:txBody>
          <a:bodyPr anchor="t" anchorCtr="0"/>
          <a:lstStyle>
            <a:lvl1pPr algn="l">
              <a:lnSpc>
                <a:spcPct val="100000"/>
              </a:lnSpc>
              <a:defRPr/>
            </a:lvl1pPr>
          </a:lstStyle>
          <a:p>
            <a:r>
              <a:rPr lang="en-US"/>
              <a:t>Click to edit Master title style</a:t>
            </a:r>
          </a:p>
        </p:txBody>
      </p:sp>
      <p:sp>
        <p:nvSpPr>
          <p:cNvPr id="4" name="Date Placeholder 3">
            <a:extLst>
              <a:ext uri="{FF2B5EF4-FFF2-40B4-BE49-F238E27FC236}">
                <a16:creationId xmlns:a16="http://schemas.microsoft.com/office/drawing/2014/main" id="{CC8C6537-CD92-4621-BEAC-209C2F46767E}"/>
              </a:ext>
            </a:extLst>
          </p:cNvPr>
          <p:cNvSpPr>
            <a:spLocks noGrp="1"/>
          </p:cNvSpPr>
          <p:nvPr>
            <p:ph type="dt" sz="half" idx="10"/>
          </p:nvPr>
        </p:nvSpPr>
        <p:spPr/>
        <p:txBody>
          <a:bodyPr/>
          <a:lstStyle/>
          <a:p>
            <a:r>
              <a:rPr lang="en-US"/>
              <a:t>DD Month 20XX</a:t>
            </a:r>
          </a:p>
        </p:txBody>
      </p:sp>
      <p:sp>
        <p:nvSpPr>
          <p:cNvPr id="5" name="Footer Placeholder 4">
            <a:extLst>
              <a:ext uri="{FF2B5EF4-FFF2-40B4-BE49-F238E27FC236}">
                <a16:creationId xmlns:a16="http://schemas.microsoft.com/office/drawing/2014/main" id="{46802E95-BAFB-4FA5-935D-F153DAC81B79}"/>
              </a:ext>
            </a:extLst>
          </p:cNvPr>
          <p:cNvSpPr>
            <a:spLocks noGrp="1"/>
          </p:cNvSpPr>
          <p:nvPr>
            <p:ph type="ftr" sz="quarter" idx="11"/>
          </p:nvPr>
        </p:nvSpPr>
        <p:spPr/>
        <p:txBody>
          <a:bodyPr/>
          <a:lstStyle/>
          <a:p>
            <a:r>
              <a:rPr lang="en-US"/>
              <a:t>Presentation Title Goes Here</a:t>
            </a:r>
          </a:p>
        </p:txBody>
      </p:sp>
      <p:sp>
        <p:nvSpPr>
          <p:cNvPr id="6" name="Slide Number Placeholder 5">
            <a:extLst>
              <a:ext uri="{FF2B5EF4-FFF2-40B4-BE49-F238E27FC236}">
                <a16:creationId xmlns:a16="http://schemas.microsoft.com/office/drawing/2014/main" id="{536AE8E8-275F-4879-A380-FC69F4F9B24F}"/>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7" name="Picture 6">
            <a:extLst>
              <a:ext uri="{FF2B5EF4-FFF2-40B4-BE49-F238E27FC236}">
                <a16:creationId xmlns:a16="http://schemas.microsoft.com/office/drawing/2014/main" id="{85F31A79-8F5C-4459-9F47-4F4A56020D6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8" name="TextBox 7">
            <a:extLst>
              <a:ext uri="{FF2B5EF4-FFF2-40B4-BE49-F238E27FC236}">
                <a16:creationId xmlns:a16="http://schemas.microsoft.com/office/drawing/2014/main" id="{4E74C6A6-466D-458F-9462-128882D6EF6C}"/>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cxnSp>
        <p:nvCxnSpPr>
          <p:cNvPr id="11" name="Straight Connector 10">
            <a:extLst>
              <a:ext uri="{FF2B5EF4-FFF2-40B4-BE49-F238E27FC236}">
                <a16:creationId xmlns:a16="http://schemas.microsoft.com/office/drawing/2014/main" id="{8690FDB3-7706-4B32-BD35-532B4AC7ECDA}"/>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3930B2A2-81DA-4F3D-9D9E-46E4F7B93857}"/>
              </a:ext>
            </a:extLst>
          </p:cNvPr>
          <p:cNvSpPr>
            <a:spLocks noGrp="1"/>
          </p:cNvSpPr>
          <p:nvPr>
            <p:ph type="pic" sz="quarter" idx="13"/>
          </p:nvPr>
        </p:nvSpPr>
        <p:spPr>
          <a:xfrm>
            <a:off x="4238625"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4" name="Picture Placeholder 12">
            <a:extLst>
              <a:ext uri="{FF2B5EF4-FFF2-40B4-BE49-F238E27FC236}">
                <a16:creationId xmlns:a16="http://schemas.microsoft.com/office/drawing/2014/main" id="{F16E22AE-DDB9-4C04-8CBA-FF04F1AFB382}"/>
              </a:ext>
            </a:extLst>
          </p:cNvPr>
          <p:cNvSpPr>
            <a:spLocks noGrp="1"/>
          </p:cNvSpPr>
          <p:nvPr>
            <p:ph type="pic" sz="quarter" idx="14"/>
          </p:nvPr>
        </p:nvSpPr>
        <p:spPr>
          <a:xfrm>
            <a:off x="400050" y="2752725"/>
            <a:ext cx="3714750" cy="3562350"/>
          </a:xfrm>
          <a:solidFill>
            <a:schemeClr val="bg1">
              <a:lumMod val="85000"/>
            </a:schemeClr>
          </a:solidFill>
        </p:spPr>
        <p:txBody>
          <a:bodyPr/>
          <a:lstStyle>
            <a:lvl1pPr marL="0" indent="0">
              <a:buNone/>
              <a:defRPr/>
            </a:lvl1pPr>
          </a:lstStyle>
          <a:p>
            <a:r>
              <a:rPr lang="en-US"/>
              <a:t>Click icon to add picture</a:t>
            </a:r>
          </a:p>
        </p:txBody>
      </p:sp>
      <p:sp>
        <p:nvSpPr>
          <p:cNvPr id="15" name="Picture Placeholder 12">
            <a:extLst>
              <a:ext uri="{FF2B5EF4-FFF2-40B4-BE49-F238E27FC236}">
                <a16:creationId xmlns:a16="http://schemas.microsoft.com/office/drawing/2014/main" id="{55F3CFBF-C13C-4A9F-BDDF-0E18286F15C6}"/>
              </a:ext>
            </a:extLst>
          </p:cNvPr>
          <p:cNvSpPr>
            <a:spLocks noGrp="1"/>
          </p:cNvSpPr>
          <p:nvPr>
            <p:ph type="pic" sz="quarter" idx="15"/>
          </p:nvPr>
        </p:nvSpPr>
        <p:spPr>
          <a:xfrm>
            <a:off x="8077200" y="762000"/>
            <a:ext cx="3714750" cy="5553075"/>
          </a:xfrm>
          <a:solidFill>
            <a:schemeClr val="bg1">
              <a:lumMod val="85000"/>
            </a:schemeClr>
          </a:solidFill>
        </p:spPr>
        <p:txBody>
          <a:bodyPr/>
          <a:lstStyle>
            <a:lvl1pPr marL="0" indent="0">
              <a:buNone/>
              <a:defRPr/>
            </a:lvl1pPr>
          </a:lstStyle>
          <a:p>
            <a:r>
              <a:rPr lang="en-US"/>
              <a:t>Click icon to add picture</a:t>
            </a:r>
          </a:p>
        </p:txBody>
      </p:sp>
    </p:spTree>
    <p:extLst>
      <p:ext uri="{BB962C8B-B14F-4D97-AF65-F5344CB8AC3E}">
        <p14:creationId xmlns:p14="http://schemas.microsoft.com/office/powerpoint/2010/main" val="60665458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25EDB-8165-4C09-A93D-01F9B0F72B0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049EA8E-5754-4FAF-B3D4-63EA441FBC46}"/>
              </a:ext>
            </a:extLst>
          </p:cNvPr>
          <p:cNvSpPr>
            <a:spLocks noGrp="1"/>
          </p:cNvSpPr>
          <p:nvPr>
            <p:ph type="dt" sz="half" idx="10"/>
          </p:nvPr>
        </p:nvSpPr>
        <p:spPr/>
        <p:txBody>
          <a:bodyPr/>
          <a:lstStyle/>
          <a:p>
            <a:r>
              <a:rPr lang="en-US"/>
              <a:t>DD Month 20XX</a:t>
            </a:r>
          </a:p>
        </p:txBody>
      </p:sp>
      <p:sp>
        <p:nvSpPr>
          <p:cNvPr id="4" name="Footer Placeholder 3">
            <a:extLst>
              <a:ext uri="{FF2B5EF4-FFF2-40B4-BE49-F238E27FC236}">
                <a16:creationId xmlns:a16="http://schemas.microsoft.com/office/drawing/2014/main" id="{CFF6CD72-BAC2-4994-B821-40432481E830}"/>
              </a:ext>
            </a:extLst>
          </p:cNvPr>
          <p:cNvSpPr>
            <a:spLocks noGrp="1"/>
          </p:cNvSpPr>
          <p:nvPr>
            <p:ph type="ftr" sz="quarter" idx="11"/>
          </p:nvPr>
        </p:nvSpPr>
        <p:spPr/>
        <p:txBody>
          <a:bodyPr/>
          <a:lstStyle/>
          <a:p>
            <a:r>
              <a:rPr lang="en-US"/>
              <a:t>Presentation Title Goes Here</a:t>
            </a:r>
          </a:p>
        </p:txBody>
      </p:sp>
      <p:sp>
        <p:nvSpPr>
          <p:cNvPr id="5" name="Slide Number Placeholder 4">
            <a:extLst>
              <a:ext uri="{FF2B5EF4-FFF2-40B4-BE49-F238E27FC236}">
                <a16:creationId xmlns:a16="http://schemas.microsoft.com/office/drawing/2014/main" id="{D593CFAF-562D-445B-846A-E8F71A026870}"/>
              </a:ext>
            </a:extLst>
          </p:cNvPr>
          <p:cNvSpPr>
            <a:spLocks noGrp="1"/>
          </p:cNvSpPr>
          <p:nvPr>
            <p:ph type="sldNum" sz="quarter" idx="12"/>
          </p:nvPr>
        </p:nvSpPr>
        <p:spPr/>
        <p:txBody>
          <a:bodyPr/>
          <a:lstStyle/>
          <a:p>
            <a:fld id="{1E68DD1B-5CD8-424B-8173-19E182143E0A}" type="slidenum">
              <a:rPr lang="en-US" smtClean="0"/>
              <a:t>‹#›</a:t>
            </a:fld>
            <a:endParaRPr lang="en-US"/>
          </a:p>
        </p:txBody>
      </p:sp>
      <p:sp>
        <p:nvSpPr>
          <p:cNvPr id="6" name="TextBox 5">
            <a:extLst>
              <a:ext uri="{FF2B5EF4-FFF2-40B4-BE49-F238E27FC236}">
                <a16:creationId xmlns:a16="http://schemas.microsoft.com/office/drawing/2014/main" id="{7C98C825-F06D-4987-81B8-02D493880414}"/>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pic>
        <p:nvPicPr>
          <p:cNvPr id="7" name="Picture 6">
            <a:extLst>
              <a:ext uri="{FF2B5EF4-FFF2-40B4-BE49-F238E27FC236}">
                <a16:creationId xmlns:a16="http://schemas.microsoft.com/office/drawing/2014/main" id="{53464E6B-FB97-4EC4-BBD3-24FE3C8D13D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cxnSp>
        <p:nvCxnSpPr>
          <p:cNvPr id="8" name="Straight Connector 7">
            <a:extLst>
              <a:ext uri="{FF2B5EF4-FFF2-40B4-BE49-F238E27FC236}">
                <a16:creationId xmlns:a16="http://schemas.microsoft.com/office/drawing/2014/main" id="{7A8822A8-864B-49B0-9C0B-A862217EF3B8}"/>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588443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F25EDB-8165-4C09-A93D-01F9B0F72B0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049EA8E-5754-4FAF-B3D4-63EA441FBC46}"/>
              </a:ext>
            </a:extLst>
          </p:cNvPr>
          <p:cNvSpPr>
            <a:spLocks noGrp="1"/>
          </p:cNvSpPr>
          <p:nvPr>
            <p:ph type="dt" sz="half" idx="10"/>
          </p:nvPr>
        </p:nvSpPr>
        <p:spPr/>
        <p:txBody>
          <a:bodyPr/>
          <a:lstStyle>
            <a:lvl1pPr>
              <a:defRPr>
                <a:solidFill>
                  <a:schemeClr val="tx2"/>
                </a:solidFill>
              </a:defRPr>
            </a:lvl1pPr>
          </a:lstStyle>
          <a:p>
            <a:r>
              <a:rPr lang="en-US"/>
              <a:t>DD Month 20XX</a:t>
            </a:r>
          </a:p>
        </p:txBody>
      </p:sp>
      <p:sp>
        <p:nvSpPr>
          <p:cNvPr id="4" name="Footer Placeholder 3">
            <a:extLst>
              <a:ext uri="{FF2B5EF4-FFF2-40B4-BE49-F238E27FC236}">
                <a16:creationId xmlns:a16="http://schemas.microsoft.com/office/drawing/2014/main" id="{CFF6CD72-BAC2-4994-B821-40432481E830}"/>
              </a:ext>
            </a:extLst>
          </p:cNvPr>
          <p:cNvSpPr>
            <a:spLocks noGrp="1"/>
          </p:cNvSpPr>
          <p:nvPr>
            <p:ph type="ftr" sz="quarter" idx="11"/>
          </p:nvPr>
        </p:nvSpPr>
        <p:spPr/>
        <p:txBody>
          <a:bodyPr/>
          <a:lstStyle>
            <a:lvl1pPr>
              <a:defRPr>
                <a:solidFill>
                  <a:schemeClr val="tx2"/>
                </a:solidFill>
              </a:defRPr>
            </a:lvl1pPr>
          </a:lstStyle>
          <a:p>
            <a:r>
              <a:rPr lang="en-US"/>
              <a:t>Presentation Title Goes Here</a:t>
            </a:r>
          </a:p>
        </p:txBody>
      </p:sp>
      <p:sp>
        <p:nvSpPr>
          <p:cNvPr id="5" name="Slide Number Placeholder 4">
            <a:extLst>
              <a:ext uri="{FF2B5EF4-FFF2-40B4-BE49-F238E27FC236}">
                <a16:creationId xmlns:a16="http://schemas.microsoft.com/office/drawing/2014/main" id="{D593CFAF-562D-445B-846A-E8F71A026870}"/>
              </a:ext>
            </a:extLst>
          </p:cNvPr>
          <p:cNvSpPr>
            <a:spLocks noGrp="1"/>
          </p:cNvSpPr>
          <p:nvPr>
            <p:ph type="sldNum" sz="quarter" idx="12"/>
          </p:nvPr>
        </p:nvSpPr>
        <p:spPr/>
        <p:txBody>
          <a:bodyPr/>
          <a:lstStyle>
            <a:lvl1pPr>
              <a:defRPr>
                <a:solidFill>
                  <a:schemeClr val="tx2"/>
                </a:solidFill>
              </a:defRPr>
            </a:lvl1pPr>
          </a:lstStyle>
          <a:p>
            <a:fld id="{1E68DD1B-5CD8-424B-8173-19E182143E0A}" type="slidenum">
              <a:rPr lang="en-US" smtClean="0"/>
              <a:pPr/>
              <a:t>‹#›</a:t>
            </a:fld>
            <a:endParaRPr lang="en-US"/>
          </a:p>
        </p:txBody>
      </p:sp>
      <p:sp>
        <p:nvSpPr>
          <p:cNvPr id="6" name="TextBox 5">
            <a:extLst>
              <a:ext uri="{FF2B5EF4-FFF2-40B4-BE49-F238E27FC236}">
                <a16:creationId xmlns:a16="http://schemas.microsoft.com/office/drawing/2014/main" id="{7C98C825-F06D-4987-81B8-02D493880414}"/>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tx2"/>
                </a:solidFill>
              </a:rPr>
              <a:t>ku.ac.ae</a:t>
            </a:r>
            <a:endParaRPr lang="en-US" sz="850">
              <a:solidFill>
                <a:schemeClr val="tx2"/>
              </a:solidFill>
            </a:endParaRPr>
          </a:p>
        </p:txBody>
      </p:sp>
      <p:pic>
        <p:nvPicPr>
          <p:cNvPr id="7" name="Picture 6">
            <a:extLst>
              <a:ext uri="{FF2B5EF4-FFF2-40B4-BE49-F238E27FC236}">
                <a16:creationId xmlns:a16="http://schemas.microsoft.com/office/drawing/2014/main" id="{53464E6B-FB97-4EC4-BBD3-24FE3C8D13D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83665" y="236124"/>
            <a:ext cx="1811847" cy="185303"/>
          </a:xfrm>
          <a:prstGeom prst="rect">
            <a:avLst/>
          </a:prstGeom>
        </p:spPr>
      </p:pic>
      <p:cxnSp>
        <p:nvCxnSpPr>
          <p:cNvPr id="8" name="Straight Connector 7">
            <a:extLst>
              <a:ext uri="{FF2B5EF4-FFF2-40B4-BE49-F238E27FC236}">
                <a16:creationId xmlns:a16="http://schemas.microsoft.com/office/drawing/2014/main" id="{7A8822A8-864B-49B0-9C0B-A862217EF3B8}"/>
              </a:ext>
            </a:extLst>
          </p:cNvPr>
          <p:cNvCxnSpPr/>
          <p:nvPr userDrawn="1"/>
        </p:nvCxnSpPr>
        <p:spPr>
          <a:xfrm>
            <a:off x="383665" y="533400"/>
            <a:ext cx="11465435"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08852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D94EFBB-C8CA-4201-A903-805856BEB310}"/>
              </a:ext>
            </a:extLst>
          </p:cNvPr>
          <p:cNvSpPr>
            <a:spLocks noGrp="1"/>
          </p:cNvSpPr>
          <p:nvPr>
            <p:ph type="dt" sz="half" idx="10"/>
          </p:nvPr>
        </p:nvSpPr>
        <p:spPr/>
        <p:txBody>
          <a:bodyPr/>
          <a:lstStyle/>
          <a:p>
            <a:r>
              <a:rPr lang="en-US"/>
              <a:t>DD Month 20XX</a:t>
            </a:r>
          </a:p>
        </p:txBody>
      </p:sp>
      <p:sp>
        <p:nvSpPr>
          <p:cNvPr id="3" name="Footer Placeholder 2">
            <a:extLst>
              <a:ext uri="{FF2B5EF4-FFF2-40B4-BE49-F238E27FC236}">
                <a16:creationId xmlns:a16="http://schemas.microsoft.com/office/drawing/2014/main" id="{8551DCEB-2462-4151-B7CC-F3EC0D3A59D6}"/>
              </a:ext>
            </a:extLst>
          </p:cNvPr>
          <p:cNvSpPr>
            <a:spLocks noGrp="1"/>
          </p:cNvSpPr>
          <p:nvPr>
            <p:ph type="ftr" sz="quarter" idx="11"/>
          </p:nvPr>
        </p:nvSpPr>
        <p:spPr/>
        <p:txBody>
          <a:bodyPr/>
          <a:lstStyle/>
          <a:p>
            <a:r>
              <a:rPr lang="en-US"/>
              <a:t>Presentation Title Goes Here</a:t>
            </a:r>
          </a:p>
        </p:txBody>
      </p:sp>
      <p:sp>
        <p:nvSpPr>
          <p:cNvPr id="4" name="Slide Number Placeholder 3">
            <a:extLst>
              <a:ext uri="{FF2B5EF4-FFF2-40B4-BE49-F238E27FC236}">
                <a16:creationId xmlns:a16="http://schemas.microsoft.com/office/drawing/2014/main" id="{B5A57B99-432B-45A8-9216-9BC01B297D0C}"/>
              </a:ext>
            </a:extLst>
          </p:cNvPr>
          <p:cNvSpPr>
            <a:spLocks noGrp="1"/>
          </p:cNvSpPr>
          <p:nvPr>
            <p:ph type="sldNum" sz="quarter" idx="12"/>
          </p:nvPr>
        </p:nvSpPr>
        <p:spPr/>
        <p:txBody>
          <a:bodyPr/>
          <a:lstStyle/>
          <a:p>
            <a:fld id="{1E68DD1B-5CD8-424B-8173-19E182143E0A}" type="slidenum">
              <a:rPr lang="en-US" smtClean="0"/>
              <a:t>‹#›</a:t>
            </a:fld>
            <a:endParaRPr lang="en-US"/>
          </a:p>
        </p:txBody>
      </p:sp>
    </p:spTree>
    <p:extLst>
      <p:ext uri="{BB962C8B-B14F-4D97-AF65-F5344CB8AC3E}">
        <p14:creationId xmlns:p14="http://schemas.microsoft.com/office/powerpoint/2010/main" val="425915438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rgbClr val="D0CFC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49F49-C197-4276-BA18-25EE446879E5}"/>
              </a:ext>
            </a:extLst>
          </p:cNvPr>
          <p:cNvSpPr>
            <a:spLocks noGrp="1"/>
          </p:cNvSpPr>
          <p:nvPr>
            <p:ph type="title"/>
          </p:nvPr>
        </p:nvSpPr>
        <p:spPr>
          <a:xfrm>
            <a:off x="831850" y="1204913"/>
            <a:ext cx="10515600" cy="2852737"/>
          </a:xfrm>
        </p:spPr>
        <p:txBody>
          <a:bodyPr anchor="b"/>
          <a:lstStyle>
            <a:lvl1pPr algn="ctr">
              <a:lnSpc>
                <a:spcPct val="100000"/>
              </a:lnSpc>
              <a:defRPr sz="6000"/>
            </a:lvl1pPr>
          </a:lstStyle>
          <a:p>
            <a:r>
              <a:rPr lang="en-US"/>
              <a:t>Click to edit Master title style</a:t>
            </a:r>
          </a:p>
        </p:txBody>
      </p:sp>
      <p:sp>
        <p:nvSpPr>
          <p:cNvPr id="3" name="Text Placeholder 2">
            <a:extLst>
              <a:ext uri="{FF2B5EF4-FFF2-40B4-BE49-F238E27FC236}">
                <a16:creationId xmlns:a16="http://schemas.microsoft.com/office/drawing/2014/main" id="{1104C747-8640-4D13-A1FA-90CDB4EBBF1D}"/>
              </a:ext>
            </a:extLst>
          </p:cNvPr>
          <p:cNvSpPr>
            <a:spLocks noGrp="1"/>
          </p:cNvSpPr>
          <p:nvPr>
            <p:ph type="body" idx="1"/>
          </p:nvPr>
        </p:nvSpPr>
        <p:spPr>
          <a:xfrm>
            <a:off x="831850" y="4000500"/>
            <a:ext cx="10515600" cy="1584326"/>
          </a:xfrm>
        </p:spPr>
        <p:txBody>
          <a:bodyPr>
            <a:normAutofit/>
          </a:bodyPr>
          <a:lstStyle>
            <a:lvl1pPr marL="0" indent="0" algn="ctr">
              <a:buNone/>
              <a:defRPr sz="3800">
                <a:solidFill>
                  <a:srgbClr val="000000"/>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08D46D51-CC51-458D-B7F8-BB8DC09CBA9B}"/>
              </a:ext>
            </a:extLst>
          </p:cNvPr>
          <p:cNvSpPr>
            <a:spLocks noGrp="1"/>
          </p:cNvSpPr>
          <p:nvPr>
            <p:ph type="dt" sz="half" idx="10"/>
          </p:nvPr>
        </p:nvSpPr>
        <p:spPr/>
        <p:txBody>
          <a:bodyPr/>
          <a:lstStyle/>
          <a:p>
            <a:r>
              <a:rPr lang="en-US"/>
              <a:t>DD Month 20XX</a:t>
            </a:r>
          </a:p>
        </p:txBody>
      </p:sp>
      <p:sp>
        <p:nvSpPr>
          <p:cNvPr id="5" name="Footer Placeholder 4">
            <a:extLst>
              <a:ext uri="{FF2B5EF4-FFF2-40B4-BE49-F238E27FC236}">
                <a16:creationId xmlns:a16="http://schemas.microsoft.com/office/drawing/2014/main" id="{BD7397C4-D37A-45E1-B1B8-7100D475BDA3}"/>
              </a:ext>
            </a:extLst>
          </p:cNvPr>
          <p:cNvSpPr>
            <a:spLocks noGrp="1"/>
          </p:cNvSpPr>
          <p:nvPr>
            <p:ph type="ftr" sz="quarter" idx="11"/>
          </p:nvPr>
        </p:nvSpPr>
        <p:spPr/>
        <p:txBody>
          <a:bodyPr/>
          <a:lstStyle/>
          <a:p>
            <a:r>
              <a:rPr lang="en-US"/>
              <a:t>Presentation Title Goes Here</a:t>
            </a:r>
          </a:p>
        </p:txBody>
      </p:sp>
      <p:sp>
        <p:nvSpPr>
          <p:cNvPr id="6" name="Slide Number Placeholder 5">
            <a:extLst>
              <a:ext uri="{FF2B5EF4-FFF2-40B4-BE49-F238E27FC236}">
                <a16:creationId xmlns:a16="http://schemas.microsoft.com/office/drawing/2014/main" id="{3393DD6E-BA6A-445E-B542-43DE3AEB0032}"/>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9" name="Picture 8">
            <a:extLst>
              <a:ext uri="{FF2B5EF4-FFF2-40B4-BE49-F238E27FC236}">
                <a16:creationId xmlns:a16="http://schemas.microsoft.com/office/drawing/2014/main" id="{965424D6-2475-46D6-A699-3A7CA5F8B12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10" name="TextBox 9">
            <a:extLst>
              <a:ext uri="{FF2B5EF4-FFF2-40B4-BE49-F238E27FC236}">
                <a16:creationId xmlns:a16="http://schemas.microsoft.com/office/drawing/2014/main" id="{7265327D-BC3D-4548-B6FC-FF18B53D2785}"/>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spTree>
    <p:extLst>
      <p:ext uri="{BB962C8B-B14F-4D97-AF65-F5344CB8AC3E}">
        <p14:creationId xmlns:p14="http://schemas.microsoft.com/office/powerpoint/2010/main" val="25453610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Heading Picture Background">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49F49-C197-4276-BA18-25EE446879E5}"/>
              </a:ext>
            </a:extLst>
          </p:cNvPr>
          <p:cNvSpPr>
            <a:spLocks noGrp="1"/>
          </p:cNvSpPr>
          <p:nvPr>
            <p:ph type="title"/>
          </p:nvPr>
        </p:nvSpPr>
        <p:spPr>
          <a:xfrm>
            <a:off x="831850" y="1052513"/>
            <a:ext cx="10515600" cy="2852737"/>
          </a:xfrm>
        </p:spPr>
        <p:txBody>
          <a:bodyPr anchor="b"/>
          <a:lstStyle>
            <a:lvl1pPr algn="ctr">
              <a:lnSpc>
                <a:spcPct val="100000"/>
              </a:lnSpc>
              <a:defRPr sz="6000">
                <a:solidFill>
                  <a:srgbClr val="FFFFFF"/>
                </a:solidFill>
              </a:defRPr>
            </a:lvl1pPr>
          </a:lstStyle>
          <a:p>
            <a:r>
              <a:rPr lang="en-US"/>
              <a:t>Click to edit Master title style</a:t>
            </a:r>
          </a:p>
        </p:txBody>
      </p:sp>
      <p:sp>
        <p:nvSpPr>
          <p:cNvPr id="4" name="Date Placeholder 3">
            <a:extLst>
              <a:ext uri="{FF2B5EF4-FFF2-40B4-BE49-F238E27FC236}">
                <a16:creationId xmlns:a16="http://schemas.microsoft.com/office/drawing/2014/main" id="{08D46D51-CC51-458D-B7F8-BB8DC09CBA9B}"/>
              </a:ext>
            </a:extLst>
          </p:cNvPr>
          <p:cNvSpPr>
            <a:spLocks noGrp="1"/>
          </p:cNvSpPr>
          <p:nvPr>
            <p:ph type="dt" sz="half" idx="10"/>
          </p:nvPr>
        </p:nvSpPr>
        <p:spPr/>
        <p:txBody>
          <a:bodyPr/>
          <a:lstStyle/>
          <a:p>
            <a:r>
              <a:rPr lang="en-US"/>
              <a:t>DD Month 20XX</a:t>
            </a:r>
          </a:p>
        </p:txBody>
      </p:sp>
      <p:sp>
        <p:nvSpPr>
          <p:cNvPr id="5" name="Footer Placeholder 4">
            <a:extLst>
              <a:ext uri="{FF2B5EF4-FFF2-40B4-BE49-F238E27FC236}">
                <a16:creationId xmlns:a16="http://schemas.microsoft.com/office/drawing/2014/main" id="{BD7397C4-D37A-45E1-B1B8-7100D475BDA3}"/>
              </a:ext>
            </a:extLst>
          </p:cNvPr>
          <p:cNvSpPr>
            <a:spLocks noGrp="1"/>
          </p:cNvSpPr>
          <p:nvPr>
            <p:ph type="ftr" sz="quarter" idx="11"/>
          </p:nvPr>
        </p:nvSpPr>
        <p:spPr/>
        <p:txBody>
          <a:bodyPr/>
          <a:lstStyle/>
          <a:p>
            <a:r>
              <a:rPr lang="en-US"/>
              <a:t>Presentation Title Goes Here</a:t>
            </a:r>
          </a:p>
        </p:txBody>
      </p:sp>
      <p:sp>
        <p:nvSpPr>
          <p:cNvPr id="6" name="Slide Number Placeholder 5">
            <a:extLst>
              <a:ext uri="{FF2B5EF4-FFF2-40B4-BE49-F238E27FC236}">
                <a16:creationId xmlns:a16="http://schemas.microsoft.com/office/drawing/2014/main" id="{3393DD6E-BA6A-445E-B542-43DE3AEB0032}"/>
              </a:ext>
            </a:extLst>
          </p:cNvPr>
          <p:cNvSpPr>
            <a:spLocks noGrp="1"/>
          </p:cNvSpPr>
          <p:nvPr>
            <p:ph type="sldNum" sz="quarter" idx="12"/>
          </p:nvPr>
        </p:nvSpPr>
        <p:spPr/>
        <p:txBody>
          <a:bodyPr/>
          <a:lstStyle/>
          <a:p>
            <a:fld id="{1E68DD1B-5CD8-424B-8173-19E182143E0A}" type="slidenum">
              <a:rPr lang="en-US" smtClean="0"/>
              <a:t>‹#›</a:t>
            </a:fld>
            <a:endParaRPr lang="en-US"/>
          </a:p>
        </p:txBody>
      </p:sp>
      <p:pic>
        <p:nvPicPr>
          <p:cNvPr id="9" name="Picture 8">
            <a:extLst>
              <a:ext uri="{FF2B5EF4-FFF2-40B4-BE49-F238E27FC236}">
                <a16:creationId xmlns:a16="http://schemas.microsoft.com/office/drawing/2014/main" id="{965424D6-2475-46D6-A699-3A7CA5F8B12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83665" y="236124"/>
            <a:ext cx="1811848" cy="185303"/>
          </a:xfrm>
          <a:prstGeom prst="rect">
            <a:avLst/>
          </a:prstGeom>
        </p:spPr>
      </p:pic>
      <p:sp>
        <p:nvSpPr>
          <p:cNvPr id="10" name="TextBox 9">
            <a:extLst>
              <a:ext uri="{FF2B5EF4-FFF2-40B4-BE49-F238E27FC236}">
                <a16:creationId xmlns:a16="http://schemas.microsoft.com/office/drawing/2014/main" id="{7265327D-BC3D-4548-B6FC-FF18B53D2785}"/>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spTree>
    <p:extLst>
      <p:ext uri="{BB962C8B-B14F-4D97-AF65-F5344CB8AC3E}">
        <p14:creationId xmlns:p14="http://schemas.microsoft.com/office/powerpoint/2010/main" val="36582986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End">
    <p:bg>
      <p:bgPr>
        <a:solidFill>
          <a:srgbClr val="0047BA"/>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EA79536-344B-4703-95C3-7F5AD0BFB38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622667" y="891158"/>
            <a:ext cx="2368684" cy="518220"/>
          </a:xfrm>
          <a:prstGeom prst="rect">
            <a:avLst/>
          </a:prstGeom>
        </p:spPr>
      </p:pic>
      <p:sp>
        <p:nvSpPr>
          <p:cNvPr id="4" name="TextBox 3">
            <a:extLst>
              <a:ext uri="{FF2B5EF4-FFF2-40B4-BE49-F238E27FC236}">
                <a16:creationId xmlns:a16="http://schemas.microsoft.com/office/drawing/2014/main" id="{AFAD5768-C7B0-4ABF-BE83-522BCD1F6FE5}"/>
              </a:ext>
            </a:extLst>
          </p:cNvPr>
          <p:cNvSpPr txBox="1"/>
          <p:nvPr userDrawn="1"/>
        </p:nvSpPr>
        <p:spPr>
          <a:xfrm>
            <a:off x="752475" y="2545809"/>
            <a:ext cx="10648950" cy="1769715"/>
          </a:xfrm>
          <a:prstGeom prst="rect">
            <a:avLst/>
          </a:prstGeom>
          <a:noFill/>
        </p:spPr>
        <p:txBody>
          <a:bodyPr wrap="square" lIns="0" tIns="0" rIns="0" bIns="0" rtlCol="0" anchor="ctr" anchorCtr="0">
            <a:spAutoFit/>
          </a:bodyPr>
          <a:lstStyle/>
          <a:p>
            <a:pPr algn="ctr"/>
            <a:r>
              <a:rPr lang="fi-FI" sz="11500" b="1" spc="-100" baseline="0" dirty="0" err="1">
                <a:solidFill>
                  <a:srgbClr val="FFFFFF"/>
                </a:solidFill>
                <a:latin typeface="+mj-lt"/>
              </a:rPr>
              <a:t>Thank</a:t>
            </a:r>
            <a:r>
              <a:rPr lang="fi-FI" sz="11500" b="1" spc="-100" baseline="0" dirty="0">
                <a:solidFill>
                  <a:srgbClr val="FFFFFF"/>
                </a:solidFill>
                <a:latin typeface="+mj-lt"/>
              </a:rPr>
              <a:t> </a:t>
            </a:r>
            <a:r>
              <a:rPr lang="fi-FI" sz="11500" b="1" spc="-100" baseline="0" dirty="0" err="1">
                <a:solidFill>
                  <a:srgbClr val="FFFFFF"/>
                </a:solidFill>
                <a:latin typeface="+mj-lt"/>
              </a:rPr>
              <a:t>You</a:t>
            </a:r>
            <a:endParaRPr lang="en-US" sz="11500" b="1" spc="-100" baseline="0" dirty="0">
              <a:solidFill>
                <a:srgbClr val="FFFFFF"/>
              </a:solidFill>
              <a:latin typeface="+mj-lt"/>
            </a:endParaRPr>
          </a:p>
        </p:txBody>
      </p:sp>
      <p:sp>
        <p:nvSpPr>
          <p:cNvPr id="13" name="TextBox 12">
            <a:extLst>
              <a:ext uri="{FF2B5EF4-FFF2-40B4-BE49-F238E27FC236}">
                <a16:creationId xmlns:a16="http://schemas.microsoft.com/office/drawing/2014/main" id="{A94333D0-73BA-48D2-AA6E-3F2C63C9CA8F}"/>
              </a:ext>
            </a:extLst>
          </p:cNvPr>
          <p:cNvSpPr txBox="1"/>
          <p:nvPr userDrawn="1"/>
        </p:nvSpPr>
        <p:spPr>
          <a:xfrm>
            <a:off x="5181601" y="6146800"/>
            <a:ext cx="1838324" cy="244475"/>
          </a:xfrm>
          <a:prstGeom prst="rect">
            <a:avLst/>
          </a:prstGeom>
          <a:noFill/>
        </p:spPr>
        <p:txBody>
          <a:bodyPr wrap="square" lIns="0" tIns="0" rIns="0" bIns="0" rtlCol="0" anchor="ctr" anchorCtr="0">
            <a:noAutofit/>
          </a:bodyPr>
          <a:lstStyle/>
          <a:p>
            <a:pPr algn="ctr"/>
            <a:r>
              <a:rPr lang="fi-FI" sz="1250" b="1">
                <a:solidFill>
                  <a:srgbClr val="FFFFFF"/>
                </a:solidFill>
              </a:rPr>
              <a:t>ku.ac.ae</a:t>
            </a:r>
            <a:endParaRPr lang="en-US" sz="1250" b="1">
              <a:solidFill>
                <a:srgbClr val="FFFFFF"/>
              </a:solidFill>
            </a:endParaRPr>
          </a:p>
        </p:txBody>
      </p:sp>
    </p:spTree>
    <p:extLst>
      <p:ext uri="{BB962C8B-B14F-4D97-AF65-F5344CB8AC3E}">
        <p14:creationId xmlns:p14="http://schemas.microsoft.com/office/powerpoint/2010/main" val="24195699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7564FE-F745-443F-8321-B0EFD169FAC6}"/>
              </a:ext>
            </a:extLst>
          </p:cNvPr>
          <p:cNvSpPr>
            <a:spLocks noGrp="1"/>
          </p:cNvSpPr>
          <p:nvPr>
            <p:ph type="title"/>
          </p:nvPr>
        </p:nvSpPr>
        <p:spPr>
          <a:xfrm>
            <a:off x="1362074" y="542925"/>
            <a:ext cx="9991725" cy="1114425"/>
          </a:xfrm>
          <a:prstGeom prst="rect">
            <a:avLst/>
          </a:prstGeom>
        </p:spPr>
        <p:txBody>
          <a:bodyPr vert="horz" lIns="0" tIns="0" rIns="0" bIns="0" rtlCol="0" anchor="b" anchorCtr="0">
            <a:normAutofit/>
          </a:bodyPr>
          <a:lstStyle/>
          <a:p>
            <a:r>
              <a:rPr lang="en-US"/>
              <a:t>Click to edit Master title style</a:t>
            </a:r>
          </a:p>
        </p:txBody>
      </p:sp>
      <p:sp>
        <p:nvSpPr>
          <p:cNvPr id="3" name="Text Placeholder 2">
            <a:extLst>
              <a:ext uri="{FF2B5EF4-FFF2-40B4-BE49-F238E27FC236}">
                <a16:creationId xmlns:a16="http://schemas.microsoft.com/office/drawing/2014/main" id="{06911581-2B37-40B3-825A-043921DFB80C}"/>
              </a:ext>
            </a:extLst>
          </p:cNvPr>
          <p:cNvSpPr>
            <a:spLocks noGrp="1"/>
          </p:cNvSpPr>
          <p:nvPr>
            <p:ph type="body" idx="1"/>
          </p:nvPr>
        </p:nvSpPr>
        <p:spPr>
          <a:xfrm>
            <a:off x="1362074" y="1866900"/>
            <a:ext cx="9991725" cy="4448175"/>
          </a:xfrm>
          <a:prstGeom prst="rect">
            <a:avLst/>
          </a:prstGeom>
        </p:spPr>
        <p:txBody>
          <a:bodyPr vert="horz" lIns="0" tIns="0" rIns="0" bIns="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A172D0-FD25-45C4-A82E-F4094DCDE0CC}"/>
              </a:ext>
            </a:extLst>
          </p:cNvPr>
          <p:cNvSpPr>
            <a:spLocks noGrp="1"/>
          </p:cNvSpPr>
          <p:nvPr>
            <p:ph type="dt" sz="half" idx="2"/>
          </p:nvPr>
        </p:nvSpPr>
        <p:spPr>
          <a:xfrm>
            <a:off x="8086725" y="203200"/>
            <a:ext cx="1733550" cy="244475"/>
          </a:xfrm>
          <a:prstGeom prst="rect">
            <a:avLst/>
          </a:prstGeom>
        </p:spPr>
        <p:txBody>
          <a:bodyPr vert="horz" lIns="0" tIns="0" rIns="0" bIns="0" rtlCol="0" anchor="ctr"/>
          <a:lstStyle>
            <a:lvl1pPr algn="r">
              <a:defRPr sz="850">
                <a:solidFill>
                  <a:schemeClr val="bg2"/>
                </a:solidFill>
              </a:defRPr>
            </a:lvl1pPr>
          </a:lstStyle>
          <a:p>
            <a:r>
              <a:rPr lang="en-US"/>
              <a:t>DD Month 20XX</a:t>
            </a:r>
          </a:p>
        </p:txBody>
      </p:sp>
      <p:sp>
        <p:nvSpPr>
          <p:cNvPr id="5" name="Footer Placeholder 4">
            <a:extLst>
              <a:ext uri="{FF2B5EF4-FFF2-40B4-BE49-F238E27FC236}">
                <a16:creationId xmlns:a16="http://schemas.microsoft.com/office/drawing/2014/main" id="{F5B18871-7BC3-4A13-9CC9-B9A1DB22F262}"/>
              </a:ext>
            </a:extLst>
          </p:cNvPr>
          <p:cNvSpPr>
            <a:spLocks noGrp="1"/>
          </p:cNvSpPr>
          <p:nvPr>
            <p:ph type="ftr" sz="quarter" idx="3"/>
          </p:nvPr>
        </p:nvSpPr>
        <p:spPr>
          <a:xfrm>
            <a:off x="2867025" y="203200"/>
            <a:ext cx="4114800" cy="244475"/>
          </a:xfrm>
          <a:prstGeom prst="rect">
            <a:avLst/>
          </a:prstGeom>
        </p:spPr>
        <p:txBody>
          <a:bodyPr vert="horz" lIns="0" tIns="0" rIns="0" bIns="0" rtlCol="0" anchor="ctr"/>
          <a:lstStyle>
            <a:lvl1pPr algn="ctr">
              <a:defRPr sz="850">
                <a:solidFill>
                  <a:schemeClr val="bg2"/>
                </a:solidFill>
              </a:defRPr>
            </a:lvl1pPr>
          </a:lstStyle>
          <a:p>
            <a:r>
              <a:rPr lang="en-US"/>
              <a:t>Presentation Title Goes Here</a:t>
            </a:r>
          </a:p>
        </p:txBody>
      </p:sp>
      <p:sp>
        <p:nvSpPr>
          <p:cNvPr id="6" name="Slide Number Placeholder 5">
            <a:extLst>
              <a:ext uri="{FF2B5EF4-FFF2-40B4-BE49-F238E27FC236}">
                <a16:creationId xmlns:a16="http://schemas.microsoft.com/office/drawing/2014/main" id="{A7EA17DA-0D3F-410F-A9AA-3171ED151327}"/>
              </a:ext>
            </a:extLst>
          </p:cNvPr>
          <p:cNvSpPr>
            <a:spLocks noGrp="1"/>
          </p:cNvSpPr>
          <p:nvPr>
            <p:ph type="sldNum" sz="quarter" idx="4"/>
          </p:nvPr>
        </p:nvSpPr>
        <p:spPr>
          <a:xfrm>
            <a:off x="11563349" y="203200"/>
            <a:ext cx="523875" cy="244475"/>
          </a:xfrm>
          <a:prstGeom prst="rect">
            <a:avLst/>
          </a:prstGeom>
        </p:spPr>
        <p:txBody>
          <a:bodyPr vert="horz" lIns="0" tIns="0" rIns="0" bIns="0" rtlCol="0" anchor="ctr"/>
          <a:lstStyle>
            <a:lvl1pPr algn="ctr">
              <a:defRPr sz="850">
                <a:solidFill>
                  <a:schemeClr val="bg2"/>
                </a:solidFill>
              </a:defRPr>
            </a:lvl1pPr>
          </a:lstStyle>
          <a:p>
            <a:fld id="{1E68DD1B-5CD8-424B-8173-19E182143E0A}" type="slidenum">
              <a:rPr lang="en-US" smtClean="0"/>
              <a:pPr/>
              <a:t>‹#›</a:t>
            </a:fld>
            <a:endParaRPr lang="en-US"/>
          </a:p>
        </p:txBody>
      </p:sp>
      <p:sp>
        <p:nvSpPr>
          <p:cNvPr id="13" name="TextBox 12">
            <a:extLst>
              <a:ext uri="{FF2B5EF4-FFF2-40B4-BE49-F238E27FC236}">
                <a16:creationId xmlns:a16="http://schemas.microsoft.com/office/drawing/2014/main" id="{AC18493A-1FC9-483C-BC41-405831F9D965}"/>
              </a:ext>
            </a:extLst>
          </p:cNvPr>
          <p:cNvSpPr txBox="1"/>
          <p:nvPr userDrawn="1"/>
        </p:nvSpPr>
        <p:spPr>
          <a:xfrm>
            <a:off x="10410824" y="203200"/>
            <a:ext cx="962025" cy="244475"/>
          </a:xfrm>
          <a:prstGeom prst="rect">
            <a:avLst/>
          </a:prstGeom>
          <a:noFill/>
        </p:spPr>
        <p:txBody>
          <a:bodyPr wrap="square" lIns="0" tIns="0" rIns="0" bIns="0" rtlCol="0" anchor="ctr" anchorCtr="0">
            <a:noAutofit/>
          </a:bodyPr>
          <a:lstStyle/>
          <a:p>
            <a:pPr algn="r"/>
            <a:r>
              <a:rPr lang="fi-FI" sz="850">
                <a:solidFill>
                  <a:schemeClr val="bg2"/>
                </a:solidFill>
              </a:rPr>
              <a:t>ku.ac.ae</a:t>
            </a:r>
            <a:endParaRPr lang="en-US" sz="850">
              <a:solidFill>
                <a:schemeClr val="bg2"/>
              </a:solidFill>
            </a:endParaRPr>
          </a:p>
        </p:txBody>
      </p:sp>
    </p:spTree>
    <p:extLst>
      <p:ext uri="{BB962C8B-B14F-4D97-AF65-F5344CB8AC3E}">
        <p14:creationId xmlns:p14="http://schemas.microsoft.com/office/powerpoint/2010/main" val="1107456480"/>
      </p:ext>
    </p:extLst>
  </p:cSld>
  <p:clrMap bg1="lt1" tx1="dk1" bg2="lt2" tx2="dk2" accent1="accent1" accent2="accent2" accent3="accent3" accent4="accent4" accent5="accent5" accent6="accent6" hlink="hlink" folHlink="folHlink"/>
  <p:sldLayoutIdLst>
    <p:sldLayoutId id="2147483649" r:id="rId1"/>
    <p:sldLayoutId id="2147483669" r:id="rId2"/>
    <p:sldLayoutId id="2147483668" r:id="rId3"/>
    <p:sldLayoutId id="2147483650" r:id="rId4"/>
    <p:sldLayoutId id="2147483662" r:id="rId5"/>
    <p:sldLayoutId id="2147483652" r:id="rId6"/>
    <p:sldLayoutId id="2147483661" r:id="rId7"/>
    <p:sldLayoutId id="2147483663" r:id="rId8"/>
    <p:sldLayoutId id="2147483660" r:id="rId9"/>
    <p:sldLayoutId id="2147483664" r:id="rId10"/>
    <p:sldLayoutId id="2147483665" r:id="rId11"/>
    <p:sldLayoutId id="2147483654" r:id="rId12"/>
    <p:sldLayoutId id="2147483671" r:id="rId13"/>
    <p:sldLayoutId id="2147483655" r:id="rId14"/>
    <p:sldLayoutId id="2147483651" r:id="rId15"/>
    <p:sldLayoutId id="2147483666" r:id="rId16"/>
    <p:sldLayoutId id="2147483667" r:id="rId17"/>
  </p:sldLayoutIdLst>
  <p:hf hdr="0"/>
  <p:txStyles>
    <p:titleStyle>
      <a:lvl1pPr algn="l" defTabSz="914400" rtl="0" eaLnBrk="1" latinLnBrk="0" hangingPunct="1">
        <a:lnSpc>
          <a:spcPct val="100000"/>
        </a:lnSpc>
        <a:spcBef>
          <a:spcPct val="0"/>
        </a:spcBef>
        <a:buNone/>
        <a:defRPr sz="3600" b="1" kern="1200" spc="50" baseline="0">
          <a:solidFill>
            <a:schemeClr val="tx2"/>
          </a:solidFill>
          <a:latin typeface="+mj-lt"/>
          <a:ea typeface="+mj-ea"/>
          <a:cs typeface="+mj-cs"/>
        </a:defRPr>
      </a:lvl1pPr>
    </p:titleStyle>
    <p:bodyStyle>
      <a:lvl1pPr marL="180975" indent="-180975" algn="l" defTabSz="914400" rtl="0" eaLnBrk="1" latinLnBrk="0" hangingPunct="1">
        <a:lnSpc>
          <a:spcPct val="100000"/>
        </a:lnSpc>
        <a:spcBef>
          <a:spcPts val="400"/>
        </a:spcBef>
        <a:buFont typeface="Arial" panose="020B0604020202020204" pitchFamily="34" charset="0"/>
        <a:buChar char="•"/>
        <a:defRPr sz="1850" b="1" kern="1200">
          <a:solidFill>
            <a:schemeClr val="tx1"/>
          </a:solidFill>
          <a:latin typeface="+mn-lt"/>
          <a:ea typeface="+mn-ea"/>
          <a:cs typeface="+mn-cs"/>
        </a:defRPr>
      </a:lvl1pPr>
      <a:lvl2pPr marL="542925" indent="-180975" algn="l" defTabSz="914400" rtl="0" eaLnBrk="1" latinLnBrk="0" hangingPunct="1">
        <a:lnSpc>
          <a:spcPct val="100000"/>
        </a:lnSpc>
        <a:spcBef>
          <a:spcPts val="400"/>
        </a:spcBef>
        <a:buFont typeface="Arial" panose="020B0604020202020204" pitchFamily="34" charset="0"/>
        <a:buChar char="•"/>
        <a:defRPr sz="1850" kern="1200">
          <a:solidFill>
            <a:schemeClr val="tx1"/>
          </a:solidFill>
          <a:latin typeface="+mn-lt"/>
          <a:ea typeface="+mn-ea"/>
          <a:cs typeface="+mn-cs"/>
        </a:defRPr>
      </a:lvl2pPr>
      <a:lvl3pPr marL="714375" indent="-171450"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3pPr>
      <a:lvl4pPr marL="895350" indent="-180975"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4pPr>
      <a:lvl5pPr marL="1076325" indent="-180975" algn="l" defTabSz="914400" rtl="0" eaLnBrk="1" latinLnBrk="0" hangingPunct="1">
        <a:lnSpc>
          <a:spcPct val="100000"/>
        </a:lnSpc>
        <a:spcBef>
          <a:spcPts val="4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IMU-Based Gait Pathology Classification</a:t>
            </a:r>
          </a:p>
        </p:txBody>
      </p:sp>
      <p:sp>
        <p:nvSpPr>
          <p:cNvPr id="3" name="Subtitle 2"/>
          <p:cNvSpPr>
            <a:spLocks noGrp="1"/>
          </p:cNvSpPr>
          <p:nvPr>
            <p:ph type="subTitle" idx="1"/>
          </p:nvPr>
        </p:nvSpPr>
        <p:spPr/>
        <p:txBody>
          <a:bodyPr/>
          <a:lstStyle/>
          <a:p>
            <a:r>
              <a:t>Machine Learning on the GaitRec Dataset</a:t>
            </a:r>
          </a:p>
        </p:txBody>
      </p:sp>
      <p:sp>
        <p:nvSpPr>
          <p:cNvPr id="4" name="Text Placeholder 3"/>
          <p:cNvSpPr>
            <a:spLocks noGrp="1"/>
          </p:cNvSpPr>
          <p:nvPr>
            <p:ph type="body" idx="10" sz="quarter"/>
          </p:nvPr>
        </p:nvSpPr>
        <p:spPr/>
        <p:txBody>
          <a:bodyPr/>
          <a:lstStyle/>
          <a:p>
            <a:r>
              <a:t>BMED 712  |  Rehabilitation Engineering  |  April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b="1" sz="2800">
                <a:solidFill>
                  <a:srgbClr val="0047BA"/>
                </a:solidFill>
              </a:rPr>
              <a:t>Problem &amp; Dataset Overview</a:t>
            </a:r>
          </a:p>
        </p:txBody>
      </p:sp>
      <p:sp>
        <p:nvSpPr>
          <p:cNvPr id="3" name="Rounded Rectangle 2"/>
          <p:cNvSpPr/>
          <p:nvPr/>
        </p:nvSpPr>
        <p:spPr>
          <a:xfrm>
            <a:off x="548640" y="1783080"/>
            <a:ext cx="3611880" cy="1417320"/>
          </a:xfrm>
          <a:prstGeom prst="roundRect">
            <a:avLst>
              <a:gd name="adj" fmla="val 7000"/>
            </a:avLst>
          </a:prstGeom>
          <a:solidFill>
            <a:srgbClr val="0047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874519"/>
            <a:ext cx="3611880" cy="777240"/>
          </a:xfrm>
          <a:prstGeom prst="rect">
            <a:avLst/>
          </a:prstGeom>
          <a:noFill/>
        </p:spPr>
        <p:txBody>
          <a:bodyPr wrap="square" lIns="36000" rIns="36000" tIns="18000" bIns="18000" anchor="ctr">
            <a:spAutoFit/>
          </a:bodyPr>
          <a:lstStyle/>
          <a:p>
            <a:pPr algn="ctr"/>
            <a:r>
              <a:rPr sz="4400" b="1">
                <a:solidFill>
                  <a:srgbClr val="FFFFFF"/>
                </a:solidFill>
              </a:rPr>
              <a:t>260</a:t>
            </a:r>
          </a:p>
        </p:txBody>
      </p:sp>
      <p:sp>
        <p:nvSpPr>
          <p:cNvPr id="5" name="TextBox 4"/>
          <p:cNvSpPr txBox="1"/>
          <p:nvPr/>
        </p:nvSpPr>
        <p:spPr>
          <a:xfrm>
            <a:off x="548640" y="2697480"/>
            <a:ext cx="3611880" cy="411480"/>
          </a:xfrm>
          <a:prstGeom prst="rect">
            <a:avLst/>
          </a:prstGeom>
          <a:noFill/>
        </p:spPr>
        <p:txBody>
          <a:bodyPr wrap="square" lIns="36000" rIns="36000" tIns="18000" bIns="18000">
            <a:spAutoFit/>
          </a:bodyPr>
          <a:lstStyle/>
          <a:p>
            <a:pPr algn="ctr"/>
            <a:r>
              <a:rPr sz="1300" b="0">
                <a:solidFill>
                  <a:srgbClr val="FFFFFF"/>
                </a:solidFill>
              </a:rPr>
              <a:t>Subjects (8 cohorts)</a:t>
            </a:r>
          </a:p>
        </p:txBody>
      </p:sp>
      <p:sp>
        <p:nvSpPr>
          <p:cNvPr id="6" name="Rounded Rectangle 5"/>
          <p:cNvSpPr/>
          <p:nvPr/>
        </p:nvSpPr>
        <p:spPr>
          <a:xfrm>
            <a:off x="4251960" y="1783080"/>
            <a:ext cx="3611880" cy="1417320"/>
          </a:xfrm>
          <a:prstGeom prst="roundRect">
            <a:avLst>
              <a:gd name="adj" fmla="val 7000"/>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51960" y="1874519"/>
            <a:ext cx="3611880" cy="777240"/>
          </a:xfrm>
          <a:prstGeom prst="rect">
            <a:avLst/>
          </a:prstGeom>
          <a:noFill/>
        </p:spPr>
        <p:txBody>
          <a:bodyPr wrap="square" lIns="36000" rIns="36000" tIns="18000" bIns="18000" anchor="ctr">
            <a:spAutoFit/>
          </a:bodyPr>
          <a:lstStyle/>
          <a:p>
            <a:pPr algn="ctr"/>
            <a:r>
              <a:rPr sz="4400" b="1">
                <a:solidFill>
                  <a:srgbClr val="FFFFFF"/>
                </a:solidFill>
              </a:rPr>
              <a:t>1,356</a:t>
            </a:r>
          </a:p>
        </p:txBody>
      </p:sp>
      <p:sp>
        <p:nvSpPr>
          <p:cNvPr id="8" name="TextBox 7"/>
          <p:cNvSpPr txBox="1"/>
          <p:nvPr/>
        </p:nvSpPr>
        <p:spPr>
          <a:xfrm>
            <a:off x="4251960" y="2697480"/>
            <a:ext cx="3611880" cy="411480"/>
          </a:xfrm>
          <a:prstGeom prst="rect">
            <a:avLst/>
          </a:prstGeom>
          <a:noFill/>
        </p:spPr>
        <p:txBody>
          <a:bodyPr wrap="square" lIns="36000" rIns="36000" tIns="18000" bIns="18000">
            <a:spAutoFit/>
          </a:bodyPr>
          <a:lstStyle/>
          <a:p>
            <a:pPr algn="ctr"/>
            <a:r>
              <a:rPr sz="1300" b="0">
                <a:solidFill>
                  <a:srgbClr val="FFFFFF"/>
                </a:solidFill>
              </a:rPr>
              <a:t>Walking trials</a:t>
            </a:r>
          </a:p>
        </p:txBody>
      </p:sp>
      <p:sp>
        <p:nvSpPr>
          <p:cNvPr id="9" name="Rounded Rectangle 8"/>
          <p:cNvSpPr/>
          <p:nvPr/>
        </p:nvSpPr>
        <p:spPr>
          <a:xfrm>
            <a:off x="7955279" y="1783080"/>
            <a:ext cx="3611880" cy="1417320"/>
          </a:xfrm>
          <a:prstGeom prst="roundRect">
            <a:avLst>
              <a:gd name="adj" fmla="val 7000"/>
            </a:avLst>
          </a:prstGeom>
          <a:solidFill>
            <a:srgbClr val="E53E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79" y="1874519"/>
            <a:ext cx="3611880" cy="777240"/>
          </a:xfrm>
          <a:prstGeom prst="rect">
            <a:avLst/>
          </a:prstGeom>
          <a:noFill/>
        </p:spPr>
        <p:txBody>
          <a:bodyPr wrap="square" lIns="36000" rIns="36000" tIns="18000" bIns="18000" anchor="ctr">
            <a:spAutoFit/>
          </a:bodyPr>
          <a:lstStyle/>
          <a:p>
            <a:pPr algn="ctr"/>
            <a:r>
              <a:rPr sz="4400" b="1">
                <a:solidFill>
                  <a:srgbClr val="FFFFFF"/>
                </a:solidFill>
              </a:rPr>
              <a:t>300,991</a:t>
            </a:r>
          </a:p>
        </p:txBody>
      </p:sp>
      <p:sp>
        <p:nvSpPr>
          <p:cNvPr id="11" name="TextBox 10"/>
          <p:cNvSpPr txBox="1"/>
          <p:nvPr/>
        </p:nvSpPr>
        <p:spPr>
          <a:xfrm>
            <a:off x="7955279" y="2697480"/>
            <a:ext cx="3611880" cy="411480"/>
          </a:xfrm>
          <a:prstGeom prst="rect">
            <a:avLst/>
          </a:prstGeom>
          <a:noFill/>
        </p:spPr>
        <p:txBody>
          <a:bodyPr wrap="square" lIns="36000" rIns="36000" tIns="18000" bIns="18000">
            <a:spAutoFit/>
          </a:bodyPr>
          <a:lstStyle/>
          <a:p>
            <a:pPr algn="ctr"/>
            <a:r>
              <a:rPr sz="1300" b="0">
                <a:solidFill>
                  <a:srgbClr val="FFFFFF"/>
                </a:solidFill>
              </a:rPr>
              <a:t>Feature windows</a:t>
            </a:r>
          </a:p>
        </p:txBody>
      </p:sp>
      <p:pic>
        <p:nvPicPr>
          <p:cNvPr id="12" name="Picture 11" descr="cohort_balance.png"/>
          <p:cNvPicPr>
            <a:picLocks noChangeAspect="1"/>
          </p:cNvPicPr>
          <p:nvPr/>
        </p:nvPicPr>
        <p:blipFill>
          <a:blip r:embed="rId2"/>
          <a:stretch>
            <a:fillRect/>
          </a:stretch>
        </p:blipFill>
        <p:spPr>
          <a:xfrm>
            <a:off x="548640" y="3520439"/>
            <a:ext cx="6583680" cy="1877670"/>
          </a:xfrm>
          <a:prstGeom prst="rect">
            <a:avLst/>
          </a:prstGeom>
        </p:spPr>
      </p:pic>
      <p:sp>
        <p:nvSpPr>
          <p:cNvPr id="13" name="TextBox 12"/>
          <p:cNvSpPr txBox="1"/>
          <p:nvPr/>
        </p:nvSpPr>
        <p:spPr>
          <a:xfrm>
            <a:off x="548640" y="5394959"/>
            <a:ext cx="6583680" cy="274320"/>
          </a:xfrm>
          <a:prstGeom prst="rect">
            <a:avLst/>
          </a:prstGeom>
          <a:noFill/>
        </p:spPr>
        <p:txBody>
          <a:bodyPr wrap="square" lIns="36000" rIns="36000" tIns="18000" bIns="18000">
            <a:spAutoFit/>
          </a:bodyPr>
          <a:lstStyle/>
          <a:p>
            <a:pPr algn="ctr"/>
            <a:r>
              <a:rPr sz="1000" b="0">
                <a:solidFill>
                  <a:srgbClr val="96969A"/>
                </a:solidFill>
              </a:rPr>
              <a:t>Class distribution (HC / Mild / Severe) across 8 cohorts</a:t>
            </a:r>
          </a:p>
        </p:txBody>
      </p:sp>
      <p:sp>
        <p:nvSpPr>
          <p:cNvPr id="14" name="Oval 13"/>
          <p:cNvSpPr/>
          <p:nvPr/>
        </p:nvSpPr>
        <p:spPr>
          <a:xfrm>
            <a:off x="7936992" y="3611879"/>
            <a:ext cx="219456" cy="219456"/>
          </a:xfrm>
          <a:prstGeom prst="ellipse">
            <a:avLst/>
          </a:prstGeom>
          <a:solidFill>
            <a:srgbClr val="0047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3520439"/>
            <a:ext cx="3657600" cy="411480"/>
          </a:xfrm>
          <a:prstGeom prst="rect">
            <a:avLst/>
          </a:prstGeom>
          <a:noFill/>
        </p:spPr>
        <p:txBody>
          <a:bodyPr wrap="square" lIns="36000" rIns="36000" tIns="18000" bIns="18000" anchor="ctr">
            <a:spAutoFit/>
          </a:bodyPr>
          <a:lstStyle/>
          <a:p>
            <a:pPr algn="l"/>
            <a:r>
              <a:rPr sz="1300" b="0">
                <a:solidFill>
                  <a:srgbClr val="2B2B2B"/>
                </a:solidFill>
              </a:rPr>
              <a:t>GaitRec (Medical Univ. Innsbruck)</a:t>
            </a:r>
          </a:p>
        </p:txBody>
      </p:sp>
      <p:sp>
        <p:nvSpPr>
          <p:cNvPr id="16" name="Oval 15"/>
          <p:cNvSpPr/>
          <p:nvPr/>
        </p:nvSpPr>
        <p:spPr>
          <a:xfrm>
            <a:off x="7936992" y="4114799"/>
            <a:ext cx="219456" cy="219456"/>
          </a:xfrm>
          <a:prstGeom prst="ellipse">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4023359"/>
            <a:ext cx="3657600" cy="411480"/>
          </a:xfrm>
          <a:prstGeom prst="rect">
            <a:avLst/>
          </a:prstGeom>
          <a:noFill/>
        </p:spPr>
        <p:txBody>
          <a:bodyPr wrap="square" lIns="36000" rIns="36000" tIns="18000" bIns="18000" anchor="ctr">
            <a:spAutoFit/>
          </a:bodyPr>
          <a:lstStyle/>
          <a:p>
            <a:pPr algn="l"/>
            <a:r>
              <a:rPr sz="1300" b="0">
                <a:solidFill>
                  <a:srgbClr val="2B2B2B"/>
                </a:solidFill>
              </a:rPr>
              <a:t>4 IMU sensors: HE, LB, LF, RF</a:t>
            </a:r>
          </a:p>
        </p:txBody>
      </p:sp>
      <p:sp>
        <p:nvSpPr>
          <p:cNvPr id="18" name="Oval 17"/>
          <p:cNvSpPr/>
          <p:nvPr/>
        </p:nvSpPr>
        <p:spPr>
          <a:xfrm>
            <a:off x="7936992" y="4617719"/>
            <a:ext cx="219456" cy="219456"/>
          </a:xfrm>
          <a:prstGeom prst="ellipse">
            <a:avLst/>
          </a:prstGeom>
          <a:solidFill>
            <a:srgbClr val="84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1040" y="4526279"/>
            <a:ext cx="3657600" cy="411480"/>
          </a:xfrm>
          <a:prstGeom prst="rect">
            <a:avLst/>
          </a:prstGeom>
          <a:noFill/>
        </p:spPr>
        <p:txBody>
          <a:bodyPr wrap="square" lIns="36000" rIns="36000" tIns="18000" bIns="18000" anchor="ctr">
            <a:spAutoFit/>
          </a:bodyPr>
          <a:lstStyle/>
          <a:p>
            <a:pPr algn="l"/>
            <a:r>
              <a:rPr sz="1300" b="0">
                <a:solidFill>
                  <a:srgbClr val="2B2B2B"/>
                </a:solidFill>
              </a:rPr>
              <a:t>3 signals × 3 axes × 6 metrics</a:t>
            </a:r>
          </a:p>
        </p:txBody>
      </p:sp>
      <p:sp>
        <p:nvSpPr>
          <p:cNvPr id="20" name="Oval 19"/>
          <p:cNvSpPr/>
          <p:nvPr/>
        </p:nvSpPr>
        <p:spPr>
          <a:xfrm>
            <a:off x="7936992" y="5120640"/>
            <a:ext cx="219456" cy="219456"/>
          </a:xfrm>
          <a:prstGeom prst="ellipse">
            <a:avLst/>
          </a:prstGeom>
          <a:solidFill>
            <a:srgbClr val="E53E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5029200"/>
            <a:ext cx="3657600" cy="411480"/>
          </a:xfrm>
          <a:prstGeom prst="rect">
            <a:avLst/>
          </a:prstGeom>
          <a:noFill/>
        </p:spPr>
        <p:txBody>
          <a:bodyPr wrap="square" lIns="36000" rIns="36000" tIns="18000" bIns="18000" anchor="ctr">
            <a:spAutoFit/>
          </a:bodyPr>
          <a:lstStyle/>
          <a:p>
            <a:pPr algn="l"/>
            <a:r>
              <a:rPr sz="1300" b="0">
                <a:solidFill>
                  <a:srgbClr val="2B2B2B"/>
                </a:solidFill>
              </a:rPr>
              <a:t>3-class: HC / Mild / Severe</a:t>
            </a:r>
          </a:p>
        </p:txBody>
      </p:sp>
      <p:sp>
        <p:nvSpPr>
          <p:cNvPr id="22" name="TextBox 21"/>
          <p:cNvSpPr txBox="1"/>
          <p:nvPr/>
        </p:nvSpPr>
        <p:spPr>
          <a:xfrm>
            <a:off x="7863840" y="5623559"/>
            <a:ext cx="4114800" cy="411480"/>
          </a:xfrm>
          <a:prstGeom prst="rect">
            <a:avLst/>
          </a:prstGeom>
          <a:noFill/>
        </p:spPr>
        <p:txBody>
          <a:bodyPr wrap="square" lIns="36000" rIns="36000" tIns="18000" bIns="18000">
            <a:spAutoFit/>
          </a:bodyPr>
          <a:lstStyle/>
          <a:p>
            <a:pPr algn="l"/>
            <a:r>
              <a:rPr sz="1200" b="1">
                <a:solidFill>
                  <a:srgbClr val="0047BA"/>
                </a:solidFill>
              </a:rPr>
              <a:t>216 hand-crafted features per window</a:t>
            </a:r>
          </a:p>
        </p:txBody>
      </p:sp>
      <p:sp>
        <p:nvSpPr>
          <p:cNvPr id="23" name="TextBox 22"/>
          <p:cNvSpPr txBox="1"/>
          <p:nvPr/>
        </p:nvSpPr>
        <p:spPr>
          <a:xfrm>
            <a:off x="457200" y="6446520"/>
            <a:ext cx="7315200" cy="274320"/>
          </a:xfrm>
          <a:prstGeom prst="rect">
            <a:avLst/>
          </a:prstGeom>
          <a:noFill/>
        </p:spPr>
        <p:txBody>
          <a:bodyPr wrap="square" lIns="36000" rIns="36000" tIns="18000" bIns="18000">
            <a:spAutoFit/>
          </a:bodyPr>
          <a:lstStyle/>
          <a:p>
            <a:pPr algn="l"/>
            <a:r>
              <a:rPr sz="1000" b="0">
                <a:solidFill>
                  <a:srgbClr val="96969A"/>
                </a:solidFill>
              </a:rPr>
              <a:t>Presenter 1  |  Dataset Overview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b="1" sz="2800">
                <a:solidFill>
                  <a:srgbClr val="0047BA"/>
                </a:solidFill>
              </a:rPr>
              <a:t>Feature Extraction Pipeline</a:t>
            </a:r>
          </a:p>
        </p:txBody>
      </p:sp>
      <p:sp>
        <p:nvSpPr>
          <p:cNvPr id="3" name="Rounded Rectangle 2"/>
          <p:cNvSpPr/>
          <p:nvPr/>
        </p:nvSpPr>
        <p:spPr>
          <a:xfrm>
            <a:off x="502920" y="1783080"/>
            <a:ext cx="2423160" cy="1737360"/>
          </a:xfrm>
          <a:prstGeom prst="roundRect">
            <a:avLst>
              <a:gd name="adj" fmla="val 7000"/>
            </a:avLst>
          </a:prstGeom>
          <a:solidFill>
            <a:srgbClr val="0047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920240"/>
            <a:ext cx="2423160" cy="502920"/>
          </a:xfrm>
          <a:prstGeom prst="rect">
            <a:avLst/>
          </a:prstGeom>
          <a:noFill/>
        </p:spPr>
        <p:txBody>
          <a:bodyPr wrap="square" lIns="36000" rIns="36000" tIns="18000" bIns="18000">
            <a:spAutoFit/>
          </a:bodyPr>
          <a:lstStyle/>
          <a:p>
            <a:pPr algn="ctr"/>
            <a:r>
              <a:rPr sz="2000" b="1">
                <a:solidFill>
                  <a:srgbClr val="FFFFFF"/>
                </a:solidFill>
              </a:rPr>
              <a:t>Windowing</a:t>
            </a:r>
          </a:p>
        </p:txBody>
      </p:sp>
      <p:sp>
        <p:nvSpPr>
          <p:cNvPr id="5" name="TextBox 4"/>
          <p:cNvSpPr txBox="1"/>
          <p:nvPr/>
        </p:nvSpPr>
        <p:spPr>
          <a:xfrm>
            <a:off x="594360" y="2514600"/>
            <a:ext cx="2240279" cy="914400"/>
          </a:xfrm>
          <a:prstGeom prst="rect">
            <a:avLst/>
          </a:prstGeom>
          <a:noFill/>
        </p:spPr>
        <p:txBody>
          <a:bodyPr wrap="square" lIns="36000" rIns="36000" tIns="18000" bIns="18000" anchor="ctr">
            <a:spAutoFit/>
          </a:bodyPr>
          <a:lstStyle/>
          <a:p>
            <a:pPr algn="ctr"/>
            <a:r>
              <a:rPr sz="1300" b="0">
                <a:solidFill>
                  <a:srgbClr val="FFFFFF"/>
                </a:solidFill>
              </a:rPr>
              <a:t>6 s windows
50% overlap</a:t>
            </a:r>
          </a:p>
        </p:txBody>
      </p:sp>
      <p:sp>
        <p:nvSpPr>
          <p:cNvPr id="6" name="TextBox 5"/>
          <p:cNvSpPr txBox="1"/>
          <p:nvPr/>
        </p:nvSpPr>
        <p:spPr>
          <a:xfrm>
            <a:off x="2944368" y="2560320"/>
            <a:ext cx="192024" cy="320040"/>
          </a:xfrm>
          <a:prstGeom prst="rect">
            <a:avLst/>
          </a:prstGeom>
          <a:noFill/>
        </p:spPr>
        <p:txBody>
          <a:bodyPr wrap="square" lIns="36000" rIns="36000" tIns="18000" bIns="18000" anchor="ctr">
            <a:spAutoFit/>
          </a:bodyPr>
          <a:lstStyle/>
          <a:p>
            <a:pPr algn="ctr"/>
            <a:r>
              <a:rPr sz="2200" b="1">
                <a:solidFill>
                  <a:srgbClr val="96969A"/>
                </a:solidFill>
              </a:rPr>
              <a:t>▸</a:t>
            </a:r>
          </a:p>
        </p:txBody>
      </p:sp>
      <p:sp>
        <p:nvSpPr>
          <p:cNvPr id="7" name="Rounded Rectangle 6"/>
          <p:cNvSpPr/>
          <p:nvPr/>
        </p:nvSpPr>
        <p:spPr>
          <a:xfrm>
            <a:off x="3154680" y="1783080"/>
            <a:ext cx="2423160" cy="1737360"/>
          </a:xfrm>
          <a:prstGeom prst="roundRect">
            <a:avLst>
              <a:gd name="adj" fmla="val 7000"/>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154680" y="1920240"/>
            <a:ext cx="2423160" cy="502920"/>
          </a:xfrm>
          <a:prstGeom prst="rect">
            <a:avLst/>
          </a:prstGeom>
          <a:noFill/>
        </p:spPr>
        <p:txBody>
          <a:bodyPr wrap="square" lIns="36000" rIns="36000" tIns="18000" bIns="18000">
            <a:spAutoFit/>
          </a:bodyPr>
          <a:lstStyle/>
          <a:p>
            <a:pPr algn="ctr"/>
            <a:r>
              <a:rPr sz="2000" b="1">
                <a:solidFill>
                  <a:srgbClr val="FFFFFF"/>
                </a:solidFill>
              </a:rPr>
              <a:t>Extraction</a:t>
            </a:r>
          </a:p>
        </p:txBody>
      </p:sp>
      <p:sp>
        <p:nvSpPr>
          <p:cNvPr id="9" name="TextBox 8"/>
          <p:cNvSpPr txBox="1"/>
          <p:nvPr/>
        </p:nvSpPr>
        <p:spPr>
          <a:xfrm>
            <a:off x="3246120" y="2514600"/>
            <a:ext cx="2240279" cy="914400"/>
          </a:xfrm>
          <a:prstGeom prst="rect">
            <a:avLst/>
          </a:prstGeom>
          <a:noFill/>
        </p:spPr>
        <p:txBody>
          <a:bodyPr wrap="square" lIns="36000" rIns="36000" tIns="18000" bIns="18000" anchor="ctr">
            <a:spAutoFit/>
          </a:bodyPr>
          <a:lstStyle/>
          <a:p>
            <a:pPr algn="ctr"/>
            <a:r>
              <a:rPr sz="1300" b="0">
                <a:solidFill>
                  <a:srgbClr val="FFFFFF"/>
                </a:solidFill>
              </a:rPr>
              <a:t>4 sensors × 3 ch
× 3 axes</a:t>
            </a:r>
          </a:p>
        </p:txBody>
      </p:sp>
      <p:sp>
        <p:nvSpPr>
          <p:cNvPr id="10" name="TextBox 9"/>
          <p:cNvSpPr txBox="1"/>
          <p:nvPr/>
        </p:nvSpPr>
        <p:spPr>
          <a:xfrm>
            <a:off x="5596127" y="2560320"/>
            <a:ext cx="192024" cy="320040"/>
          </a:xfrm>
          <a:prstGeom prst="rect">
            <a:avLst/>
          </a:prstGeom>
          <a:noFill/>
        </p:spPr>
        <p:txBody>
          <a:bodyPr wrap="square" lIns="36000" rIns="36000" tIns="18000" bIns="18000" anchor="ctr">
            <a:spAutoFit/>
          </a:bodyPr>
          <a:lstStyle/>
          <a:p>
            <a:pPr algn="ctr"/>
            <a:r>
              <a:rPr sz="2200" b="1">
                <a:solidFill>
                  <a:srgbClr val="96969A"/>
                </a:solidFill>
              </a:rPr>
              <a:t>▸</a:t>
            </a:r>
          </a:p>
        </p:txBody>
      </p:sp>
      <p:sp>
        <p:nvSpPr>
          <p:cNvPr id="11" name="Rounded Rectangle 10"/>
          <p:cNvSpPr/>
          <p:nvPr/>
        </p:nvSpPr>
        <p:spPr>
          <a:xfrm>
            <a:off x="5806440" y="1783080"/>
            <a:ext cx="2423160" cy="1737360"/>
          </a:xfrm>
          <a:prstGeom prst="roundRect">
            <a:avLst>
              <a:gd name="adj" fmla="val 7000"/>
            </a:avLst>
          </a:prstGeom>
          <a:solidFill>
            <a:srgbClr val="84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06440" y="1920240"/>
            <a:ext cx="2423160" cy="502920"/>
          </a:xfrm>
          <a:prstGeom prst="rect">
            <a:avLst/>
          </a:prstGeom>
          <a:noFill/>
        </p:spPr>
        <p:txBody>
          <a:bodyPr wrap="square" lIns="36000" rIns="36000" tIns="18000" bIns="18000">
            <a:spAutoFit/>
          </a:bodyPr>
          <a:lstStyle/>
          <a:p>
            <a:pPr algn="ctr"/>
            <a:r>
              <a:rPr sz="2000" b="1">
                <a:solidFill>
                  <a:srgbClr val="FFFFFF"/>
                </a:solidFill>
              </a:rPr>
              <a:t>Metrics</a:t>
            </a:r>
          </a:p>
        </p:txBody>
      </p:sp>
      <p:sp>
        <p:nvSpPr>
          <p:cNvPr id="13" name="TextBox 12"/>
          <p:cNvSpPr txBox="1"/>
          <p:nvPr/>
        </p:nvSpPr>
        <p:spPr>
          <a:xfrm>
            <a:off x="5897879" y="2514600"/>
            <a:ext cx="2240279" cy="914400"/>
          </a:xfrm>
          <a:prstGeom prst="rect">
            <a:avLst/>
          </a:prstGeom>
          <a:noFill/>
        </p:spPr>
        <p:txBody>
          <a:bodyPr wrap="square" lIns="36000" rIns="36000" tIns="18000" bIns="18000" anchor="ctr">
            <a:spAutoFit/>
          </a:bodyPr>
          <a:lstStyle/>
          <a:p>
            <a:pPr algn="ctr"/>
            <a:r>
              <a:rPr sz="1300" b="0">
                <a:solidFill>
                  <a:srgbClr val="FFFFFF"/>
                </a:solidFill>
              </a:rPr>
              <a:t>Mean · Std · Min
Max · DomF · SC</a:t>
            </a:r>
          </a:p>
        </p:txBody>
      </p:sp>
      <p:sp>
        <p:nvSpPr>
          <p:cNvPr id="14" name="TextBox 13"/>
          <p:cNvSpPr txBox="1"/>
          <p:nvPr/>
        </p:nvSpPr>
        <p:spPr>
          <a:xfrm>
            <a:off x="8247888" y="2560320"/>
            <a:ext cx="192024" cy="320040"/>
          </a:xfrm>
          <a:prstGeom prst="rect">
            <a:avLst/>
          </a:prstGeom>
          <a:noFill/>
        </p:spPr>
        <p:txBody>
          <a:bodyPr wrap="square" lIns="36000" rIns="36000" tIns="18000" bIns="18000" anchor="ctr">
            <a:spAutoFit/>
          </a:bodyPr>
          <a:lstStyle/>
          <a:p>
            <a:pPr algn="ctr"/>
            <a:r>
              <a:rPr sz="2200" b="1">
                <a:solidFill>
                  <a:srgbClr val="96969A"/>
                </a:solidFill>
              </a:rPr>
              <a:t>▸</a:t>
            </a:r>
          </a:p>
        </p:txBody>
      </p:sp>
      <p:sp>
        <p:nvSpPr>
          <p:cNvPr id="15" name="Rounded Rectangle 14"/>
          <p:cNvSpPr/>
          <p:nvPr/>
        </p:nvSpPr>
        <p:spPr>
          <a:xfrm>
            <a:off x="8458200" y="1783080"/>
            <a:ext cx="2423160" cy="1737360"/>
          </a:xfrm>
          <a:prstGeom prst="roundRect">
            <a:avLst>
              <a:gd name="adj" fmla="val 7000"/>
            </a:avLst>
          </a:prstGeom>
          <a:solidFill>
            <a:srgbClr val="E53E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200" y="1920240"/>
            <a:ext cx="2423160" cy="502920"/>
          </a:xfrm>
          <a:prstGeom prst="rect">
            <a:avLst/>
          </a:prstGeom>
          <a:noFill/>
        </p:spPr>
        <p:txBody>
          <a:bodyPr wrap="square" lIns="36000" rIns="36000" tIns="18000" bIns="18000">
            <a:spAutoFit/>
          </a:bodyPr>
          <a:lstStyle/>
          <a:p>
            <a:pPr algn="ctr"/>
            <a:r>
              <a:rPr sz="2000" b="1">
                <a:solidFill>
                  <a:srgbClr val="FFFFFF"/>
                </a:solidFill>
              </a:rPr>
              <a:t>Selection</a:t>
            </a:r>
          </a:p>
        </p:txBody>
      </p:sp>
      <p:sp>
        <p:nvSpPr>
          <p:cNvPr id="17" name="TextBox 16"/>
          <p:cNvSpPr txBox="1"/>
          <p:nvPr/>
        </p:nvSpPr>
        <p:spPr>
          <a:xfrm>
            <a:off x="8549640" y="2514600"/>
            <a:ext cx="2240279" cy="914400"/>
          </a:xfrm>
          <a:prstGeom prst="rect">
            <a:avLst/>
          </a:prstGeom>
          <a:noFill/>
        </p:spPr>
        <p:txBody>
          <a:bodyPr wrap="square" lIns="36000" rIns="36000" tIns="18000" bIns="18000" anchor="ctr">
            <a:spAutoFit/>
          </a:bodyPr>
          <a:lstStyle/>
          <a:p>
            <a:pPr algn="ctr"/>
            <a:r>
              <a:rPr sz="1300" b="0">
                <a:solidFill>
                  <a:srgbClr val="FFFFFF"/>
                </a:solidFill>
              </a:rPr>
              <a:t>KW H-test
η² ranking</a:t>
            </a:r>
          </a:p>
        </p:txBody>
      </p:sp>
      <p:sp>
        <p:nvSpPr>
          <p:cNvPr id="18" name="Rounded Rectangle 17"/>
          <p:cNvSpPr/>
          <p:nvPr/>
        </p:nvSpPr>
        <p:spPr>
          <a:xfrm>
            <a:off x="502920" y="3931920"/>
            <a:ext cx="3657600" cy="1188720"/>
          </a:xfrm>
          <a:prstGeom prst="roundRect">
            <a:avLst>
              <a:gd name="adj" fmla="val 7000"/>
            </a:avLst>
          </a:prstGeom>
          <a:solidFill>
            <a:srgbClr val="F4F8FC"/>
          </a:solidFill>
          <a:ln w="9525">
            <a:solidFill>
              <a:srgbClr val="0047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5800" y="4069079"/>
            <a:ext cx="457200" cy="457200"/>
          </a:xfrm>
          <a:prstGeom prst="roundRect">
            <a:avLst>
              <a:gd name="adj" fmla="val 25000"/>
            </a:avLst>
          </a:prstGeom>
          <a:solidFill>
            <a:srgbClr val="0047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069079"/>
            <a:ext cx="457200" cy="457200"/>
          </a:xfrm>
          <a:prstGeom prst="rect">
            <a:avLst/>
          </a:prstGeom>
          <a:noFill/>
        </p:spPr>
        <p:txBody>
          <a:bodyPr wrap="square" lIns="36000" rIns="36000" tIns="18000" bIns="18000" anchor="ctr">
            <a:spAutoFit/>
          </a:bodyPr>
          <a:lstStyle/>
          <a:p>
            <a:pPr algn="ctr"/>
            <a:r>
              <a:rPr sz="1800" b="1">
                <a:solidFill>
                  <a:srgbClr val="FFFFFF"/>
                </a:solidFill>
              </a:rPr>
              <a:t>◆</a:t>
            </a:r>
          </a:p>
        </p:txBody>
      </p:sp>
      <p:sp>
        <p:nvSpPr>
          <p:cNvPr id="21" name="TextBox 20"/>
          <p:cNvSpPr txBox="1"/>
          <p:nvPr/>
        </p:nvSpPr>
        <p:spPr>
          <a:xfrm>
            <a:off x="1280160" y="3977639"/>
            <a:ext cx="2834640" cy="411480"/>
          </a:xfrm>
          <a:prstGeom prst="rect">
            <a:avLst/>
          </a:prstGeom>
          <a:noFill/>
        </p:spPr>
        <p:txBody>
          <a:bodyPr wrap="square" lIns="36000" rIns="36000" tIns="18000" bIns="18000">
            <a:spAutoFit/>
          </a:bodyPr>
          <a:lstStyle/>
          <a:p>
            <a:pPr algn="l"/>
            <a:r>
              <a:rPr sz="1400" b="1">
                <a:solidFill>
                  <a:srgbClr val="0047BA"/>
                </a:solidFill>
              </a:rPr>
              <a:t>X = ML / Y = AP / Z = Vertical</a:t>
            </a:r>
          </a:p>
        </p:txBody>
      </p:sp>
      <p:sp>
        <p:nvSpPr>
          <p:cNvPr id="22" name="TextBox 21"/>
          <p:cNvSpPr txBox="1"/>
          <p:nvPr/>
        </p:nvSpPr>
        <p:spPr>
          <a:xfrm>
            <a:off x="1280160" y="4343400"/>
            <a:ext cx="2834640" cy="365760"/>
          </a:xfrm>
          <a:prstGeom prst="rect">
            <a:avLst/>
          </a:prstGeom>
          <a:noFill/>
        </p:spPr>
        <p:txBody>
          <a:bodyPr wrap="square" lIns="36000" rIns="36000" tIns="18000" bIns="18000">
            <a:spAutoFit/>
          </a:bodyPr>
          <a:lstStyle/>
          <a:p>
            <a:pPr algn="l"/>
            <a:r>
              <a:rPr sz="1100" b="0">
                <a:solidFill>
                  <a:srgbClr val="2B2B2B"/>
                </a:solidFill>
              </a:rPr>
              <a:t>Standard anatomical axes</a:t>
            </a:r>
          </a:p>
        </p:txBody>
      </p:sp>
      <p:sp>
        <p:nvSpPr>
          <p:cNvPr id="23" name="Rounded Rectangle 22"/>
          <p:cNvSpPr/>
          <p:nvPr/>
        </p:nvSpPr>
        <p:spPr>
          <a:xfrm>
            <a:off x="4389120" y="3931920"/>
            <a:ext cx="3657600" cy="1188720"/>
          </a:xfrm>
          <a:prstGeom prst="roundRect">
            <a:avLst>
              <a:gd name="adj" fmla="val 7000"/>
            </a:avLst>
          </a:prstGeom>
          <a:solidFill>
            <a:srgbClr val="F4F8FC"/>
          </a:solidFill>
          <a:ln w="9525">
            <a:solidFill>
              <a:srgbClr val="00CE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572000" y="4069079"/>
            <a:ext cx="457200" cy="457200"/>
          </a:xfrm>
          <a:prstGeom prst="roundRect">
            <a:avLst>
              <a:gd name="adj" fmla="val 25000"/>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0" y="4069079"/>
            <a:ext cx="457200" cy="457200"/>
          </a:xfrm>
          <a:prstGeom prst="rect">
            <a:avLst/>
          </a:prstGeom>
          <a:noFill/>
        </p:spPr>
        <p:txBody>
          <a:bodyPr wrap="square" lIns="36000" rIns="36000" tIns="18000" bIns="18000" anchor="ctr">
            <a:spAutoFit/>
          </a:bodyPr>
          <a:lstStyle/>
          <a:p>
            <a:pPr algn="ctr"/>
            <a:r>
              <a:rPr sz="1800" b="1">
                <a:solidFill>
                  <a:srgbClr val="FFFFFF"/>
                </a:solidFill>
              </a:rPr>
              <a:t>✓</a:t>
            </a:r>
          </a:p>
        </p:txBody>
      </p:sp>
      <p:sp>
        <p:nvSpPr>
          <p:cNvPr id="26" name="TextBox 25"/>
          <p:cNvSpPr txBox="1"/>
          <p:nvPr/>
        </p:nvSpPr>
        <p:spPr>
          <a:xfrm>
            <a:off x="5166359" y="3977639"/>
            <a:ext cx="2834640" cy="411480"/>
          </a:xfrm>
          <a:prstGeom prst="rect">
            <a:avLst/>
          </a:prstGeom>
          <a:noFill/>
        </p:spPr>
        <p:txBody>
          <a:bodyPr wrap="square" lIns="36000" rIns="36000" tIns="18000" bIns="18000">
            <a:spAutoFit/>
          </a:bodyPr>
          <a:lstStyle/>
          <a:p>
            <a:pPr algn="l"/>
            <a:r>
              <a:rPr sz="1400" b="1">
                <a:solidFill>
                  <a:srgbClr val="00CE7C"/>
                </a:solidFill>
              </a:rPr>
              <a:t>207 / 216 significant</a:t>
            </a:r>
          </a:p>
        </p:txBody>
      </p:sp>
      <p:sp>
        <p:nvSpPr>
          <p:cNvPr id="27" name="TextBox 26"/>
          <p:cNvSpPr txBox="1"/>
          <p:nvPr/>
        </p:nvSpPr>
        <p:spPr>
          <a:xfrm>
            <a:off x="5166359" y="4343400"/>
            <a:ext cx="2834640" cy="365760"/>
          </a:xfrm>
          <a:prstGeom prst="rect">
            <a:avLst/>
          </a:prstGeom>
          <a:noFill/>
        </p:spPr>
        <p:txBody>
          <a:bodyPr wrap="square" lIns="36000" rIns="36000" tIns="18000" bIns="18000">
            <a:spAutoFit/>
          </a:bodyPr>
          <a:lstStyle/>
          <a:p>
            <a:pPr algn="l"/>
            <a:r>
              <a:rPr sz="1100" b="0">
                <a:solidFill>
                  <a:srgbClr val="2B2B2B"/>
                </a:solidFill>
              </a:rPr>
              <a:t>p &lt; 0.05, Bonferroni corrected</a:t>
            </a:r>
          </a:p>
        </p:txBody>
      </p:sp>
      <p:sp>
        <p:nvSpPr>
          <p:cNvPr id="28" name="Rounded Rectangle 27"/>
          <p:cNvSpPr/>
          <p:nvPr/>
        </p:nvSpPr>
        <p:spPr>
          <a:xfrm>
            <a:off x="8275320" y="3931920"/>
            <a:ext cx="3657600" cy="1188720"/>
          </a:xfrm>
          <a:prstGeom prst="roundRect">
            <a:avLst>
              <a:gd name="adj" fmla="val 7000"/>
            </a:avLst>
          </a:prstGeom>
          <a:solidFill>
            <a:srgbClr val="F4F8FC"/>
          </a:solidFill>
          <a:ln w="9525">
            <a:solidFill>
              <a:srgbClr val="E53E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458200" y="4069079"/>
            <a:ext cx="457200" cy="457200"/>
          </a:xfrm>
          <a:prstGeom prst="roundRect">
            <a:avLst>
              <a:gd name="adj" fmla="val 25000"/>
            </a:avLst>
          </a:prstGeom>
          <a:solidFill>
            <a:srgbClr val="E53E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58200" y="4069079"/>
            <a:ext cx="457200" cy="457200"/>
          </a:xfrm>
          <a:prstGeom prst="rect">
            <a:avLst/>
          </a:prstGeom>
          <a:noFill/>
        </p:spPr>
        <p:txBody>
          <a:bodyPr wrap="square" lIns="36000" rIns="36000" tIns="18000" bIns="18000" anchor="ctr">
            <a:spAutoFit/>
          </a:bodyPr>
          <a:lstStyle/>
          <a:p>
            <a:pPr algn="ctr"/>
            <a:r>
              <a:rPr sz="1800" b="1">
                <a:solidFill>
                  <a:srgbClr val="FFFFFF"/>
                </a:solidFill>
              </a:rPr>
              <a:t>★</a:t>
            </a:r>
          </a:p>
        </p:txBody>
      </p:sp>
      <p:sp>
        <p:nvSpPr>
          <p:cNvPr id="31" name="TextBox 30"/>
          <p:cNvSpPr txBox="1"/>
          <p:nvPr/>
        </p:nvSpPr>
        <p:spPr>
          <a:xfrm>
            <a:off x="9052560" y="3977639"/>
            <a:ext cx="2834640" cy="411480"/>
          </a:xfrm>
          <a:prstGeom prst="rect">
            <a:avLst/>
          </a:prstGeom>
          <a:noFill/>
        </p:spPr>
        <p:txBody>
          <a:bodyPr wrap="square" lIns="36000" rIns="36000" tIns="18000" bIns="18000">
            <a:spAutoFit/>
          </a:bodyPr>
          <a:lstStyle/>
          <a:p>
            <a:pPr algn="l"/>
            <a:r>
              <a:rPr sz="1400" b="1">
                <a:solidFill>
                  <a:srgbClr val="E53E51"/>
                </a:solidFill>
              </a:rPr>
              <a:t>Top η² = 0.303</a:t>
            </a:r>
          </a:p>
        </p:txBody>
      </p:sp>
      <p:sp>
        <p:nvSpPr>
          <p:cNvPr id="32" name="TextBox 31"/>
          <p:cNvSpPr txBox="1"/>
          <p:nvPr/>
        </p:nvSpPr>
        <p:spPr>
          <a:xfrm>
            <a:off x="9052560" y="4343400"/>
            <a:ext cx="2834640" cy="365760"/>
          </a:xfrm>
          <a:prstGeom prst="rect">
            <a:avLst/>
          </a:prstGeom>
          <a:noFill/>
        </p:spPr>
        <p:txBody>
          <a:bodyPr wrap="square" lIns="36000" rIns="36000" tIns="18000" bIns="18000">
            <a:spAutoFit/>
          </a:bodyPr>
          <a:lstStyle/>
          <a:p>
            <a:pPr algn="l"/>
            <a:r>
              <a:rPr sz="1100" b="0">
                <a:solidFill>
                  <a:srgbClr val="2B2B2B"/>
                </a:solidFill>
              </a:rPr>
              <a:t>HE_FreeAcc_X_dom_freq</a:t>
            </a:r>
          </a:p>
        </p:txBody>
      </p:sp>
      <p:sp>
        <p:nvSpPr>
          <p:cNvPr id="33" name="TextBox 32"/>
          <p:cNvSpPr txBox="1"/>
          <p:nvPr/>
        </p:nvSpPr>
        <p:spPr>
          <a:xfrm>
            <a:off x="502920" y="5349240"/>
            <a:ext cx="11155680" cy="365760"/>
          </a:xfrm>
          <a:prstGeom prst="rect">
            <a:avLst/>
          </a:prstGeom>
          <a:noFill/>
        </p:spPr>
        <p:txBody>
          <a:bodyPr wrap="square" lIns="36000" rIns="36000" tIns="18000" bIns="18000">
            <a:spAutoFit/>
          </a:bodyPr>
          <a:lstStyle/>
          <a:p>
            <a:pPr algn="ctr"/>
            <a:r>
              <a:rPr sz="1200" b="0">
                <a:solidFill>
                  <a:srgbClr val="96969A"/>
                </a:solidFill>
              </a:rPr>
              <a:t>Window configs: Full Gait 6 s (50% overlap)  +  U-Turn 3 s (0% overlap)</a:t>
            </a:r>
          </a:p>
        </p:txBody>
      </p:sp>
      <p:sp>
        <p:nvSpPr>
          <p:cNvPr id="34" name="TextBox 33"/>
          <p:cNvSpPr txBox="1"/>
          <p:nvPr/>
        </p:nvSpPr>
        <p:spPr>
          <a:xfrm>
            <a:off x="457200" y="6446520"/>
            <a:ext cx="7315200" cy="274320"/>
          </a:xfrm>
          <a:prstGeom prst="rect">
            <a:avLst/>
          </a:prstGeom>
          <a:noFill/>
        </p:spPr>
        <p:txBody>
          <a:bodyPr wrap="square" lIns="36000" rIns="36000" tIns="18000" bIns="18000">
            <a:spAutoFit/>
          </a:bodyPr>
          <a:lstStyle/>
          <a:p>
            <a:pPr algn="l"/>
            <a:r>
              <a:rPr sz="1000" b="0">
                <a:solidFill>
                  <a:srgbClr val="96969A"/>
                </a:solidFill>
              </a:rPr>
              <a:t>Presenter 1  |  Feature Extraction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b="1" sz="2800">
                <a:solidFill>
                  <a:srgbClr val="0047BA"/>
                </a:solidFill>
              </a:rPr>
              <a:t>Feature Correlation &amp; Top Features</a:t>
            </a:r>
          </a:p>
        </p:txBody>
      </p:sp>
      <p:pic>
        <p:nvPicPr>
          <p:cNvPr id="3" name="Picture 2" descr="correlation_heatmap_Full_Gait_6s_ov50.png"/>
          <p:cNvPicPr>
            <a:picLocks noChangeAspect="1"/>
          </p:cNvPicPr>
          <p:nvPr/>
        </p:nvPicPr>
        <p:blipFill>
          <a:blip r:embed="rId2"/>
          <a:stretch>
            <a:fillRect/>
          </a:stretch>
        </p:blipFill>
        <p:spPr>
          <a:xfrm>
            <a:off x="502920" y="1783080"/>
            <a:ext cx="4937760" cy="4403763"/>
          </a:xfrm>
          <a:prstGeom prst="rect">
            <a:avLst/>
          </a:prstGeom>
        </p:spPr>
      </p:pic>
      <p:sp>
        <p:nvSpPr>
          <p:cNvPr id="4" name="TextBox 3"/>
          <p:cNvSpPr txBox="1"/>
          <p:nvPr/>
        </p:nvSpPr>
        <p:spPr>
          <a:xfrm>
            <a:off x="502920" y="5943600"/>
            <a:ext cx="4937760" cy="274320"/>
          </a:xfrm>
          <a:prstGeom prst="rect">
            <a:avLst/>
          </a:prstGeom>
          <a:noFill/>
        </p:spPr>
        <p:txBody>
          <a:bodyPr wrap="square" lIns="36000" rIns="36000" tIns="18000" bIns="18000">
            <a:spAutoFit/>
          </a:bodyPr>
          <a:lstStyle/>
          <a:p>
            <a:pPr algn="ctr"/>
            <a:r>
              <a:rPr sz="1000" b="0">
                <a:solidFill>
                  <a:srgbClr val="96969A"/>
                </a:solidFill>
              </a:rPr>
              <a:t>Pearson correlation — top 50 features (Full Gait 6s)</a:t>
            </a:r>
          </a:p>
        </p:txBody>
      </p:sp>
      <p:sp>
        <p:nvSpPr>
          <p:cNvPr id="5" name="TextBox 4"/>
          <p:cNvSpPr txBox="1"/>
          <p:nvPr/>
        </p:nvSpPr>
        <p:spPr>
          <a:xfrm>
            <a:off x="6172200" y="1783080"/>
            <a:ext cx="5669280" cy="365760"/>
          </a:xfrm>
          <a:prstGeom prst="rect">
            <a:avLst/>
          </a:prstGeom>
          <a:noFill/>
        </p:spPr>
        <p:txBody>
          <a:bodyPr wrap="square" lIns="36000" rIns="36000" tIns="18000" bIns="18000">
            <a:spAutoFit/>
          </a:bodyPr>
          <a:lstStyle/>
          <a:p>
            <a:pPr algn="l"/>
            <a:r>
              <a:rPr sz="1600" b="1">
                <a:solidFill>
                  <a:srgbClr val="0047BA"/>
                </a:solidFill>
              </a:rPr>
              <a:t>Top 3 features by η²</a:t>
            </a:r>
          </a:p>
        </p:txBody>
      </p:sp>
      <p:sp>
        <p:nvSpPr>
          <p:cNvPr id="6" name="Oval 5"/>
          <p:cNvSpPr/>
          <p:nvPr/>
        </p:nvSpPr>
        <p:spPr>
          <a:xfrm>
            <a:off x="6199632" y="2386584"/>
            <a:ext cx="402336" cy="402336"/>
          </a:xfrm>
          <a:prstGeom prst="ellipse">
            <a:avLst/>
          </a:prstGeom>
          <a:solidFill>
            <a:srgbClr val="0047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99632" y="2340864"/>
            <a:ext cx="402336" cy="493776"/>
          </a:xfrm>
          <a:prstGeom prst="rect">
            <a:avLst/>
          </a:prstGeom>
          <a:noFill/>
        </p:spPr>
        <p:txBody>
          <a:bodyPr wrap="square" lIns="36000" rIns="36000" tIns="18000" bIns="18000" anchor="ctr">
            <a:spAutoFit/>
          </a:bodyPr>
          <a:lstStyle/>
          <a:p>
            <a:pPr algn="ctr"/>
            <a:r>
              <a:rPr sz="1400" b="1">
                <a:solidFill>
                  <a:srgbClr val="FFFFFF"/>
                </a:solidFill>
              </a:rPr>
              <a:t>1</a:t>
            </a:r>
          </a:p>
        </p:txBody>
      </p:sp>
      <p:sp>
        <p:nvSpPr>
          <p:cNvPr id="8" name="TextBox 7"/>
          <p:cNvSpPr txBox="1"/>
          <p:nvPr/>
        </p:nvSpPr>
        <p:spPr>
          <a:xfrm>
            <a:off x="6812280" y="2286000"/>
            <a:ext cx="3108960" cy="365760"/>
          </a:xfrm>
          <a:prstGeom prst="rect">
            <a:avLst/>
          </a:prstGeom>
          <a:noFill/>
        </p:spPr>
        <p:txBody>
          <a:bodyPr wrap="square" lIns="36000" rIns="36000" tIns="18000" bIns="18000">
            <a:spAutoFit/>
          </a:bodyPr>
          <a:lstStyle/>
          <a:p>
            <a:pPr algn="l"/>
            <a:r>
              <a:rPr sz="1400" b="1">
                <a:solidFill>
                  <a:srgbClr val="2B2B2B"/>
                </a:solidFill>
              </a:rPr>
              <a:t>HE_FreeAcc_X</a:t>
            </a:r>
          </a:p>
        </p:txBody>
      </p:sp>
      <p:sp>
        <p:nvSpPr>
          <p:cNvPr id="9" name="TextBox 8"/>
          <p:cNvSpPr txBox="1"/>
          <p:nvPr/>
        </p:nvSpPr>
        <p:spPr>
          <a:xfrm>
            <a:off x="6812280" y="2606040"/>
            <a:ext cx="3108960" cy="320040"/>
          </a:xfrm>
          <a:prstGeom prst="rect">
            <a:avLst/>
          </a:prstGeom>
          <a:noFill/>
        </p:spPr>
        <p:txBody>
          <a:bodyPr wrap="square" lIns="36000" rIns="36000" tIns="18000" bIns="18000">
            <a:spAutoFit/>
          </a:bodyPr>
          <a:lstStyle/>
          <a:p>
            <a:pPr algn="l"/>
            <a:r>
              <a:rPr sz="1100" b="0">
                <a:solidFill>
                  <a:srgbClr val="96969A"/>
                </a:solidFill>
              </a:rPr>
              <a:t>dom freq</a:t>
            </a:r>
          </a:p>
        </p:txBody>
      </p:sp>
      <p:sp>
        <p:nvSpPr>
          <p:cNvPr id="10" name="TextBox 9"/>
          <p:cNvSpPr txBox="1"/>
          <p:nvPr/>
        </p:nvSpPr>
        <p:spPr>
          <a:xfrm>
            <a:off x="9921240" y="2286000"/>
            <a:ext cx="1828800" cy="640080"/>
          </a:xfrm>
          <a:prstGeom prst="rect">
            <a:avLst/>
          </a:prstGeom>
          <a:noFill/>
        </p:spPr>
        <p:txBody>
          <a:bodyPr wrap="square" lIns="36000" rIns="36000" tIns="18000" bIns="18000" anchor="ctr">
            <a:spAutoFit/>
          </a:bodyPr>
          <a:lstStyle/>
          <a:p>
            <a:pPr algn="r"/>
            <a:r>
              <a:rPr sz="1800" b="1">
                <a:solidFill>
                  <a:srgbClr val="0047BA"/>
                </a:solidFill>
              </a:rPr>
              <a:t>η² = 0.303</a:t>
            </a:r>
          </a:p>
        </p:txBody>
      </p:sp>
      <p:sp>
        <p:nvSpPr>
          <p:cNvPr id="11" name="Oval 10"/>
          <p:cNvSpPr/>
          <p:nvPr/>
        </p:nvSpPr>
        <p:spPr>
          <a:xfrm>
            <a:off x="6199632" y="3163824"/>
            <a:ext cx="402336" cy="402336"/>
          </a:xfrm>
          <a:prstGeom prst="ellipse">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3118104"/>
            <a:ext cx="402336" cy="493776"/>
          </a:xfrm>
          <a:prstGeom prst="rect">
            <a:avLst/>
          </a:prstGeom>
          <a:noFill/>
        </p:spPr>
        <p:txBody>
          <a:bodyPr wrap="square" lIns="36000" rIns="36000" tIns="18000" bIns="18000" anchor="ctr">
            <a:spAutoFit/>
          </a:bodyPr>
          <a:lstStyle/>
          <a:p>
            <a:pPr algn="ctr"/>
            <a:r>
              <a:rPr sz="1400" b="1">
                <a:solidFill>
                  <a:srgbClr val="FFFFFF"/>
                </a:solidFill>
              </a:rPr>
              <a:t>2</a:t>
            </a:r>
          </a:p>
        </p:txBody>
      </p:sp>
      <p:sp>
        <p:nvSpPr>
          <p:cNvPr id="13" name="TextBox 12"/>
          <p:cNvSpPr txBox="1"/>
          <p:nvPr/>
        </p:nvSpPr>
        <p:spPr>
          <a:xfrm>
            <a:off x="6812280" y="3063240"/>
            <a:ext cx="3108960" cy="365760"/>
          </a:xfrm>
          <a:prstGeom prst="rect">
            <a:avLst/>
          </a:prstGeom>
          <a:noFill/>
        </p:spPr>
        <p:txBody>
          <a:bodyPr wrap="square" lIns="36000" rIns="36000" tIns="18000" bIns="18000">
            <a:spAutoFit/>
          </a:bodyPr>
          <a:lstStyle/>
          <a:p>
            <a:pPr algn="l"/>
            <a:r>
              <a:rPr sz="1400" b="1">
                <a:solidFill>
                  <a:srgbClr val="2B2B2B"/>
                </a:solidFill>
              </a:rPr>
              <a:t>HE_FreeAcc_Y</a:t>
            </a:r>
          </a:p>
        </p:txBody>
      </p:sp>
      <p:sp>
        <p:nvSpPr>
          <p:cNvPr id="14" name="TextBox 13"/>
          <p:cNvSpPr txBox="1"/>
          <p:nvPr/>
        </p:nvSpPr>
        <p:spPr>
          <a:xfrm>
            <a:off x="6812280" y="3383280"/>
            <a:ext cx="3108960" cy="320040"/>
          </a:xfrm>
          <a:prstGeom prst="rect">
            <a:avLst/>
          </a:prstGeom>
          <a:noFill/>
        </p:spPr>
        <p:txBody>
          <a:bodyPr wrap="square" lIns="36000" rIns="36000" tIns="18000" bIns="18000">
            <a:spAutoFit/>
          </a:bodyPr>
          <a:lstStyle/>
          <a:p>
            <a:pPr algn="l"/>
            <a:r>
              <a:rPr sz="1100" b="0">
                <a:solidFill>
                  <a:srgbClr val="96969A"/>
                </a:solidFill>
              </a:rPr>
              <a:t>dom freq</a:t>
            </a:r>
          </a:p>
        </p:txBody>
      </p:sp>
      <p:sp>
        <p:nvSpPr>
          <p:cNvPr id="15" name="TextBox 14"/>
          <p:cNvSpPr txBox="1"/>
          <p:nvPr/>
        </p:nvSpPr>
        <p:spPr>
          <a:xfrm>
            <a:off x="9921240" y="3063240"/>
            <a:ext cx="1828800" cy="640080"/>
          </a:xfrm>
          <a:prstGeom prst="rect">
            <a:avLst/>
          </a:prstGeom>
          <a:noFill/>
        </p:spPr>
        <p:txBody>
          <a:bodyPr wrap="square" lIns="36000" rIns="36000" tIns="18000" bIns="18000" anchor="ctr">
            <a:spAutoFit/>
          </a:bodyPr>
          <a:lstStyle/>
          <a:p>
            <a:pPr algn="r"/>
            <a:r>
              <a:rPr sz="1800" b="1">
                <a:solidFill>
                  <a:srgbClr val="00CE7C"/>
                </a:solidFill>
              </a:rPr>
              <a:t>η² = 0.246</a:t>
            </a:r>
          </a:p>
        </p:txBody>
      </p:sp>
      <p:sp>
        <p:nvSpPr>
          <p:cNvPr id="16" name="Oval 15"/>
          <p:cNvSpPr/>
          <p:nvPr/>
        </p:nvSpPr>
        <p:spPr>
          <a:xfrm>
            <a:off x="6199632" y="3941064"/>
            <a:ext cx="402336" cy="402336"/>
          </a:xfrm>
          <a:prstGeom prst="ellipse">
            <a:avLst/>
          </a:prstGeom>
          <a:solidFill>
            <a:srgbClr val="E53E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99632" y="3895344"/>
            <a:ext cx="402336" cy="493776"/>
          </a:xfrm>
          <a:prstGeom prst="rect">
            <a:avLst/>
          </a:prstGeom>
          <a:noFill/>
        </p:spPr>
        <p:txBody>
          <a:bodyPr wrap="square" lIns="36000" rIns="36000" tIns="18000" bIns="18000" anchor="ctr">
            <a:spAutoFit/>
          </a:bodyPr>
          <a:lstStyle/>
          <a:p>
            <a:pPr algn="ctr"/>
            <a:r>
              <a:rPr sz="1400" b="1">
                <a:solidFill>
                  <a:srgbClr val="FFFFFF"/>
                </a:solidFill>
              </a:rPr>
              <a:t>3</a:t>
            </a:r>
          </a:p>
        </p:txBody>
      </p:sp>
      <p:sp>
        <p:nvSpPr>
          <p:cNvPr id="18" name="TextBox 17"/>
          <p:cNvSpPr txBox="1"/>
          <p:nvPr/>
        </p:nvSpPr>
        <p:spPr>
          <a:xfrm>
            <a:off x="6812280" y="3840480"/>
            <a:ext cx="3108960" cy="365760"/>
          </a:xfrm>
          <a:prstGeom prst="rect">
            <a:avLst/>
          </a:prstGeom>
          <a:noFill/>
        </p:spPr>
        <p:txBody>
          <a:bodyPr wrap="square" lIns="36000" rIns="36000" tIns="18000" bIns="18000">
            <a:spAutoFit/>
          </a:bodyPr>
          <a:lstStyle/>
          <a:p>
            <a:pPr algn="l"/>
            <a:r>
              <a:rPr sz="1400" b="1">
                <a:solidFill>
                  <a:srgbClr val="2B2B2B"/>
                </a:solidFill>
              </a:rPr>
              <a:t>LB_Gyr_Z</a:t>
            </a:r>
          </a:p>
        </p:txBody>
      </p:sp>
      <p:sp>
        <p:nvSpPr>
          <p:cNvPr id="19" name="TextBox 18"/>
          <p:cNvSpPr txBox="1"/>
          <p:nvPr/>
        </p:nvSpPr>
        <p:spPr>
          <a:xfrm>
            <a:off x="6812280" y="4160520"/>
            <a:ext cx="3108960" cy="320040"/>
          </a:xfrm>
          <a:prstGeom prst="rect">
            <a:avLst/>
          </a:prstGeom>
          <a:noFill/>
        </p:spPr>
        <p:txBody>
          <a:bodyPr wrap="square" lIns="36000" rIns="36000" tIns="18000" bIns="18000">
            <a:spAutoFit/>
          </a:bodyPr>
          <a:lstStyle/>
          <a:p>
            <a:pPr algn="l"/>
            <a:r>
              <a:rPr sz="1100" b="0">
                <a:solidFill>
                  <a:srgbClr val="96969A"/>
                </a:solidFill>
              </a:rPr>
              <a:t>spec centroid</a:t>
            </a:r>
          </a:p>
        </p:txBody>
      </p:sp>
      <p:sp>
        <p:nvSpPr>
          <p:cNvPr id="20" name="TextBox 19"/>
          <p:cNvSpPr txBox="1"/>
          <p:nvPr/>
        </p:nvSpPr>
        <p:spPr>
          <a:xfrm>
            <a:off x="9921240" y="3840480"/>
            <a:ext cx="1828800" cy="640080"/>
          </a:xfrm>
          <a:prstGeom prst="rect">
            <a:avLst/>
          </a:prstGeom>
          <a:noFill/>
        </p:spPr>
        <p:txBody>
          <a:bodyPr wrap="square" lIns="36000" rIns="36000" tIns="18000" bIns="18000" anchor="ctr">
            <a:spAutoFit/>
          </a:bodyPr>
          <a:lstStyle/>
          <a:p>
            <a:pPr algn="r"/>
            <a:r>
              <a:rPr sz="1800" b="1">
                <a:solidFill>
                  <a:srgbClr val="E53E51"/>
                </a:solidFill>
              </a:rPr>
              <a:t>η² = 0.221</a:t>
            </a:r>
          </a:p>
        </p:txBody>
      </p:sp>
      <p:sp>
        <p:nvSpPr>
          <p:cNvPr id="21" name="Rounded Rectangle 20"/>
          <p:cNvSpPr/>
          <p:nvPr/>
        </p:nvSpPr>
        <p:spPr>
          <a:xfrm>
            <a:off x="6172200" y="4800600"/>
            <a:ext cx="5669280" cy="1371600"/>
          </a:xfrm>
          <a:prstGeom prst="roundRect">
            <a:avLst>
              <a:gd name="adj" fmla="val 7000"/>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846320"/>
            <a:ext cx="5303520" cy="320040"/>
          </a:xfrm>
          <a:prstGeom prst="rect">
            <a:avLst/>
          </a:prstGeom>
          <a:noFill/>
        </p:spPr>
        <p:txBody>
          <a:bodyPr wrap="square" lIns="36000" rIns="36000" tIns="18000" bIns="18000">
            <a:spAutoFit/>
          </a:bodyPr>
          <a:lstStyle/>
          <a:p>
            <a:pPr algn="l"/>
            <a:r>
              <a:rPr sz="1300" b="1">
                <a:solidFill>
                  <a:srgbClr val="0047BA"/>
                </a:solidFill>
              </a:rPr>
              <a:t>Key Observations</a:t>
            </a:r>
          </a:p>
        </p:txBody>
      </p:sp>
      <p:sp>
        <p:nvSpPr>
          <p:cNvPr id="23" name="TextBox 22"/>
          <p:cNvSpPr txBox="1"/>
          <p:nvPr/>
        </p:nvSpPr>
        <p:spPr>
          <a:xfrm>
            <a:off x="6355080" y="5212080"/>
            <a:ext cx="274320" cy="274320"/>
          </a:xfrm>
          <a:prstGeom prst="rect">
            <a:avLst/>
          </a:prstGeom>
          <a:noFill/>
        </p:spPr>
        <p:txBody>
          <a:bodyPr wrap="square" lIns="36000" rIns="36000" tIns="18000" bIns="18000">
            <a:spAutoFit/>
          </a:bodyPr>
          <a:lstStyle/>
          <a:p>
            <a:pPr algn="l"/>
            <a:r>
              <a:rPr sz="1200" b="1">
                <a:solidFill>
                  <a:srgbClr val="00CE7C"/>
                </a:solidFill>
              </a:rPr>
              <a:t>→</a:t>
            </a:r>
          </a:p>
        </p:txBody>
      </p:sp>
      <p:sp>
        <p:nvSpPr>
          <p:cNvPr id="24" name="TextBox 23"/>
          <p:cNvSpPr txBox="1"/>
          <p:nvPr/>
        </p:nvSpPr>
        <p:spPr>
          <a:xfrm>
            <a:off x="6629400" y="5184648"/>
            <a:ext cx="5120640" cy="320040"/>
          </a:xfrm>
          <a:prstGeom prst="rect">
            <a:avLst/>
          </a:prstGeom>
          <a:noFill/>
        </p:spPr>
        <p:txBody>
          <a:bodyPr wrap="square" lIns="36000" rIns="36000" tIns="18000" bIns="18000">
            <a:spAutoFit/>
          </a:bodyPr>
          <a:lstStyle/>
          <a:p>
            <a:pPr algn="l"/>
            <a:r>
              <a:rPr sz="1100" b="0">
                <a:solidFill>
                  <a:srgbClr val="2B2B2B"/>
                </a:solidFill>
              </a:rPr>
              <a:t>Same-sensor features heavily correlated (r &gt; 0.8)</a:t>
            </a:r>
          </a:p>
        </p:txBody>
      </p:sp>
      <p:sp>
        <p:nvSpPr>
          <p:cNvPr id="25" name="TextBox 24"/>
          <p:cNvSpPr txBox="1"/>
          <p:nvPr/>
        </p:nvSpPr>
        <p:spPr>
          <a:xfrm>
            <a:off x="6355080" y="5504688"/>
            <a:ext cx="274320" cy="274320"/>
          </a:xfrm>
          <a:prstGeom prst="rect">
            <a:avLst/>
          </a:prstGeom>
          <a:noFill/>
        </p:spPr>
        <p:txBody>
          <a:bodyPr wrap="square" lIns="36000" rIns="36000" tIns="18000" bIns="18000">
            <a:spAutoFit/>
          </a:bodyPr>
          <a:lstStyle/>
          <a:p>
            <a:pPr algn="l"/>
            <a:r>
              <a:rPr sz="1200" b="1">
                <a:solidFill>
                  <a:srgbClr val="00CE7C"/>
                </a:solidFill>
              </a:rPr>
              <a:t>→</a:t>
            </a:r>
          </a:p>
        </p:txBody>
      </p:sp>
      <p:sp>
        <p:nvSpPr>
          <p:cNvPr id="26" name="TextBox 25"/>
          <p:cNvSpPr txBox="1"/>
          <p:nvPr/>
        </p:nvSpPr>
        <p:spPr>
          <a:xfrm>
            <a:off x="6629400" y="5477256"/>
            <a:ext cx="5120640" cy="320040"/>
          </a:xfrm>
          <a:prstGeom prst="rect">
            <a:avLst/>
          </a:prstGeom>
          <a:noFill/>
        </p:spPr>
        <p:txBody>
          <a:bodyPr wrap="square" lIns="36000" rIns="36000" tIns="18000" bIns="18000">
            <a:spAutoFit/>
          </a:bodyPr>
          <a:lstStyle/>
          <a:p>
            <a:pPr algn="l"/>
            <a:r>
              <a:rPr sz="1100" b="0">
                <a:solidFill>
                  <a:srgbClr val="2B2B2B"/>
                </a:solidFill>
              </a:rPr>
              <a:t>Head (HE) sensor → most independent &amp; informative</a:t>
            </a:r>
          </a:p>
        </p:txBody>
      </p:sp>
      <p:sp>
        <p:nvSpPr>
          <p:cNvPr id="27" name="TextBox 26"/>
          <p:cNvSpPr txBox="1"/>
          <p:nvPr/>
        </p:nvSpPr>
        <p:spPr>
          <a:xfrm>
            <a:off x="6355080" y="5797296"/>
            <a:ext cx="274320" cy="274320"/>
          </a:xfrm>
          <a:prstGeom prst="rect">
            <a:avLst/>
          </a:prstGeom>
          <a:noFill/>
        </p:spPr>
        <p:txBody>
          <a:bodyPr wrap="square" lIns="36000" rIns="36000" tIns="18000" bIns="18000">
            <a:spAutoFit/>
          </a:bodyPr>
          <a:lstStyle/>
          <a:p>
            <a:pPr algn="l"/>
            <a:r>
              <a:rPr sz="1200" b="1">
                <a:solidFill>
                  <a:srgbClr val="00CE7C"/>
                </a:solidFill>
              </a:rPr>
              <a:t>→</a:t>
            </a:r>
          </a:p>
        </p:txBody>
      </p:sp>
      <p:sp>
        <p:nvSpPr>
          <p:cNvPr id="28" name="TextBox 27"/>
          <p:cNvSpPr txBox="1"/>
          <p:nvPr/>
        </p:nvSpPr>
        <p:spPr>
          <a:xfrm>
            <a:off x="6629400" y="5769864"/>
            <a:ext cx="5120640" cy="320040"/>
          </a:xfrm>
          <a:prstGeom prst="rect">
            <a:avLst/>
          </a:prstGeom>
          <a:noFill/>
        </p:spPr>
        <p:txBody>
          <a:bodyPr wrap="square" lIns="36000" rIns="36000" tIns="18000" bIns="18000">
            <a:spAutoFit/>
          </a:bodyPr>
          <a:lstStyle/>
          <a:p>
            <a:pPr algn="l"/>
            <a:r>
              <a:rPr sz="1100" b="0">
                <a:solidFill>
                  <a:srgbClr val="2B2B2B"/>
                </a:solidFill>
              </a:rPr>
              <a:t>Gyroscope dom-freq features most discriminative</a:t>
            </a:r>
          </a:p>
        </p:txBody>
      </p:sp>
      <p:sp>
        <p:nvSpPr>
          <p:cNvPr id="29" name="TextBox 28"/>
          <p:cNvSpPr txBox="1"/>
          <p:nvPr/>
        </p:nvSpPr>
        <p:spPr>
          <a:xfrm>
            <a:off x="457200" y="6446520"/>
            <a:ext cx="7315200" cy="274320"/>
          </a:xfrm>
          <a:prstGeom prst="rect">
            <a:avLst/>
          </a:prstGeom>
          <a:noFill/>
        </p:spPr>
        <p:txBody>
          <a:bodyPr wrap="square" lIns="36000" rIns="36000" tIns="18000" bIns="18000">
            <a:spAutoFit/>
          </a:bodyPr>
          <a:lstStyle/>
          <a:p>
            <a:pPr algn="l"/>
            <a:r>
              <a:rPr sz="1000" b="0">
                <a:solidFill>
                  <a:srgbClr val="96969A"/>
                </a:solidFill>
              </a:rPr>
              <a:t>Presenter 1  |  Descriptive Statistics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b="1" sz="2800">
                <a:solidFill>
                  <a:srgbClr val="0047BA"/>
                </a:solidFill>
              </a:rPr>
              <a:t>Classification Pipeline &amp; Cross-Validation</a:t>
            </a:r>
          </a:p>
        </p:txBody>
      </p:sp>
      <p:sp>
        <p:nvSpPr>
          <p:cNvPr id="3" name="Rounded Rectangle 2"/>
          <p:cNvSpPr/>
          <p:nvPr/>
        </p:nvSpPr>
        <p:spPr>
          <a:xfrm>
            <a:off x="548640" y="1783080"/>
            <a:ext cx="3611880" cy="1965960"/>
          </a:xfrm>
          <a:prstGeom prst="roundRect">
            <a:avLst>
              <a:gd name="adj" fmla="val 7000"/>
            </a:avLst>
          </a:prstGeom>
          <a:solidFill>
            <a:srgbClr val="0047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920240"/>
            <a:ext cx="3611880" cy="457200"/>
          </a:xfrm>
          <a:prstGeom prst="rect">
            <a:avLst/>
          </a:prstGeom>
          <a:noFill/>
        </p:spPr>
        <p:txBody>
          <a:bodyPr wrap="square" lIns="36000" rIns="36000" tIns="18000" bIns="18000">
            <a:spAutoFit/>
          </a:bodyPr>
          <a:lstStyle/>
          <a:p>
            <a:pPr algn="ctr"/>
            <a:r>
              <a:rPr sz="2000" b="1">
                <a:solidFill>
                  <a:srgbClr val="FFFFFF"/>
                </a:solidFill>
              </a:rPr>
              <a:t>SVM (RBF)</a:t>
            </a:r>
          </a:p>
        </p:txBody>
      </p:sp>
      <p:sp>
        <p:nvSpPr>
          <p:cNvPr id="5" name="TextBox 4"/>
          <p:cNvSpPr txBox="1"/>
          <p:nvPr/>
        </p:nvSpPr>
        <p:spPr>
          <a:xfrm>
            <a:off x="548640" y="2423160"/>
            <a:ext cx="3611880" cy="685800"/>
          </a:xfrm>
          <a:prstGeom prst="rect">
            <a:avLst/>
          </a:prstGeom>
          <a:noFill/>
        </p:spPr>
        <p:txBody>
          <a:bodyPr wrap="square" lIns="36000" rIns="36000" tIns="18000" bIns="18000">
            <a:spAutoFit/>
          </a:bodyPr>
          <a:lstStyle/>
          <a:p>
            <a:pPr algn="ctr"/>
            <a:r>
              <a:rPr sz="3600" b="1">
                <a:solidFill>
                  <a:srgbClr val="FFFFFF"/>
                </a:solidFill>
              </a:rPr>
              <a:t>81.0%</a:t>
            </a:r>
          </a:p>
        </p:txBody>
      </p:sp>
      <p:sp>
        <p:nvSpPr>
          <p:cNvPr id="6" name="TextBox 5"/>
          <p:cNvSpPr txBox="1"/>
          <p:nvPr/>
        </p:nvSpPr>
        <p:spPr>
          <a:xfrm>
            <a:off x="548640" y="3154680"/>
            <a:ext cx="3611880" cy="365760"/>
          </a:xfrm>
          <a:prstGeom prst="rect">
            <a:avLst/>
          </a:prstGeom>
          <a:noFill/>
        </p:spPr>
        <p:txBody>
          <a:bodyPr wrap="square" lIns="36000" rIns="36000" tIns="18000" bIns="18000">
            <a:spAutoFit/>
          </a:bodyPr>
          <a:lstStyle/>
          <a:p>
            <a:pPr algn="ctr"/>
            <a:r>
              <a:rPr sz="1200" b="0">
                <a:solidFill>
                  <a:srgbClr val="FFFFFF"/>
                </a:solidFill>
              </a:rPr>
              <a:t>BAcc  |  F1 = 0.796</a:t>
            </a:r>
          </a:p>
        </p:txBody>
      </p:sp>
      <p:sp>
        <p:nvSpPr>
          <p:cNvPr id="7" name="Rounded Rectangle 6"/>
          <p:cNvSpPr/>
          <p:nvPr/>
        </p:nvSpPr>
        <p:spPr>
          <a:xfrm>
            <a:off x="3108960" y="1600200"/>
            <a:ext cx="1005840" cy="320040"/>
          </a:xfrm>
          <a:prstGeom prst="roundRect">
            <a:avLst>
              <a:gd name="adj" fmla="val 7000"/>
            </a:avLst>
          </a:prstGeom>
          <a:solidFill>
            <a:srgbClr val="F5CE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108960" y="1600200"/>
            <a:ext cx="1005840" cy="320040"/>
          </a:xfrm>
          <a:prstGeom prst="rect">
            <a:avLst/>
          </a:prstGeom>
          <a:noFill/>
        </p:spPr>
        <p:txBody>
          <a:bodyPr wrap="square" lIns="36000" rIns="36000" tIns="18000" bIns="18000" anchor="ctr">
            <a:spAutoFit/>
          </a:bodyPr>
          <a:lstStyle/>
          <a:p>
            <a:pPr algn="ctr"/>
            <a:r>
              <a:rPr sz="1100" b="1">
                <a:solidFill>
                  <a:srgbClr val="2B2B2B"/>
                </a:solidFill>
              </a:rPr>
              <a:t>★ BEST</a:t>
            </a:r>
          </a:p>
        </p:txBody>
      </p:sp>
      <p:sp>
        <p:nvSpPr>
          <p:cNvPr id="9" name="Rounded Rectangle 8"/>
          <p:cNvSpPr/>
          <p:nvPr/>
        </p:nvSpPr>
        <p:spPr>
          <a:xfrm>
            <a:off x="4297680" y="1783080"/>
            <a:ext cx="3611880" cy="1965960"/>
          </a:xfrm>
          <a:prstGeom prst="roundRect">
            <a:avLst>
              <a:gd name="adj" fmla="val 7000"/>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7680" y="1920240"/>
            <a:ext cx="3611880" cy="457200"/>
          </a:xfrm>
          <a:prstGeom prst="rect">
            <a:avLst/>
          </a:prstGeom>
          <a:noFill/>
        </p:spPr>
        <p:txBody>
          <a:bodyPr wrap="square" lIns="36000" rIns="36000" tIns="18000" bIns="18000">
            <a:spAutoFit/>
          </a:bodyPr>
          <a:lstStyle/>
          <a:p>
            <a:pPr algn="ctr"/>
            <a:r>
              <a:rPr sz="2000" b="1">
                <a:solidFill>
                  <a:srgbClr val="FFFFFF"/>
                </a:solidFill>
              </a:rPr>
              <a:t>Random Forest</a:t>
            </a:r>
          </a:p>
        </p:txBody>
      </p:sp>
      <p:sp>
        <p:nvSpPr>
          <p:cNvPr id="11" name="TextBox 10"/>
          <p:cNvSpPr txBox="1"/>
          <p:nvPr/>
        </p:nvSpPr>
        <p:spPr>
          <a:xfrm>
            <a:off x="4297680" y="2423160"/>
            <a:ext cx="3611880" cy="685800"/>
          </a:xfrm>
          <a:prstGeom prst="rect">
            <a:avLst/>
          </a:prstGeom>
          <a:noFill/>
        </p:spPr>
        <p:txBody>
          <a:bodyPr wrap="square" lIns="36000" rIns="36000" tIns="18000" bIns="18000">
            <a:spAutoFit/>
          </a:bodyPr>
          <a:lstStyle/>
          <a:p>
            <a:pPr algn="ctr"/>
            <a:r>
              <a:rPr sz="3600" b="1">
                <a:solidFill>
                  <a:srgbClr val="FFFFFF"/>
                </a:solidFill>
              </a:rPr>
              <a:t>80.1%</a:t>
            </a:r>
          </a:p>
        </p:txBody>
      </p:sp>
      <p:sp>
        <p:nvSpPr>
          <p:cNvPr id="12" name="TextBox 11"/>
          <p:cNvSpPr txBox="1"/>
          <p:nvPr/>
        </p:nvSpPr>
        <p:spPr>
          <a:xfrm>
            <a:off x="4297680" y="3154680"/>
            <a:ext cx="3611880" cy="365760"/>
          </a:xfrm>
          <a:prstGeom prst="rect">
            <a:avLst/>
          </a:prstGeom>
          <a:noFill/>
        </p:spPr>
        <p:txBody>
          <a:bodyPr wrap="square" lIns="36000" rIns="36000" tIns="18000" bIns="18000">
            <a:spAutoFit/>
          </a:bodyPr>
          <a:lstStyle/>
          <a:p>
            <a:pPr algn="ctr"/>
            <a:r>
              <a:rPr sz="1200" b="0">
                <a:solidFill>
                  <a:srgbClr val="FFFFFF"/>
                </a:solidFill>
              </a:rPr>
              <a:t>BAcc  |  F1 = 0.788</a:t>
            </a:r>
          </a:p>
        </p:txBody>
      </p:sp>
      <p:sp>
        <p:nvSpPr>
          <p:cNvPr id="13" name="Rounded Rectangle 12"/>
          <p:cNvSpPr/>
          <p:nvPr/>
        </p:nvSpPr>
        <p:spPr>
          <a:xfrm>
            <a:off x="8046720" y="1783080"/>
            <a:ext cx="3611880" cy="1965960"/>
          </a:xfrm>
          <a:prstGeom prst="roundRect">
            <a:avLst>
              <a:gd name="adj" fmla="val 7000"/>
            </a:avLst>
          </a:prstGeom>
          <a:solidFill>
            <a:srgbClr val="E53E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0" y="1920240"/>
            <a:ext cx="3611880" cy="457200"/>
          </a:xfrm>
          <a:prstGeom prst="rect">
            <a:avLst/>
          </a:prstGeom>
          <a:noFill/>
        </p:spPr>
        <p:txBody>
          <a:bodyPr wrap="square" lIns="36000" rIns="36000" tIns="18000" bIns="18000">
            <a:spAutoFit/>
          </a:bodyPr>
          <a:lstStyle/>
          <a:p>
            <a:pPr algn="ctr"/>
            <a:r>
              <a:rPr sz="2000" b="1">
                <a:solidFill>
                  <a:srgbClr val="FFFFFF"/>
                </a:solidFill>
              </a:rPr>
              <a:t>XGBoost</a:t>
            </a:r>
          </a:p>
        </p:txBody>
      </p:sp>
      <p:sp>
        <p:nvSpPr>
          <p:cNvPr id="15" name="TextBox 14"/>
          <p:cNvSpPr txBox="1"/>
          <p:nvPr/>
        </p:nvSpPr>
        <p:spPr>
          <a:xfrm>
            <a:off x="8046720" y="2423160"/>
            <a:ext cx="3611880" cy="685800"/>
          </a:xfrm>
          <a:prstGeom prst="rect">
            <a:avLst/>
          </a:prstGeom>
          <a:noFill/>
        </p:spPr>
        <p:txBody>
          <a:bodyPr wrap="square" lIns="36000" rIns="36000" tIns="18000" bIns="18000">
            <a:spAutoFit/>
          </a:bodyPr>
          <a:lstStyle/>
          <a:p>
            <a:pPr algn="ctr"/>
            <a:r>
              <a:rPr sz="3600" b="1">
                <a:solidFill>
                  <a:srgbClr val="FFFFFF"/>
                </a:solidFill>
              </a:rPr>
              <a:t>79.8%</a:t>
            </a:r>
          </a:p>
        </p:txBody>
      </p:sp>
      <p:sp>
        <p:nvSpPr>
          <p:cNvPr id="16" name="TextBox 15"/>
          <p:cNvSpPr txBox="1"/>
          <p:nvPr/>
        </p:nvSpPr>
        <p:spPr>
          <a:xfrm>
            <a:off x="8046720" y="3154680"/>
            <a:ext cx="3611880" cy="365760"/>
          </a:xfrm>
          <a:prstGeom prst="rect">
            <a:avLst/>
          </a:prstGeom>
          <a:noFill/>
        </p:spPr>
        <p:txBody>
          <a:bodyPr wrap="square" lIns="36000" rIns="36000" tIns="18000" bIns="18000">
            <a:spAutoFit/>
          </a:bodyPr>
          <a:lstStyle/>
          <a:p>
            <a:pPr algn="ctr"/>
            <a:r>
              <a:rPr sz="1200" b="0">
                <a:solidFill>
                  <a:srgbClr val="FFFFFF"/>
                </a:solidFill>
              </a:rPr>
              <a:t>BAcc  |  F1 = 0.781</a:t>
            </a:r>
          </a:p>
        </p:txBody>
      </p:sp>
      <p:sp>
        <p:nvSpPr>
          <p:cNvPr id="17" name="Rounded Rectangle 16"/>
          <p:cNvSpPr/>
          <p:nvPr/>
        </p:nvSpPr>
        <p:spPr>
          <a:xfrm>
            <a:off x="548640" y="4114800"/>
            <a:ext cx="502920" cy="502920"/>
          </a:xfrm>
          <a:prstGeom prst="roundRect">
            <a:avLst>
              <a:gd name="adj" fmla="val 25000"/>
            </a:avLst>
          </a:prstGeom>
          <a:solidFill>
            <a:srgbClr val="0047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4114800"/>
            <a:ext cx="502920" cy="502920"/>
          </a:xfrm>
          <a:prstGeom prst="rect">
            <a:avLst/>
          </a:prstGeom>
          <a:noFill/>
        </p:spPr>
        <p:txBody>
          <a:bodyPr wrap="square" lIns="36000" rIns="36000" tIns="18000" bIns="18000" anchor="ctr">
            <a:spAutoFit/>
          </a:bodyPr>
          <a:lstStyle/>
          <a:p>
            <a:pPr algn="ctr"/>
            <a:r>
              <a:rPr sz="1400" b="1">
                <a:solidFill>
                  <a:srgbClr val="FFFFFF"/>
                </a:solidFill>
              </a:rPr>
              <a:t>CV</a:t>
            </a:r>
          </a:p>
        </p:txBody>
      </p:sp>
      <p:sp>
        <p:nvSpPr>
          <p:cNvPr id="19" name="TextBox 18"/>
          <p:cNvSpPr txBox="1"/>
          <p:nvPr/>
        </p:nvSpPr>
        <p:spPr>
          <a:xfrm>
            <a:off x="1188719" y="4069080"/>
            <a:ext cx="4937760" cy="365760"/>
          </a:xfrm>
          <a:prstGeom prst="rect">
            <a:avLst/>
          </a:prstGeom>
          <a:noFill/>
        </p:spPr>
        <p:txBody>
          <a:bodyPr wrap="square" lIns="36000" rIns="36000" tIns="18000" bIns="18000">
            <a:spAutoFit/>
          </a:bodyPr>
          <a:lstStyle/>
          <a:p>
            <a:pPr algn="l"/>
            <a:r>
              <a:rPr sz="1400" b="1">
                <a:solidFill>
                  <a:srgbClr val="0047BA"/>
                </a:solidFill>
              </a:rPr>
              <a:t>StratifiedGroupKFold</a:t>
            </a:r>
          </a:p>
        </p:txBody>
      </p:sp>
      <p:sp>
        <p:nvSpPr>
          <p:cNvPr id="20" name="TextBox 19"/>
          <p:cNvSpPr txBox="1"/>
          <p:nvPr/>
        </p:nvSpPr>
        <p:spPr>
          <a:xfrm>
            <a:off x="1188719" y="4434840"/>
            <a:ext cx="4937760" cy="411480"/>
          </a:xfrm>
          <a:prstGeom prst="rect">
            <a:avLst/>
          </a:prstGeom>
          <a:noFill/>
        </p:spPr>
        <p:txBody>
          <a:bodyPr wrap="square" lIns="36000" rIns="36000" tIns="18000" bIns="18000">
            <a:spAutoFit/>
          </a:bodyPr>
          <a:lstStyle/>
          <a:p>
            <a:pPr algn="l"/>
            <a:r>
              <a:rPr sz="1100" b="0">
                <a:solidFill>
                  <a:srgbClr val="2B2B2B"/>
                </a:solidFill>
              </a:rPr>
              <a:t>10-fold, grouped by subject_id — no data leakage</a:t>
            </a:r>
          </a:p>
        </p:txBody>
      </p:sp>
      <p:sp>
        <p:nvSpPr>
          <p:cNvPr id="21" name="Rounded Rectangle 20"/>
          <p:cNvSpPr/>
          <p:nvPr/>
        </p:nvSpPr>
        <p:spPr>
          <a:xfrm>
            <a:off x="6263640" y="4114800"/>
            <a:ext cx="502920" cy="502920"/>
          </a:xfrm>
          <a:prstGeom prst="roundRect">
            <a:avLst>
              <a:gd name="adj" fmla="val 25000"/>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4114800"/>
            <a:ext cx="502920" cy="502920"/>
          </a:xfrm>
          <a:prstGeom prst="rect">
            <a:avLst/>
          </a:prstGeom>
          <a:noFill/>
        </p:spPr>
        <p:txBody>
          <a:bodyPr wrap="square" lIns="36000" rIns="36000" tIns="18000" bIns="18000" anchor="ctr">
            <a:spAutoFit/>
          </a:bodyPr>
          <a:lstStyle/>
          <a:p>
            <a:pPr algn="ctr"/>
            <a:r>
              <a:rPr sz="1400" b="1">
                <a:solidFill>
                  <a:srgbClr val="FFFFFF"/>
                </a:solidFill>
              </a:rPr>
              <a:t>N</a:t>
            </a:r>
          </a:p>
        </p:txBody>
      </p:sp>
      <p:sp>
        <p:nvSpPr>
          <p:cNvPr id="23" name="TextBox 22"/>
          <p:cNvSpPr txBox="1"/>
          <p:nvPr/>
        </p:nvSpPr>
        <p:spPr>
          <a:xfrm>
            <a:off x="6903720" y="4069080"/>
            <a:ext cx="4937760" cy="365760"/>
          </a:xfrm>
          <a:prstGeom prst="rect">
            <a:avLst/>
          </a:prstGeom>
          <a:noFill/>
        </p:spPr>
        <p:txBody>
          <a:bodyPr wrap="square" lIns="36000" rIns="36000" tIns="18000" bIns="18000">
            <a:spAutoFit/>
          </a:bodyPr>
          <a:lstStyle/>
          <a:p>
            <a:pPr algn="l"/>
            <a:r>
              <a:rPr sz="1400" b="1">
                <a:solidFill>
                  <a:srgbClr val="00CE7C"/>
                </a:solidFill>
              </a:rPr>
              <a:t>Nested CV check</a:t>
            </a:r>
          </a:p>
        </p:txBody>
      </p:sp>
      <p:sp>
        <p:nvSpPr>
          <p:cNvPr id="24" name="TextBox 23"/>
          <p:cNvSpPr txBox="1"/>
          <p:nvPr/>
        </p:nvSpPr>
        <p:spPr>
          <a:xfrm>
            <a:off x="6903720" y="4434840"/>
            <a:ext cx="4937760" cy="411480"/>
          </a:xfrm>
          <a:prstGeom prst="rect">
            <a:avLst/>
          </a:prstGeom>
          <a:noFill/>
        </p:spPr>
        <p:txBody>
          <a:bodyPr wrap="square" lIns="36000" rIns="36000" tIns="18000" bIns="18000">
            <a:spAutoFit/>
          </a:bodyPr>
          <a:lstStyle/>
          <a:p>
            <a:pPr algn="l"/>
            <a:r>
              <a:rPr sz="1100" b="0">
                <a:solidFill>
                  <a:srgbClr val="2B2B2B"/>
                </a:solidFill>
              </a:rPr>
              <a:t>Outer 10 × Inner 5 → 78.3% (2.7% optimism gap)</a:t>
            </a:r>
          </a:p>
        </p:txBody>
      </p:sp>
      <p:sp>
        <p:nvSpPr>
          <p:cNvPr id="25" name="Rounded Rectangle 24"/>
          <p:cNvSpPr/>
          <p:nvPr/>
        </p:nvSpPr>
        <p:spPr>
          <a:xfrm>
            <a:off x="548640" y="5029200"/>
            <a:ext cx="502920" cy="502920"/>
          </a:xfrm>
          <a:prstGeom prst="roundRect">
            <a:avLst>
              <a:gd name="adj" fmla="val 25000"/>
            </a:avLst>
          </a:prstGeom>
          <a:solidFill>
            <a:srgbClr val="E53E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029200"/>
            <a:ext cx="502920" cy="502920"/>
          </a:xfrm>
          <a:prstGeom prst="rect">
            <a:avLst/>
          </a:prstGeom>
          <a:noFill/>
        </p:spPr>
        <p:txBody>
          <a:bodyPr wrap="square" lIns="36000" rIns="36000" tIns="18000" bIns="18000" anchor="ctr">
            <a:spAutoFit/>
          </a:bodyPr>
          <a:lstStyle/>
          <a:p>
            <a:pPr algn="ctr"/>
            <a:r>
              <a:rPr sz="1400" b="1">
                <a:solidFill>
                  <a:srgbClr val="FFFFFF"/>
                </a:solidFill>
              </a:rPr>
              <a:t>D</a:t>
            </a:r>
          </a:p>
        </p:txBody>
      </p:sp>
      <p:sp>
        <p:nvSpPr>
          <p:cNvPr id="27" name="TextBox 26"/>
          <p:cNvSpPr txBox="1"/>
          <p:nvPr/>
        </p:nvSpPr>
        <p:spPr>
          <a:xfrm>
            <a:off x="1188719" y="4983480"/>
            <a:ext cx="4937760" cy="365760"/>
          </a:xfrm>
          <a:prstGeom prst="rect">
            <a:avLst/>
          </a:prstGeom>
          <a:noFill/>
        </p:spPr>
        <p:txBody>
          <a:bodyPr wrap="square" lIns="36000" rIns="36000" tIns="18000" bIns="18000">
            <a:spAutoFit/>
          </a:bodyPr>
          <a:lstStyle/>
          <a:p>
            <a:pPr algn="l"/>
            <a:r>
              <a:rPr sz="1400" b="1">
                <a:solidFill>
                  <a:srgbClr val="E53E51"/>
                </a:solidFill>
              </a:rPr>
              <a:t>Demographics features</a:t>
            </a:r>
          </a:p>
        </p:txBody>
      </p:sp>
      <p:sp>
        <p:nvSpPr>
          <p:cNvPr id="28" name="TextBox 27"/>
          <p:cNvSpPr txBox="1"/>
          <p:nvPr/>
        </p:nvSpPr>
        <p:spPr>
          <a:xfrm>
            <a:off x="1188719" y="5349240"/>
            <a:ext cx="4937760" cy="411480"/>
          </a:xfrm>
          <a:prstGeom prst="rect">
            <a:avLst/>
          </a:prstGeom>
          <a:noFill/>
        </p:spPr>
        <p:txBody>
          <a:bodyPr wrap="square" lIns="36000" rIns="36000" tIns="18000" bIns="18000">
            <a:spAutoFit/>
          </a:bodyPr>
          <a:lstStyle/>
          <a:p>
            <a:pPr algn="l"/>
            <a:r>
              <a:rPr sz="1100" b="0">
                <a:solidFill>
                  <a:srgbClr val="2B2B2B"/>
                </a:solidFill>
              </a:rPr>
              <a:t>Age, gender, laterality (one-hot) from _meta.json</a:t>
            </a:r>
          </a:p>
        </p:txBody>
      </p:sp>
      <p:sp>
        <p:nvSpPr>
          <p:cNvPr id="29" name="Rounded Rectangle 28"/>
          <p:cNvSpPr/>
          <p:nvPr/>
        </p:nvSpPr>
        <p:spPr>
          <a:xfrm>
            <a:off x="6263640" y="5029200"/>
            <a:ext cx="502920" cy="502920"/>
          </a:xfrm>
          <a:prstGeom prst="roundRect">
            <a:avLst>
              <a:gd name="adj" fmla="val 25000"/>
            </a:avLst>
          </a:prstGeom>
          <a:solidFill>
            <a:srgbClr val="84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5029200"/>
            <a:ext cx="502920" cy="502920"/>
          </a:xfrm>
          <a:prstGeom prst="rect">
            <a:avLst/>
          </a:prstGeom>
          <a:noFill/>
        </p:spPr>
        <p:txBody>
          <a:bodyPr wrap="square" lIns="36000" rIns="36000" tIns="18000" bIns="18000" anchor="ctr">
            <a:spAutoFit/>
          </a:bodyPr>
          <a:lstStyle/>
          <a:p>
            <a:pPr algn="ctr"/>
            <a:r>
              <a:rPr sz="1400" b="1">
                <a:solidFill>
                  <a:srgbClr val="FFFFFF"/>
                </a:solidFill>
              </a:rPr>
              <a:t>F</a:t>
            </a:r>
          </a:p>
        </p:txBody>
      </p:sp>
      <p:sp>
        <p:nvSpPr>
          <p:cNvPr id="31" name="TextBox 30"/>
          <p:cNvSpPr txBox="1"/>
          <p:nvPr/>
        </p:nvSpPr>
        <p:spPr>
          <a:xfrm>
            <a:off x="6903720" y="4983480"/>
            <a:ext cx="4937760" cy="365760"/>
          </a:xfrm>
          <a:prstGeom prst="rect">
            <a:avLst/>
          </a:prstGeom>
          <a:noFill/>
        </p:spPr>
        <p:txBody>
          <a:bodyPr wrap="square" lIns="36000" rIns="36000" tIns="18000" bIns="18000">
            <a:spAutoFit/>
          </a:bodyPr>
          <a:lstStyle/>
          <a:p>
            <a:pPr algn="l"/>
            <a:r>
              <a:rPr sz="1400" b="1">
                <a:solidFill>
                  <a:srgbClr val="84DADE"/>
                </a:solidFill>
              </a:rPr>
              <a:t>Feature sets compared</a:t>
            </a:r>
          </a:p>
        </p:txBody>
      </p:sp>
      <p:sp>
        <p:nvSpPr>
          <p:cNvPr id="32" name="TextBox 31"/>
          <p:cNvSpPr txBox="1"/>
          <p:nvPr/>
        </p:nvSpPr>
        <p:spPr>
          <a:xfrm>
            <a:off x="6903720" y="5349240"/>
            <a:ext cx="4937760" cy="411480"/>
          </a:xfrm>
          <a:prstGeom prst="rect">
            <a:avLst/>
          </a:prstGeom>
          <a:noFill/>
        </p:spPr>
        <p:txBody>
          <a:bodyPr wrap="square" lIns="36000" rIns="36000" tIns="18000" bIns="18000">
            <a:spAutoFit/>
          </a:bodyPr>
          <a:lstStyle/>
          <a:p>
            <a:pPr algn="l"/>
            <a:r>
              <a:rPr sz="1100" b="0">
                <a:solidFill>
                  <a:srgbClr val="2B2B2B"/>
                </a:solidFill>
              </a:rPr>
              <a:t>All 216 · Top 30 · Top 20 · p &lt; 0.05 significant</a:t>
            </a:r>
          </a:p>
        </p:txBody>
      </p:sp>
      <p:sp>
        <p:nvSpPr>
          <p:cNvPr id="33" name="TextBox 32"/>
          <p:cNvSpPr txBox="1"/>
          <p:nvPr/>
        </p:nvSpPr>
        <p:spPr>
          <a:xfrm>
            <a:off x="457200" y="6446520"/>
            <a:ext cx="7315200" cy="274320"/>
          </a:xfrm>
          <a:prstGeom prst="rect">
            <a:avLst/>
          </a:prstGeom>
          <a:noFill/>
        </p:spPr>
        <p:txBody>
          <a:bodyPr wrap="square" lIns="36000" rIns="36000" tIns="18000" bIns="18000">
            <a:spAutoFit/>
          </a:bodyPr>
          <a:lstStyle/>
          <a:p>
            <a:pPr algn="l"/>
            <a:r>
              <a:rPr sz="1000" b="0">
                <a:solidFill>
                  <a:srgbClr val="96969A"/>
                </a:solidFill>
              </a:rPr>
              <a:t>Presenter 2  |  ML Pipeline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b="1" sz="2800">
                <a:solidFill>
                  <a:srgbClr val="0047BA"/>
                </a:solidFill>
              </a:rPr>
              <a:t>Feature Importance &amp; Selection</a:t>
            </a:r>
          </a:p>
        </p:txBody>
      </p:sp>
      <p:pic>
        <p:nvPicPr>
          <p:cNvPr id="3" name="Picture 2" descr="step05_importance_3class_all.png"/>
          <p:cNvPicPr>
            <a:picLocks noChangeAspect="1"/>
          </p:cNvPicPr>
          <p:nvPr/>
        </p:nvPicPr>
        <p:blipFill>
          <a:blip r:embed="rId2"/>
          <a:stretch>
            <a:fillRect/>
          </a:stretch>
        </p:blipFill>
        <p:spPr>
          <a:xfrm>
            <a:off x="502920" y="1783080"/>
            <a:ext cx="7680960" cy="3840480"/>
          </a:xfrm>
          <a:prstGeom prst="rect">
            <a:avLst/>
          </a:prstGeom>
        </p:spPr>
      </p:pic>
      <p:sp>
        <p:nvSpPr>
          <p:cNvPr id="4" name="TextBox 3"/>
          <p:cNvSpPr txBox="1"/>
          <p:nvPr/>
        </p:nvSpPr>
        <p:spPr>
          <a:xfrm>
            <a:off x="502920" y="5669280"/>
            <a:ext cx="7680960" cy="274320"/>
          </a:xfrm>
          <a:prstGeom prst="rect">
            <a:avLst/>
          </a:prstGeom>
          <a:noFill/>
        </p:spPr>
        <p:txBody>
          <a:bodyPr wrap="square" lIns="36000" rIns="36000" tIns="18000" bIns="18000">
            <a:spAutoFit/>
          </a:bodyPr>
          <a:lstStyle/>
          <a:p>
            <a:pPr algn="ctr"/>
            <a:r>
              <a:rPr sz="1000" b="0">
                <a:solidFill>
                  <a:srgbClr val="96969A"/>
                </a:solidFill>
              </a:rPr>
              <a:t>Permutation importance — top 20 features (3-class SVM)</a:t>
            </a:r>
          </a:p>
        </p:txBody>
      </p:sp>
      <p:sp>
        <p:nvSpPr>
          <p:cNvPr id="5" name="Rounded Rectangle 4"/>
          <p:cNvSpPr/>
          <p:nvPr/>
        </p:nvSpPr>
        <p:spPr>
          <a:xfrm>
            <a:off x="8412480" y="1783080"/>
            <a:ext cx="3429000" cy="1371600"/>
          </a:xfrm>
          <a:prstGeom prst="roundRect">
            <a:avLst>
              <a:gd name="adj" fmla="val 7000"/>
            </a:avLst>
          </a:prstGeom>
          <a:solidFill>
            <a:srgbClr val="0047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0" y="1828800"/>
            <a:ext cx="3429000" cy="777240"/>
          </a:xfrm>
          <a:prstGeom prst="rect">
            <a:avLst/>
          </a:prstGeom>
          <a:noFill/>
        </p:spPr>
        <p:txBody>
          <a:bodyPr wrap="square" lIns="36000" rIns="36000" tIns="18000" bIns="18000" anchor="ctr">
            <a:spAutoFit/>
          </a:bodyPr>
          <a:lstStyle/>
          <a:p>
            <a:pPr algn="ctr"/>
            <a:r>
              <a:rPr sz="3800" b="1">
                <a:solidFill>
                  <a:srgbClr val="FFFFFF"/>
                </a:solidFill>
              </a:rPr>
              <a:t>≈ 95%</a:t>
            </a:r>
          </a:p>
        </p:txBody>
      </p:sp>
      <p:sp>
        <p:nvSpPr>
          <p:cNvPr id="7" name="TextBox 6"/>
          <p:cNvSpPr txBox="1"/>
          <p:nvPr/>
        </p:nvSpPr>
        <p:spPr>
          <a:xfrm>
            <a:off x="8412480" y="2651760"/>
            <a:ext cx="3429000" cy="457200"/>
          </a:xfrm>
          <a:prstGeom prst="rect">
            <a:avLst/>
          </a:prstGeom>
          <a:noFill/>
        </p:spPr>
        <p:txBody>
          <a:bodyPr wrap="square" lIns="36000" rIns="36000" tIns="18000" bIns="18000">
            <a:spAutoFit/>
          </a:bodyPr>
          <a:lstStyle/>
          <a:p>
            <a:pPr algn="ctr"/>
            <a:r>
              <a:rPr sz="1200" b="0">
                <a:solidFill>
                  <a:srgbClr val="FFFFFF"/>
                </a:solidFill>
              </a:rPr>
              <a:t>Top-20 vs. All-216</a:t>
            </a:r>
          </a:p>
        </p:txBody>
      </p:sp>
      <p:sp>
        <p:nvSpPr>
          <p:cNvPr id="8" name="Oval 7"/>
          <p:cNvSpPr/>
          <p:nvPr/>
        </p:nvSpPr>
        <p:spPr>
          <a:xfrm>
            <a:off x="8485632" y="3547872"/>
            <a:ext cx="219456" cy="219456"/>
          </a:xfrm>
          <a:prstGeom prst="ellipse">
            <a:avLst/>
          </a:prstGeom>
          <a:solidFill>
            <a:srgbClr val="0047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15400" y="3383280"/>
            <a:ext cx="2971800" cy="594360"/>
          </a:xfrm>
          <a:prstGeom prst="rect">
            <a:avLst/>
          </a:prstGeom>
          <a:noFill/>
        </p:spPr>
        <p:txBody>
          <a:bodyPr wrap="square" lIns="36000" rIns="36000" tIns="18000" bIns="18000" anchor="ctr">
            <a:spAutoFit/>
          </a:bodyPr>
          <a:lstStyle/>
          <a:p>
            <a:pPr algn="l"/>
            <a:r>
              <a:rPr sz="1200" b="0">
                <a:solidFill>
                  <a:srgbClr val="2B2B2B"/>
                </a:solidFill>
              </a:rPr>
              <a:t>Head sensor dominates top ranks</a:t>
            </a:r>
          </a:p>
        </p:txBody>
      </p:sp>
      <p:sp>
        <p:nvSpPr>
          <p:cNvPr id="10" name="Oval 9"/>
          <p:cNvSpPr/>
          <p:nvPr/>
        </p:nvSpPr>
        <p:spPr>
          <a:xfrm>
            <a:off x="8485632" y="4233672"/>
            <a:ext cx="219456" cy="219456"/>
          </a:xfrm>
          <a:prstGeom prst="ellipse">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15400" y="4069080"/>
            <a:ext cx="2971800" cy="594360"/>
          </a:xfrm>
          <a:prstGeom prst="rect">
            <a:avLst/>
          </a:prstGeom>
          <a:noFill/>
        </p:spPr>
        <p:txBody>
          <a:bodyPr wrap="square" lIns="36000" rIns="36000" tIns="18000" bIns="18000" anchor="ctr">
            <a:spAutoFit/>
          </a:bodyPr>
          <a:lstStyle/>
          <a:p>
            <a:pPr algn="l"/>
            <a:r>
              <a:rPr sz="1200" b="0">
                <a:solidFill>
                  <a:srgbClr val="2B2B2B"/>
                </a:solidFill>
              </a:rPr>
              <a:t>Gyroscope + FreeAcc most informative</a:t>
            </a:r>
          </a:p>
        </p:txBody>
      </p:sp>
      <p:sp>
        <p:nvSpPr>
          <p:cNvPr id="12" name="Oval 11"/>
          <p:cNvSpPr/>
          <p:nvPr/>
        </p:nvSpPr>
        <p:spPr>
          <a:xfrm>
            <a:off x="8485632" y="4919472"/>
            <a:ext cx="219456" cy="219456"/>
          </a:xfrm>
          <a:prstGeom prst="ellipse">
            <a:avLst/>
          </a:prstGeom>
          <a:solidFill>
            <a:srgbClr val="E53E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15400" y="4754880"/>
            <a:ext cx="2971800" cy="594360"/>
          </a:xfrm>
          <a:prstGeom prst="rect">
            <a:avLst/>
          </a:prstGeom>
          <a:noFill/>
        </p:spPr>
        <p:txBody>
          <a:bodyPr wrap="square" lIns="36000" rIns="36000" tIns="18000" bIns="18000" anchor="ctr">
            <a:spAutoFit/>
          </a:bodyPr>
          <a:lstStyle/>
          <a:p>
            <a:pPr algn="l"/>
            <a:r>
              <a:rPr sz="1200" b="0">
                <a:solidFill>
                  <a:srgbClr val="2B2B2B"/>
                </a:solidFill>
              </a:rPr>
              <a:t>Sets tested: 216 / 30 / 20 / sig-only</a:t>
            </a:r>
          </a:p>
        </p:txBody>
      </p:sp>
      <p:sp>
        <p:nvSpPr>
          <p:cNvPr id="14" name="TextBox 13"/>
          <p:cNvSpPr txBox="1"/>
          <p:nvPr/>
        </p:nvSpPr>
        <p:spPr>
          <a:xfrm>
            <a:off x="457200" y="6446520"/>
            <a:ext cx="7315200" cy="274320"/>
          </a:xfrm>
          <a:prstGeom prst="rect">
            <a:avLst/>
          </a:prstGeom>
          <a:noFill/>
        </p:spPr>
        <p:txBody>
          <a:bodyPr wrap="square" lIns="36000" rIns="36000" tIns="18000" bIns="18000">
            <a:spAutoFit/>
          </a:bodyPr>
          <a:lstStyle/>
          <a:p>
            <a:pPr algn="l"/>
            <a:r>
              <a:rPr sz="1000" b="0">
                <a:solidFill>
                  <a:srgbClr val="96969A"/>
                </a:solidFill>
              </a:rPr>
              <a:t>Presenter 2  |  Feature Selection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b="1" sz="2800">
                <a:solidFill>
                  <a:srgbClr val="0047BA"/>
                </a:solidFill>
              </a:rPr>
              <a:t>Sensor Ablation &amp; Optimal Configuration</a:t>
            </a:r>
          </a:p>
        </p:txBody>
      </p:sp>
      <p:pic>
        <p:nvPicPr>
          <p:cNvPr id="3" name="Picture 2" descr="step04_sensors_frontier.png"/>
          <p:cNvPicPr>
            <a:picLocks noChangeAspect="1"/>
          </p:cNvPicPr>
          <p:nvPr/>
        </p:nvPicPr>
        <p:blipFill>
          <a:blip r:embed="rId2"/>
          <a:stretch>
            <a:fillRect/>
          </a:stretch>
        </p:blipFill>
        <p:spPr>
          <a:xfrm>
            <a:off x="502920" y="1783080"/>
            <a:ext cx="5943600" cy="3396342"/>
          </a:xfrm>
          <a:prstGeom prst="rect">
            <a:avLst/>
          </a:prstGeom>
        </p:spPr>
      </p:pic>
      <p:sp>
        <p:nvSpPr>
          <p:cNvPr id="4" name="TextBox 3"/>
          <p:cNvSpPr txBox="1"/>
          <p:nvPr/>
        </p:nvSpPr>
        <p:spPr>
          <a:xfrm>
            <a:off x="502920" y="5166360"/>
            <a:ext cx="5943600" cy="274320"/>
          </a:xfrm>
          <a:prstGeom prst="rect">
            <a:avLst/>
          </a:prstGeom>
          <a:noFill/>
        </p:spPr>
        <p:txBody>
          <a:bodyPr wrap="square" lIns="36000" rIns="36000" tIns="18000" bIns="18000">
            <a:spAutoFit/>
          </a:bodyPr>
          <a:lstStyle/>
          <a:p>
            <a:pPr algn="ctr"/>
            <a:r>
              <a:rPr sz="1000" b="0">
                <a:solidFill>
                  <a:srgbClr val="96969A"/>
                </a:solidFill>
              </a:rPr>
              <a:t>Sensor availability frontier (LR vs. RF)</a:t>
            </a:r>
          </a:p>
        </p:txBody>
      </p:sp>
      <p:sp>
        <p:nvSpPr>
          <p:cNvPr id="5" name="Rounded Rectangle 4"/>
          <p:cNvSpPr/>
          <p:nvPr/>
        </p:nvSpPr>
        <p:spPr>
          <a:xfrm>
            <a:off x="6766560" y="1783080"/>
            <a:ext cx="5074920" cy="1005840"/>
          </a:xfrm>
          <a:prstGeom prst="roundRect">
            <a:avLst>
              <a:gd name="adj" fmla="val 7000"/>
            </a:avLst>
          </a:prstGeom>
          <a:solidFill>
            <a:srgbClr val="84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0" y="1874519"/>
            <a:ext cx="2743200" cy="411480"/>
          </a:xfrm>
          <a:prstGeom prst="rect">
            <a:avLst/>
          </a:prstGeom>
          <a:noFill/>
        </p:spPr>
        <p:txBody>
          <a:bodyPr wrap="square" lIns="36000" rIns="36000" tIns="18000" bIns="18000">
            <a:spAutoFit/>
          </a:bodyPr>
          <a:lstStyle/>
          <a:p>
            <a:pPr algn="l"/>
            <a:r>
              <a:rPr sz="1800" b="1">
                <a:solidFill>
                  <a:srgbClr val="FFFFFF"/>
                </a:solidFill>
              </a:rPr>
              <a:t>1 Sensor</a:t>
            </a:r>
          </a:p>
        </p:txBody>
      </p:sp>
      <p:sp>
        <p:nvSpPr>
          <p:cNvPr id="7" name="TextBox 6"/>
          <p:cNvSpPr txBox="1"/>
          <p:nvPr/>
        </p:nvSpPr>
        <p:spPr>
          <a:xfrm>
            <a:off x="6903720" y="2286000"/>
            <a:ext cx="2743200" cy="365760"/>
          </a:xfrm>
          <a:prstGeom prst="rect">
            <a:avLst/>
          </a:prstGeom>
          <a:noFill/>
        </p:spPr>
        <p:txBody>
          <a:bodyPr wrap="square" lIns="36000" rIns="36000" tIns="18000" bIns="18000">
            <a:spAutoFit/>
          </a:bodyPr>
          <a:lstStyle/>
          <a:p>
            <a:pPr algn="l"/>
            <a:r>
              <a:rPr sz="1100" b="0">
                <a:solidFill>
                  <a:srgbClr val="FFFFFF"/>
                </a:solidFill>
              </a:rPr>
              <a:t>HE only</a:t>
            </a:r>
          </a:p>
        </p:txBody>
      </p:sp>
      <p:sp>
        <p:nvSpPr>
          <p:cNvPr id="8" name="TextBox 7"/>
          <p:cNvSpPr txBox="1"/>
          <p:nvPr/>
        </p:nvSpPr>
        <p:spPr>
          <a:xfrm>
            <a:off x="9692640" y="1874519"/>
            <a:ext cx="2011680" cy="822960"/>
          </a:xfrm>
          <a:prstGeom prst="rect">
            <a:avLst/>
          </a:prstGeom>
          <a:noFill/>
        </p:spPr>
        <p:txBody>
          <a:bodyPr wrap="square" lIns="36000" rIns="36000" tIns="18000" bIns="18000" anchor="ctr">
            <a:spAutoFit/>
          </a:bodyPr>
          <a:lstStyle/>
          <a:p>
            <a:pPr algn="ctr"/>
            <a:r>
              <a:rPr sz="2800" b="1">
                <a:solidFill>
                  <a:srgbClr val="FFFFFF"/>
                </a:solidFill>
              </a:rPr>
              <a:t>77.5%</a:t>
            </a:r>
          </a:p>
        </p:txBody>
      </p:sp>
      <p:sp>
        <p:nvSpPr>
          <p:cNvPr id="9" name="Rounded Rectangle 8"/>
          <p:cNvSpPr/>
          <p:nvPr/>
        </p:nvSpPr>
        <p:spPr>
          <a:xfrm>
            <a:off x="6766560" y="2926080"/>
            <a:ext cx="5074920" cy="1005840"/>
          </a:xfrm>
          <a:prstGeom prst="roundRect">
            <a:avLst>
              <a:gd name="adj" fmla="val 7000"/>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03720" y="3017520"/>
            <a:ext cx="2743200" cy="411480"/>
          </a:xfrm>
          <a:prstGeom prst="rect">
            <a:avLst/>
          </a:prstGeom>
          <a:noFill/>
        </p:spPr>
        <p:txBody>
          <a:bodyPr wrap="square" lIns="36000" rIns="36000" tIns="18000" bIns="18000">
            <a:spAutoFit/>
          </a:bodyPr>
          <a:lstStyle/>
          <a:p>
            <a:pPr algn="l"/>
            <a:r>
              <a:rPr sz="1800" b="1">
                <a:solidFill>
                  <a:srgbClr val="FFFFFF"/>
                </a:solidFill>
              </a:rPr>
              <a:t>2 Sensors</a:t>
            </a:r>
          </a:p>
        </p:txBody>
      </p:sp>
      <p:sp>
        <p:nvSpPr>
          <p:cNvPr id="11" name="TextBox 10"/>
          <p:cNvSpPr txBox="1"/>
          <p:nvPr/>
        </p:nvSpPr>
        <p:spPr>
          <a:xfrm>
            <a:off x="6903720" y="3429000"/>
            <a:ext cx="2743200" cy="365760"/>
          </a:xfrm>
          <a:prstGeom prst="rect">
            <a:avLst/>
          </a:prstGeom>
          <a:noFill/>
        </p:spPr>
        <p:txBody>
          <a:bodyPr wrap="square" lIns="36000" rIns="36000" tIns="18000" bIns="18000">
            <a:spAutoFit/>
          </a:bodyPr>
          <a:lstStyle/>
          <a:p>
            <a:pPr algn="l"/>
            <a:r>
              <a:rPr sz="1100" b="0">
                <a:solidFill>
                  <a:srgbClr val="FFFFFF"/>
                </a:solidFill>
              </a:rPr>
              <a:t>HE + LB</a:t>
            </a:r>
          </a:p>
        </p:txBody>
      </p:sp>
      <p:sp>
        <p:nvSpPr>
          <p:cNvPr id="12" name="TextBox 11"/>
          <p:cNvSpPr txBox="1"/>
          <p:nvPr/>
        </p:nvSpPr>
        <p:spPr>
          <a:xfrm>
            <a:off x="9692640" y="3017520"/>
            <a:ext cx="2011680" cy="822960"/>
          </a:xfrm>
          <a:prstGeom prst="rect">
            <a:avLst/>
          </a:prstGeom>
          <a:noFill/>
        </p:spPr>
        <p:txBody>
          <a:bodyPr wrap="square" lIns="36000" rIns="36000" tIns="18000" bIns="18000" anchor="ctr">
            <a:spAutoFit/>
          </a:bodyPr>
          <a:lstStyle/>
          <a:p>
            <a:pPr algn="ctr"/>
            <a:r>
              <a:rPr sz="2800" b="1">
                <a:solidFill>
                  <a:srgbClr val="FFFFFF"/>
                </a:solidFill>
              </a:rPr>
              <a:t>80.1%</a:t>
            </a:r>
          </a:p>
        </p:txBody>
      </p:sp>
      <p:sp>
        <p:nvSpPr>
          <p:cNvPr id="13" name="Rounded Rectangle 12"/>
          <p:cNvSpPr/>
          <p:nvPr/>
        </p:nvSpPr>
        <p:spPr>
          <a:xfrm>
            <a:off x="6766560" y="4069080"/>
            <a:ext cx="5074920" cy="1005840"/>
          </a:xfrm>
          <a:prstGeom prst="roundRect">
            <a:avLst>
              <a:gd name="adj" fmla="val 7000"/>
            </a:avLst>
          </a:prstGeom>
          <a:solidFill>
            <a:srgbClr val="0047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03720" y="4160520"/>
            <a:ext cx="2743200" cy="411480"/>
          </a:xfrm>
          <a:prstGeom prst="rect">
            <a:avLst/>
          </a:prstGeom>
          <a:noFill/>
        </p:spPr>
        <p:txBody>
          <a:bodyPr wrap="square" lIns="36000" rIns="36000" tIns="18000" bIns="18000">
            <a:spAutoFit/>
          </a:bodyPr>
          <a:lstStyle/>
          <a:p>
            <a:pPr algn="l"/>
            <a:r>
              <a:rPr sz="1800" b="1">
                <a:solidFill>
                  <a:srgbClr val="FFFFFF"/>
                </a:solidFill>
              </a:rPr>
              <a:t>4 Sensors</a:t>
            </a:r>
          </a:p>
        </p:txBody>
      </p:sp>
      <p:sp>
        <p:nvSpPr>
          <p:cNvPr id="15" name="TextBox 14"/>
          <p:cNvSpPr txBox="1"/>
          <p:nvPr/>
        </p:nvSpPr>
        <p:spPr>
          <a:xfrm>
            <a:off x="6903720" y="4572000"/>
            <a:ext cx="2743200" cy="365760"/>
          </a:xfrm>
          <a:prstGeom prst="rect">
            <a:avLst/>
          </a:prstGeom>
          <a:noFill/>
        </p:spPr>
        <p:txBody>
          <a:bodyPr wrap="square" lIns="36000" rIns="36000" tIns="18000" bIns="18000">
            <a:spAutoFit/>
          </a:bodyPr>
          <a:lstStyle/>
          <a:p>
            <a:pPr algn="l"/>
            <a:r>
              <a:rPr sz="1100" b="0">
                <a:solidFill>
                  <a:srgbClr val="FFFFFF"/>
                </a:solidFill>
              </a:rPr>
              <a:t>HE + LB + LF + RF</a:t>
            </a:r>
          </a:p>
        </p:txBody>
      </p:sp>
      <p:sp>
        <p:nvSpPr>
          <p:cNvPr id="16" name="TextBox 15"/>
          <p:cNvSpPr txBox="1"/>
          <p:nvPr/>
        </p:nvSpPr>
        <p:spPr>
          <a:xfrm>
            <a:off x="9692640" y="4160520"/>
            <a:ext cx="2011680" cy="822960"/>
          </a:xfrm>
          <a:prstGeom prst="rect">
            <a:avLst/>
          </a:prstGeom>
          <a:noFill/>
        </p:spPr>
        <p:txBody>
          <a:bodyPr wrap="square" lIns="36000" rIns="36000" tIns="18000" bIns="18000" anchor="ctr">
            <a:spAutoFit/>
          </a:bodyPr>
          <a:lstStyle/>
          <a:p>
            <a:pPr algn="ctr"/>
            <a:r>
              <a:rPr sz="2800" b="1">
                <a:solidFill>
                  <a:srgbClr val="FFFFFF"/>
                </a:solidFill>
              </a:rPr>
              <a:t>81.0%</a:t>
            </a:r>
          </a:p>
        </p:txBody>
      </p:sp>
      <p:sp>
        <p:nvSpPr>
          <p:cNvPr id="17" name="Rounded Rectangle 16"/>
          <p:cNvSpPr/>
          <p:nvPr/>
        </p:nvSpPr>
        <p:spPr>
          <a:xfrm>
            <a:off x="502920" y="5577840"/>
            <a:ext cx="11338560" cy="685800"/>
          </a:xfrm>
          <a:prstGeom prst="roundRect">
            <a:avLst>
              <a:gd name="adj" fmla="val 7000"/>
            </a:avLst>
          </a:prstGeom>
          <a:solidFill>
            <a:srgbClr val="F0FAF5"/>
          </a:solidFill>
          <a:ln w="9525">
            <a:solidFill>
              <a:srgbClr val="00CE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5800" y="5696712"/>
            <a:ext cx="457200" cy="457200"/>
          </a:xfrm>
          <a:prstGeom prst="roundRect">
            <a:avLst>
              <a:gd name="adj" fmla="val 25000"/>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696712"/>
            <a:ext cx="457200" cy="457200"/>
          </a:xfrm>
          <a:prstGeom prst="rect">
            <a:avLst/>
          </a:prstGeom>
          <a:noFill/>
        </p:spPr>
        <p:txBody>
          <a:bodyPr wrap="square" lIns="36000" rIns="36000" tIns="18000" bIns="18000" anchor="ctr">
            <a:spAutoFit/>
          </a:bodyPr>
          <a:lstStyle/>
          <a:p>
            <a:pPr algn="ctr"/>
            <a:r>
              <a:rPr sz="1600" b="1">
                <a:solidFill>
                  <a:srgbClr val="FFFFFF"/>
                </a:solidFill>
              </a:rPr>
              <a:t>!</a:t>
            </a:r>
          </a:p>
        </p:txBody>
      </p:sp>
      <p:sp>
        <p:nvSpPr>
          <p:cNvPr id="20" name="TextBox 19"/>
          <p:cNvSpPr txBox="1"/>
          <p:nvPr/>
        </p:nvSpPr>
        <p:spPr>
          <a:xfrm>
            <a:off x="1280160" y="5641848"/>
            <a:ext cx="10424160" cy="548640"/>
          </a:xfrm>
          <a:prstGeom prst="rect">
            <a:avLst/>
          </a:prstGeom>
          <a:noFill/>
        </p:spPr>
        <p:txBody>
          <a:bodyPr wrap="square" lIns="36000" rIns="36000" tIns="18000" bIns="18000" anchor="ctr">
            <a:spAutoFit/>
          </a:bodyPr>
          <a:lstStyle/>
          <a:p>
            <a:pPr algn="l"/>
            <a:r>
              <a:rPr sz="1400" b="1">
                <a:solidFill>
                  <a:srgbClr val="002F7A"/>
                </a:solidFill>
              </a:rPr>
              <a:t>HE + LB = 98.9% of 4-sensor performance  →  2 IMUs sufficient for clinical deployment</a:t>
            </a:r>
          </a:p>
        </p:txBody>
      </p:sp>
      <p:sp>
        <p:nvSpPr>
          <p:cNvPr id="21" name="TextBox 20"/>
          <p:cNvSpPr txBox="1"/>
          <p:nvPr/>
        </p:nvSpPr>
        <p:spPr>
          <a:xfrm>
            <a:off x="457200" y="6446520"/>
            <a:ext cx="7315200" cy="274320"/>
          </a:xfrm>
          <a:prstGeom prst="rect">
            <a:avLst/>
          </a:prstGeom>
          <a:noFill/>
        </p:spPr>
        <p:txBody>
          <a:bodyPr wrap="square" lIns="36000" rIns="36000" tIns="18000" bIns="18000">
            <a:spAutoFit/>
          </a:bodyPr>
          <a:lstStyle/>
          <a:p>
            <a:pPr algn="l"/>
            <a:r>
              <a:rPr sz="1000" b="0">
                <a:solidFill>
                  <a:srgbClr val="96969A"/>
                </a:solidFill>
              </a:rPr>
              <a:t>Presenter 2  |  Sensor Ablation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b="1" sz="2800">
                <a:solidFill>
                  <a:srgbClr val="0047BA"/>
                </a:solidFill>
              </a:rPr>
              <a:t>3-Class Classification Results</a:t>
            </a:r>
          </a:p>
        </p:txBody>
      </p:sp>
      <p:pic>
        <p:nvPicPr>
          <p:cNvPr id="3" name="Picture 2" descr="step03_confusion_3class_all.png"/>
          <p:cNvPicPr>
            <a:picLocks noChangeAspect="1"/>
          </p:cNvPicPr>
          <p:nvPr/>
        </p:nvPicPr>
        <p:blipFill>
          <a:blip r:embed="rId2"/>
          <a:stretch>
            <a:fillRect/>
          </a:stretch>
        </p:blipFill>
        <p:spPr>
          <a:xfrm>
            <a:off x="320040" y="1783080"/>
            <a:ext cx="8229600" cy="2057400"/>
          </a:xfrm>
          <a:prstGeom prst="rect">
            <a:avLst/>
          </a:prstGeom>
        </p:spPr>
      </p:pic>
      <p:sp>
        <p:nvSpPr>
          <p:cNvPr id="4" name="TextBox 3"/>
          <p:cNvSpPr txBox="1"/>
          <p:nvPr/>
        </p:nvSpPr>
        <p:spPr>
          <a:xfrm>
            <a:off x="320040" y="4069080"/>
            <a:ext cx="8229600" cy="274320"/>
          </a:xfrm>
          <a:prstGeom prst="rect">
            <a:avLst/>
          </a:prstGeom>
          <a:noFill/>
        </p:spPr>
        <p:txBody>
          <a:bodyPr wrap="square" lIns="36000" rIns="36000" tIns="18000" bIns="18000">
            <a:spAutoFit/>
          </a:bodyPr>
          <a:lstStyle/>
          <a:p>
            <a:pPr algn="ctr"/>
            <a:r>
              <a:rPr sz="1000" b="0">
                <a:solidFill>
                  <a:srgbClr val="96969A"/>
                </a:solidFill>
              </a:rPr>
              <a:t>Confusion matrices: LR / RF / SVM / XGB  (HC · Mild · Severe)</a:t>
            </a:r>
          </a:p>
        </p:txBody>
      </p:sp>
      <p:sp>
        <p:nvSpPr>
          <p:cNvPr id="5" name="Rounded Rectangle 4"/>
          <p:cNvSpPr/>
          <p:nvPr/>
        </p:nvSpPr>
        <p:spPr>
          <a:xfrm>
            <a:off x="8732520" y="1783080"/>
            <a:ext cx="3154680" cy="1188720"/>
          </a:xfrm>
          <a:prstGeom prst="roundRect">
            <a:avLst>
              <a:gd name="adj" fmla="val 7000"/>
            </a:avLst>
          </a:prstGeom>
          <a:solidFill>
            <a:srgbClr val="0047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32520" y="1856231"/>
            <a:ext cx="3154680" cy="411480"/>
          </a:xfrm>
          <a:prstGeom prst="rect">
            <a:avLst/>
          </a:prstGeom>
          <a:noFill/>
        </p:spPr>
        <p:txBody>
          <a:bodyPr wrap="square" lIns="36000" rIns="36000" tIns="18000" bIns="18000">
            <a:spAutoFit/>
          </a:bodyPr>
          <a:lstStyle/>
          <a:p>
            <a:pPr algn="ctr"/>
            <a:r>
              <a:rPr sz="1300" b="0">
                <a:solidFill>
                  <a:srgbClr val="FFFFFF"/>
                </a:solidFill>
              </a:rPr>
              <a:t>SVM (best)</a:t>
            </a:r>
          </a:p>
        </p:txBody>
      </p:sp>
      <p:sp>
        <p:nvSpPr>
          <p:cNvPr id="7" name="TextBox 6"/>
          <p:cNvSpPr txBox="1"/>
          <p:nvPr/>
        </p:nvSpPr>
        <p:spPr>
          <a:xfrm>
            <a:off x="8732520" y="2194560"/>
            <a:ext cx="3154680" cy="685800"/>
          </a:xfrm>
          <a:prstGeom prst="rect">
            <a:avLst/>
          </a:prstGeom>
          <a:noFill/>
        </p:spPr>
        <p:txBody>
          <a:bodyPr wrap="square" lIns="36000" rIns="36000" tIns="18000" bIns="18000" anchor="ctr">
            <a:spAutoFit/>
          </a:bodyPr>
          <a:lstStyle/>
          <a:p>
            <a:pPr algn="ctr"/>
            <a:r>
              <a:rPr sz="3400" b="1">
                <a:solidFill>
                  <a:srgbClr val="FFFFFF"/>
                </a:solidFill>
              </a:rPr>
              <a:t>81.0%</a:t>
            </a:r>
          </a:p>
        </p:txBody>
      </p:sp>
      <p:sp>
        <p:nvSpPr>
          <p:cNvPr id="8" name="TextBox 7"/>
          <p:cNvSpPr txBox="1"/>
          <p:nvPr/>
        </p:nvSpPr>
        <p:spPr>
          <a:xfrm>
            <a:off x="8732520" y="2697480"/>
            <a:ext cx="3154680" cy="274320"/>
          </a:xfrm>
          <a:prstGeom prst="rect">
            <a:avLst/>
          </a:prstGeom>
          <a:noFill/>
        </p:spPr>
        <p:txBody>
          <a:bodyPr wrap="square" lIns="36000" rIns="36000" tIns="18000" bIns="18000">
            <a:spAutoFit/>
          </a:bodyPr>
          <a:lstStyle/>
          <a:p>
            <a:pPr algn="ctr"/>
            <a:r>
              <a:rPr sz="1000" b="0">
                <a:solidFill>
                  <a:srgbClr val="FFFFFF"/>
                </a:solidFill>
              </a:rPr>
              <a:t>Balanced Accuracy</a:t>
            </a:r>
          </a:p>
        </p:txBody>
      </p:sp>
      <p:sp>
        <p:nvSpPr>
          <p:cNvPr id="9" name="Rounded Rectangle 8"/>
          <p:cNvSpPr/>
          <p:nvPr/>
        </p:nvSpPr>
        <p:spPr>
          <a:xfrm>
            <a:off x="8732520" y="3154680"/>
            <a:ext cx="960120" cy="731520"/>
          </a:xfrm>
          <a:prstGeom prst="roundRect">
            <a:avLst>
              <a:gd name="adj" fmla="val 7000"/>
            </a:avLst>
          </a:prstGeom>
          <a:solidFill>
            <a:srgbClr val="F4F8FC"/>
          </a:solidFill>
          <a:ln w="9525">
            <a:solidFill>
              <a:srgbClr val="9696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32520" y="3172968"/>
            <a:ext cx="960120" cy="320040"/>
          </a:xfrm>
          <a:prstGeom prst="rect">
            <a:avLst/>
          </a:prstGeom>
          <a:noFill/>
        </p:spPr>
        <p:txBody>
          <a:bodyPr wrap="square" lIns="36000" rIns="36000" tIns="18000" bIns="18000">
            <a:spAutoFit/>
          </a:bodyPr>
          <a:lstStyle/>
          <a:p>
            <a:pPr algn="ctr"/>
            <a:r>
              <a:rPr sz="1100" b="0">
                <a:solidFill>
                  <a:srgbClr val="96969A"/>
                </a:solidFill>
              </a:rPr>
              <a:t>XGB</a:t>
            </a:r>
          </a:p>
        </p:txBody>
      </p:sp>
      <p:sp>
        <p:nvSpPr>
          <p:cNvPr id="11" name="TextBox 10"/>
          <p:cNvSpPr txBox="1"/>
          <p:nvPr/>
        </p:nvSpPr>
        <p:spPr>
          <a:xfrm>
            <a:off x="8732520" y="3429000"/>
            <a:ext cx="960120" cy="457200"/>
          </a:xfrm>
          <a:prstGeom prst="rect">
            <a:avLst/>
          </a:prstGeom>
          <a:noFill/>
        </p:spPr>
        <p:txBody>
          <a:bodyPr wrap="square" lIns="36000" rIns="36000" tIns="18000" bIns="18000">
            <a:spAutoFit/>
          </a:bodyPr>
          <a:lstStyle/>
          <a:p>
            <a:pPr algn="ctr"/>
            <a:r>
              <a:rPr sz="1600" b="1">
                <a:solidFill>
                  <a:srgbClr val="2B2B2B"/>
                </a:solidFill>
              </a:rPr>
              <a:t>79.8%</a:t>
            </a:r>
          </a:p>
        </p:txBody>
      </p:sp>
      <p:sp>
        <p:nvSpPr>
          <p:cNvPr id="12" name="Rounded Rectangle 11"/>
          <p:cNvSpPr/>
          <p:nvPr/>
        </p:nvSpPr>
        <p:spPr>
          <a:xfrm>
            <a:off x="9784080" y="3154680"/>
            <a:ext cx="960120" cy="731520"/>
          </a:xfrm>
          <a:prstGeom prst="roundRect">
            <a:avLst>
              <a:gd name="adj" fmla="val 7000"/>
            </a:avLst>
          </a:prstGeom>
          <a:solidFill>
            <a:srgbClr val="F4F8FC"/>
          </a:solidFill>
          <a:ln w="9525">
            <a:solidFill>
              <a:srgbClr val="9696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0" y="3172968"/>
            <a:ext cx="960120" cy="320040"/>
          </a:xfrm>
          <a:prstGeom prst="rect">
            <a:avLst/>
          </a:prstGeom>
          <a:noFill/>
        </p:spPr>
        <p:txBody>
          <a:bodyPr wrap="square" lIns="36000" rIns="36000" tIns="18000" bIns="18000">
            <a:spAutoFit/>
          </a:bodyPr>
          <a:lstStyle/>
          <a:p>
            <a:pPr algn="ctr"/>
            <a:r>
              <a:rPr sz="1100" b="0">
                <a:solidFill>
                  <a:srgbClr val="96969A"/>
                </a:solidFill>
              </a:rPr>
              <a:t>RF</a:t>
            </a:r>
          </a:p>
        </p:txBody>
      </p:sp>
      <p:sp>
        <p:nvSpPr>
          <p:cNvPr id="14" name="TextBox 13"/>
          <p:cNvSpPr txBox="1"/>
          <p:nvPr/>
        </p:nvSpPr>
        <p:spPr>
          <a:xfrm>
            <a:off x="9784080" y="3429000"/>
            <a:ext cx="960120" cy="457200"/>
          </a:xfrm>
          <a:prstGeom prst="rect">
            <a:avLst/>
          </a:prstGeom>
          <a:noFill/>
        </p:spPr>
        <p:txBody>
          <a:bodyPr wrap="square" lIns="36000" rIns="36000" tIns="18000" bIns="18000">
            <a:spAutoFit/>
          </a:bodyPr>
          <a:lstStyle/>
          <a:p>
            <a:pPr algn="ctr"/>
            <a:r>
              <a:rPr sz="1600" b="1">
                <a:solidFill>
                  <a:srgbClr val="2B2B2B"/>
                </a:solidFill>
              </a:rPr>
              <a:t>80.1%</a:t>
            </a:r>
          </a:p>
        </p:txBody>
      </p:sp>
      <p:sp>
        <p:nvSpPr>
          <p:cNvPr id="15" name="Rounded Rectangle 14"/>
          <p:cNvSpPr/>
          <p:nvPr/>
        </p:nvSpPr>
        <p:spPr>
          <a:xfrm>
            <a:off x="10835640" y="3154680"/>
            <a:ext cx="960120" cy="731520"/>
          </a:xfrm>
          <a:prstGeom prst="roundRect">
            <a:avLst>
              <a:gd name="adj" fmla="val 7000"/>
            </a:avLst>
          </a:prstGeom>
          <a:solidFill>
            <a:srgbClr val="F4F8FC"/>
          </a:solidFill>
          <a:ln w="9525">
            <a:solidFill>
              <a:srgbClr val="9696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835640" y="3172968"/>
            <a:ext cx="960120" cy="320040"/>
          </a:xfrm>
          <a:prstGeom prst="rect">
            <a:avLst/>
          </a:prstGeom>
          <a:noFill/>
        </p:spPr>
        <p:txBody>
          <a:bodyPr wrap="square" lIns="36000" rIns="36000" tIns="18000" bIns="18000">
            <a:spAutoFit/>
          </a:bodyPr>
          <a:lstStyle/>
          <a:p>
            <a:pPr algn="ctr"/>
            <a:r>
              <a:rPr sz="1100" b="0">
                <a:solidFill>
                  <a:srgbClr val="96969A"/>
                </a:solidFill>
              </a:rPr>
              <a:t>LR</a:t>
            </a:r>
          </a:p>
        </p:txBody>
      </p:sp>
      <p:sp>
        <p:nvSpPr>
          <p:cNvPr id="17" name="TextBox 16"/>
          <p:cNvSpPr txBox="1"/>
          <p:nvPr/>
        </p:nvSpPr>
        <p:spPr>
          <a:xfrm>
            <a:off x="10835640" y="3429000"/>
            <a:ext cx="960120" cy="457200"/>
          </a:xfrm>
          <a:prstGeom prst="rect">
            <a:avLst/>
          </a:prstGeom>
          <a:noFill/>
        </p:spPr>
        <p:txBody>
          <a:bodyPr wrap="square" lIns="36000" rIns="36000" tIns="18000" bIns="18000">
            <a:spAutoFit/>
          </a:bodyPr>
          <a:lstStyle/>
          <a:p>
            <a:pPr algn="ctr"/>
            <a:r>
              <a:rPr sz="1600" b="1">
                <a:solidFill>
                  <a:srgbClr val="2B2B2B"/>
                </a:solidFill>
              </a:rPr>
              <a:t>75.x%</a:t>
            </a:r>
          </a:p>
        </p:txBody>
      </p:sp>
      <p:sp>
        <p:nvSpPr>
          <p:cNvPr id="18" name="Rounded Rectangle 17"/>
          <p:cNvSpPr/>
          <p:nvPr/>
        </p:nvSpPr>
        <p:spPr>
          <a:xfrm>
            <a:off x="502920" y="4526280"/>
            <a:ext cx="3749039" cy="1097280"/>
          </a:xfrm>
          <a:prstGeom prst="roundRect">
            <a:avLst>
              <a:gd name="adj" fmla="val 7000"/>
            </a:avLst>
          </a:prstGeom>
          <a:solidFill>
            <a:srgbClr val="F4F8FC"/>
          </a:solidFill>
          <a:ln w="9525">
            <a:solidFill>
              <a:srgbClr val="00CE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5800" y="4754880"/>
            <a:ext cx="502920" cy="502920"/>
          </a:xfrm>
          <a:prstGeom prst="roundRect">
            <a:avLst>
              <a:gd name="adj" fmla="val 25000"/>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754880"/>
            <a:ext cx="502920" cy="502920"/>
          </a:xfrm>
          <a:prstGeom prst="rect">
            <a:avLst/>
          </a:prstGeom>
          <a:noFill/>
        </p:spPr>
        <p:txBody>
          <a:bodyPr wrap="square" lIns="36000" rIns="36000" tIns="18000" bIns="18000" anchor="ctr">
            <a:spAutoFit/>
          </a:bodyPr>
          <a:lstStyle/>
          <a:p>
            <a:pPr algn="ctr"/>
            <a:r>
              <a:rPr sz="1600" b="1">
                <a:solidFill>
                  <a:srgbClr val="FFFFFF"/>
                </a:solidFill>
              </a:rPr>
              <a:t>✓</a:t>
            </a:r>
          </a:p>
        </p:txBody>
      </p:sp>
      <p:sp>
        <p:nvSpPr>
          <p:cNvPr id="21" name="TextBox 20"/>
          <p:cNvSpPr txBox="1"/>
          <p:nvPr/>
        </p:nvSpPr>
        <p:spPr>
          <a:xfrm>
            <a:off x="1280160" y="4617720"/>
            <a:ext cx="2880360" cy="365760"/>
          </a:xfrm>
          <a:prstGeom prst="rect">
            <a:avLst/>
          </a:prstGeom>
          <a:noFill/>
        </p:spPr>
        <p:txBody>
          <a:bodyPr wrap="square" lIns="36000" rIns="36000" tIns="18000" bIns="18000">
            <a:spAutoFit/>
          </a:bodyPr>
          <a:lstStyle/>
          <a:p>
            <a:pPr algn="l"/>
            <a:r>
              <a:rPr sz="1300" b="1">
                <a:solidFill>
                  <a:srgbClr val="00CE7C"/>
                </a:solidFill>
              </a:rPr>
              <a:t>HC vs. Pathological</a:t>
            </a:r>
          </a:p>
        </p:txBody>
      </p:sp>
      <p:sp>
        <p:nvSpPr>
          <p:cNvPr id="22" name="TextBox 21"/>
          <p:cNvSpPr txBox="1"/>
          <p:nvPr/>
        </p:nvSpPr>
        <p:spPr>
          <a:xfrm>
            <a:off x="1280160" y="4983480"/>
            <a:ext cx="2880360" cy="685800"/>
          </a:xfrm>
          <a:prstGeom prst="rect">
            <a:avLst/>
          </a:prstGeom>
          <a:noFill/>
        </p:spPr>
        <p:txBody>
          <a:bodyPr wrap="square" lIns="36000" rIns="36000" tIns="18000" bIns="18000">
            <a:spAutoFit/>
          </a:bodyPr>
          <a:lstStyle/>
          <a:p>
            <a:pPr algn="l"/>
            <a:r>
              <a:rPr sz="1100" b="0">
                <a:solidFill>
                  <a:srgbClr val="2B2B2B"/>
                </a:solidFill>
              </a:rPr>
              <a:t>&gt; 90% recall — clinical screening reliable</a:t>
            </a:r>
          </a:p>
        </p:txBody>
      </p:sp>
      <p:sp>
        <p:nvSpPr>
          <p:cNvPr id="23" name="Rounded Rectangle 22"/>
          <p:cNvSpPr/>
          <p:nvPr/>
        </p:nvSpPr>
        <p:spPr>
          <a:xfrm>
            <a:off x="4389120" y="4526280"/>
            <a:ext cx="3749039" cy="1097280"/>
          </a:xfrm>
          <a:prstGeom prst="roundRect">
            <a:avLst>
              <a:gd name="adj" fmla="val 7000"/>
            </a:avLst>
          </a:prstGeom>
          <a:solidFill>
            <a:srgbClr val="F4F8FC"/>
          </a:solidFill>
          <a:ln w="9525">
            <a:solidFill>
              <a:srgbClr val="E53E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572000" y="4754880"/>
            <a:ext cx="502920" cy="502920"/>
          </a:xfrm>
          <a:prstGeom prst="roundRect">
            <a:avLst>
              <a:gd name="adj" fmla="val 25000"/>
            </a:avLst>
          </a:prstGeom>
          <a:solidFill>
            <a:srgbClr val="E53E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0" y="4754880"/>
            <a:ext cx="502920" cy="502920"/>
          </a:xfrm>
          <a:prstGeom prst="rect">
            <a:avLst/>
          </a:prstGeom>
          <a:noFill/>
        </p:spPr>
        <p:txBody>
          <a:bodyPr wrap="square" lIns="36000" rIns="36000" tIns="18000" bIns="18000" anchor="ctr">
            <a:spAutoFit/>
          </a:bodyPr>
          <a:lstStyle/>
          <a:p>
            <a:pPr algn="ctr"/>
            <a:r>
              <a:rPr sz="1600" b="1">
                <a:solidFill>
                  <a:srgbClr val="FFFFFF"/>
                </a:solidFill>
              </a:rPr>
              <a:t>!</a:t>
            </a:r>
          </a:p>
        </p:txBody>
      </p:sp>
      <p:sp>
        <p:nvSpPr>
          <p:cNvPr id="26" name="TextBox 25"/>
          <p:cNvSpPr txBox="1"/>
          <p:nvPr/>
        </p:nvSpPr>
        <p:spPr>
          <a:xfrm>
            <a:off x="5166359" y="4617720"/>
            <a:ext cx="2880360" cy="365760"/>
          </a:xfrm>
          <a:prstGeom prst="rect">
            <a:avLst/>
          </a:prstGeom>
          <a:noFill/>
        </p:spPr>
        <p:txBody>
          <a:bodyPr wrap="square" lIns="36000" rIns="36000" tIns="18000" bIns="18000">
            <a:spAutoFit/>
          </a:bodyPr>
          <a:lstStyle/>
          <a:p>
            <a:pPr algn="l"/>
            <a:r>
              <a:rPr sz="1300" b="1">
                <a:solidFill>
                  <a:srgbClr val="E53E51"/>
                </a:solidFill>
              </a:rPr>
              <a:t>Mild vs. Severe boundary</a:t>
            </a:r>
          </a:p>
        </p:txBody>
      </p:sp>
      <p:sp>
        <p:nvSpPr>
          <p:cNvPr id="27" name="TextBox 26"/>
          <p:cNvSpPr txBox="1"/>
          <p:nvPr/>
        </p:nvSpPr>
        <p:spPr>
          <a:xfrm>
            <a:off x="5166359" y="4983480"/>
            <a:ext cx="2880360" cy="685800"/>
          </a:xfrm>
          <a:prstGeom prst="rect">
            <a:avLst/>
          </a:prstGeom>
          <a:noFill/>
        </p:spPr>
        <p:txBody>
          <a:bodyPr wrap="square" lIns="36000" rIns="36000" tIns="18000" bIns="18000">
            <a:spAutoFit/>
          </a:bodyPr>
          <a:lstStyle/>
          <a:p>
            <a:pPr algn="l"/>
            <a:r>
              <a:rPr sz="1100" b="0">
                <a:solidFill>
                  <a:srgbClr val="2B2B2B"/>
                </a:solidFill>
              </a:rPr>
              <a:t>Main challenge — subjective ordinal scale</a:t>
            </a:r>
          </a:p>
        </p:txBody>
      </p:sp>
      <p:sp>
        <p:nvSpPr>
          <p:cNvPr id="28" name="Rounded Rectangle 27"/>
          <p:cNvSpPr/>
          <p:nvPr/>
        </p:nvSpPr>
        <p:spPr>
          <a:xfrm>
            <a:off x="8275320" y="4526280"/>
            <a:ext cx="3749039" cy="1097280"/>
          </a:xfrm>
          <a:prstGeom prst="roundRect">
            <a:avLst>
              <a:gd name="adj" fmla="val 7000"/>
            </a:avLst>
          </a:prstGeom>
          <a:solidFill>
            <a:srgbClr val="F4F8FC"/>
          </a:solidFill>
          <a:ln w="9525">
            <a:solidFill>
              <a:srgbClr val="E0A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458200" y="4754880"/>
            <a:ext cx="502920" cy="502920"/>
          </a:xfrm>
          <a:prstGeom prst="roundRect">
            <a:avLst>
              <a:gd name="adj" fmla="val 25000"/>
            </a:avLst>
          </a:prstGeom>
          <a:solidFill>
            <a:srgbClr val="E0A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58200" y="4754880"/>
            <a:ext cx="502920" cy="502920"/>
          </a:xfrm>
          <a:prstGeom prst="rect">
            <a:avLst/>
          </a:prstGeom>
          <a:noFill/>
        </p:spPr>
        <p:txBody>
          <a:bodyPr wrap="square" lIns="36000" rIns="36000" tIns="18000" bIns="18000" anchor="ctr">
            <a:spAutoFit/>
          </a:bodyPr>
          <a:lstStyle/>
          <a:p>
            <a:pPr algn="ctr"/>
            <a:r>
              <a:rPr sz="1600" b="1">
                <a:solidFill>
                  <a:srgbClr val="FFFFFF"/>
                </a:solidFill>
              </a:rPr>
              <a:t>★</a:t>
            </a:r>
          </a:p>
        </p:txBody>
      </p:sp>
      <p:sp>
        <p:nvSpPr>
          <p:cNvPr id="31" name="TextBox 30"/>
          <p:cNvSpPr txBox="1"/>
          <p:nvPr/>
        </p:nvSpPr>
        <p:spPr>
          <a:xfrm>
            <a:off x="9052560" y="4617720"/>
            <a:ext cx="2880360" cy="365760"/>
          </a:xfrm>
          <a:prstGeom prst="rect">
            <a:avLst/>
          </a:prstGeom>
          <a:noFill/>
        </p:spPr>
        <p:txBody>
          <a:bodyPr wrap="square" lIns="36000" rIns="36000" tIns="18000" bIns="18000">
            <a:spAutoFit/>
          </a:bodyPr>
          <a:lstStyle/>
          <a:p>
            <a:pPr algn="l"/>
            <a:r>
              <a:rPr sz="1300" b="1">
                <a:solidFill>
                  <a:srgbClr val="E0A500"/>
                </a:solidFill>
              </a:rPr>
              <a:t>Largest error</a:t>
            </a:r>
          </a:p>
        </p:txBody>
      </p:sp>
      <p:sp>
        <p:nvSpPr>
          <p:cNvPr id="32" name="TextBox 31"/>
          <p:cNvSpPr txBox="1"/>
          <p:nvPr/>
        </p:nvSpPr>
        <p:spPr>
          <a:xfrm>
            <a:off x="9052560" y="4983480"/>
            <a:ext cx="2880360" cy="685800"/>
          </a:xfrm>
          <a:prstGeom prst="rect">
            <a:avLst/>
          </a:prstGeom>
          <a:noFill/>
        </p:spPr>
        <p:txBody>
          <a:bodyPr wrap="square" lIns="36000" rIns="36000" tIns="18000" bIns="18000">
            <a:spAutoFit/>
          </a:bodyPr>
          <a:lstStyle/>
          <a:p>
            <a:pPr algn="l"/>
            <a:r>
              <a:rPr sz="1100" b="0">
                <a:solidFill>
                  <a:srgbClr val="2B2B2B"/>
                </a:solidFill>
              </a:rPr>
              <a:t>Severe → Mild = 12.3% (late-recovery patients)</a:t>
            </a:r>
          </a:p>
        </p:txBody>
      </p:sp>
      <p:sp>
        <p:nvSpPr>
          <p:cNvPr id="33" name="TextBox 32"/>
          <p:cNvSpPr txBox="1"/>
          <p:nvPr/>
        </p:nvSpPr>
        <p:spPr>
          <a:xfrm>
            <a:off x="457200" y="6446520"/>
            <a:ext cx="7315200" cy="274320"/>
          </a:xfrm>
          <a:prstGeom prst="rect">
            <a:avLst/>
          </a:prstGeom>
          <a:noFill/>
        </p:spPr>
        <p:txBody>
          <a:bodyPr wrap="square" lIns="36000" rIns="36000" tIns="18000" bIns="18000">
            <a:spAutoFit/>
          </a:bodyPr>
          <a:lstStyle/>
          <a:p>
            <a:pPr algn="l"/>
            <a:r>
              <a:rPr sz="1000" b="0">
                <a:solidFill>
                  <a:srgbClr val="96969A"/>
                </a:solidFill>
              </a:rPr>
              <a:t>Presenter 3  |  3-Class Results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b="1" sz="2800">
                <a:solidFill>
                  <a:srgbClr val="0047BA"/>
                </a:solidFill>
              </a:rPr>
              <a:t>Gait Phase &amp; Window Configuration</a:t>
            </a:r>
          </a:p>
        </p:txBody>
      </p:sp>
      <p:pic>
        <p:nvPicPr>
          <p:cNvPr id="3" name="Picture 2" descr="phase_single_vs_all.png"/>
          <p:cNvPicPr>
            <a:picLocks noChangeAspect="1"/>
          </p:cNvPicPr>
          <p:nvPr/>
        </p:nvPicPr>
        <p:blipFill>
          <a:blip r:embed="rId2"/>
          <a:stretch>
            <a:fillRect/>
          </a:stretch>
        </p:blipFill>
        <p:spPr>
          <a:xfrm>
            <a:off x="502920" y="1783080"/>
            <a:ext cx="6400800" cy="3600450"/>
          </a:xfrm>
          <a:prstGeom prst="rect">
            <a:avLst/>
          </a:prstGeom>
        </p:spPr>
      </p:pic>
      <p:sp>
        <p:nvSpPr>
          <p:cNvPr id="4" name="TextBox 3"/>
          <p:cNvSpPr txBox="1"/>
          <p:nvPr/>
        </p:nvSpPr>
        <p:spPr>
          <a:xfrm>
            <a:off x="502920" y="5394960"/>
            <a:ext cx="6400800" cy="274320"/>
          </a:xfrm>
          <a:prstGeom prst="rect">
            <a:avLst/>
          </a:prstGeom>
          <a:noFill/>
        </p:spPr>
        <p:txBody>
          <a:bodyPr wrap="square" lIns="36000" rIns="36000" tIns="18000" bIns="18000">
            <a:spAutoFit/>
          </a:bodyPr>
          <a:lstStyle/>
          <a:p>
            <a:pPr algn="ctr"/>
            <a:r>
              <a:rPr sz="1000" b="0">
                <a:solidFill>
                  <a:srgbClr val="96969A"/>
                </a:solidFill>
              </a:rPr>
              <a:t>Full Gait (6 s) vs. U-Turn (3 s) vs. Combined</a:t>
            </a:r>
          </a:p>
        </p:txBody>
      </p:sp>
      <p:sp>
        <p:nvSpPr>
          <p:cNvPr id="5" name="Rounded Rectangle 4"/>
          <p:cNvSpPr/>
          <p:nvPr/>
        </p:nvSpPr>
        <p:spPr>
          <a:xfrm>
            <a:off x="7086600" y="1783080"/>
            <a:ext cx="4754880" cy="1051560"/>
          </a:xfrm>
          <a:prstGeom prst="roundRect">
            <a:avLst>
              <a:gd name="adj" fmla="val 7000"/>
            </a:avLst>
          </a:prstGeom>
          <a:solidFill>
            <a:srgbClr val="0047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0" y="1892807"/>
            <a:ext cx="2834640" cy="411480"/>
          </a:xfrm>
          <a:prstGeom prst="rect">
            <a:avLst/>
          </a:prstGeom>
          <a:noFill/>
        </p:spPr>
        <p:txBody>
          <a:bodyPr wrap="square" lIns="36000" rIns="36000" tIns="18000" bIns="18000">
            <a:spAutoFit/>
          </a:bodyPr>
          <a:lstStyle/>
          <a:p>
            <a:pPr algn="l"/>
            <a:r>
              <a:rPr sz="1600" b="1">
                <a:solidFill>
                  <a:srgbClr val="FFFFFF"/>
                </a:solidFill>
              </a:rPr>
              <a:t>Full Gait 6 s</a:t>
            </a:r>
          </a:p>
        </p:txBody>
      </p:sp>
      <p:sp>
        <p:nvSpPr>
          <p:cNvPr id="7" name="TextBox 6"/>
          <p:cNvSpPr txBox="1"/>
          <p:nvPr/>
        </p:nvSpPr>
        <p:spPr>
          <a:xfrm>
            <a:off x="7223760" y="2286000"/>
            <a:ext cx="2834640" cy="365760"/>
          </a:xfrm>
          <a:prstGeom prst="rect">
            <a:avLst/>
          </a:prstGeom>
          <a:noFill/>
        </p:spPr>
        <p:txBody>
          <a:bodyPr wrap="square" lIns="36000" rIns="36000" tIns="18000" bIns="18000">
            <a:spAutoFit/>
          </a:bodyPr>
          <a:lstStyle/>
          <a:p>
            <a:pPr algn="l"/>
            <a:r>
              <a:rPr sz="1100" b="0">
                <a:solidFill>
                  <a:srgbClr val="FFFFFF"/>
                </a:solidFill>
              </a:rPr>
              <a:t>50% overlap</a:t>
            </a:r>
          </a:p>
        </p:txBody>
      </p:sp>
      <p:sp>
        <p:nvSpPr>
          <p:cNvPr id="8" name="TextBox 7"/>
          <p:cNvSpPr txBox="1"/>
          <p:nvPr/>
        </p:nvSpPr>
        <p:spPr>
          <a:xfrm>
            <a:off x="10012680" y="1874519"/>
            <a:ext cx="1783080" cy="868680"/>
          </a:xfrm>
          <a:prstGeom prst="rect">
            <a:avLst/>
          </a:prstGeom>
          <a:noFill/>
        </p:spPr>
        <p:txBody>
          <a:bodyPr wrap="square" lIns="36000" rIns="36000" tIns="18000" bIns="18000" anchor="ctr">
            <a:spAutoFit/>
          </a:bodyPr>
          <a:lstStyle/>
          <a:p>
            <a:pPr algn="ctr"/>
            <a:r>
              <a:rPr sz="2800" b="1">
                <a:solidFill>
                  <a:srgbClr val="FFFFFF"/>
                </a:solidFill>
              </a:rPr>
              <a:t>81.0%</a:t>
            </a:r>
          </a:p>
        </p:txBody>
      </p:sp>
      <p:sp>
        <p:nvSpPr>
          <p:cNvPr id="9" name="TextBox 8"/>
          <p:cNvSpPr txBox="1"/>
          <p:nvPr/>
        </p:nvSpPr>
        <p:spPr>
          <a:xfrm>
            <a:off x="7223760" y="1764792"/>
            <a:ext cx="1097280" cy="274320"/>
          </a:xfrm>
          <a:prstGeom prst="rect">
            <a:avLst/>
          </a:prstGeom>
          <a:noFill/>
        </p:spPr>
        <p:txBody>
          <a:bodyPr wrap="square" lIns="36000" rIns="36000" tIns="18000" bIns="18000">
            <a:spAutoFit/>
          </a:bodyPr>
          <a:lstStyle/>
          <a:p>
            <a:pPr algn="l"/>
            <a:r>
              <a:rPr sz="1000" b="1">
                <a:solidFill>
                  <a:srgbClr val="F5CE3E"/>
                </a:solidFill>
              </a:rPr>
              <a:t>★ Best</a:t>
            </a:r>
          </a:p>
        </p:txBody>
      </p:sp>
      <p:sp>
        <p:nvSpPr>
          <p:cNvPr id="10" name="Rounded Rectangle 9"/>
          <p:cNvSpPr/>
          <p:nvPr/>
        </p:nvSpPr>
        <p:spPr>
          <a:xfrm>
            <a:off x="7086600" y="2971800"/>
            <a:ext cx="4754880" cy="1051560"/>
          </a:xfrm>
          <a:prstGeom prst="roundRect">
            <a:avLst>
              <a:gd name="adj" fmla="val 7000"/>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0" y="3081528"/>
            <a:ext cx="2834640" cy="411480"/>
          </a:xfrm>
          <a:prstGeom prst="rect">
            <a:avLst/>
          </a:prstGeom>
          <a:noFill/>
        </p:spPr>
        <p:txBody>
          <a:bodyPr wrap="square" lIns="36000" rIns="36000" tIns="18000" bIns="18000">
            <a:spAutoFit/>
          </a:bodyPr>
          <a:lstStyle/>
          <a:p>
            <a:pPr algn="l"/>
            <a:r>
              <a:rPr sz="1600" b="1">
                <a:solidFill>
                  <a:srgbClr val="FFFFFF"/>
                </a:solidFill>
              </a:rPr>
              <a:t>Combined</a:t>
            </a:r>
          </a:p>
        </p:txBody>
      </p:sp>
      <p:sp>
        <p:nvSpPr>
          <p:cNvPr id="12" name="TextBox 11"/>
          <p:cNvSpPr txBox="1"/>
          <p:nvPr/>
        </p:nvSpPr>
        <p:spPr>
          <a:xfrm>
            <a:off x="7223760" y="3474720"/>
            <a:ext cx="2834640" cy="365760"/>
          </a:xfrm>
          <a:prstGeom prst="rect">
            <a:avLst/>
          </a:prstGeom>
          <a:noFill/>
        </p:spPr>
        <p:txBody>
          <a:bodyPr wrap="square" lIns="36000" rIns="36000" tIns="18000" bIns="18000">
            <a:spAutoFit/>
          </a:bodyPr>
          <a:lstStyle/>
          <a:p>
            <a:pPr algn="l"/>
            <a:r>
              <a:rPr sz="1100" b="0">
                <a:solidFill>
                  <a:srgbClr val="FFFFFF"/>
                </a:solidFill>
              </a:rPr>
              <a:t>Full + U-Turn</a:t>
            </a:r>
          </a:p>
        </p:txBody>
      </p:sp>
      <p:sp>
        <p:nvSpPr>
          <p:cNvPr id="13" name="TextBox 12"/>
          <p:cNvSpPr txBox="1"/>
          <p:nvPr/>
        </p:nvSpPr>
        <p:spPr>
          <a:xfrm>
            <a:off x="10012680" y="3063240"/>
            <a:ext cx="1783080" cy="868680"/>
          </a:xfrm>
          <a:prstGeom prst="rect">
            <a:avLst/>
          </a:prstGeom>
          <a:noFill/>
        </p:spPr>
        <p:txBody>
          <a:bodyPr wrap="square" lIns="36000" rIns="36000" tIns="18000" bIns="18000" anchor="ctr">
            <a:spAutoFit/>
          </a:bodyPr>
          <a:lstStyle/>
          <a:p>
            <a:pPr algn="ctr"/>
            <a:r>
              <a:rPr sz="2800" b="1">
                <a:solidFill>
                  <a:srgbClr val="FFFFFF"/>
                </a:solidFill>
              </a:rPr>
              <a:t>79.5%</a:t>
            </a:r>
          </a:p>
        </p:txBody>
      </p:sp>
      <p:sp>
        <p:nvSpPr>
          <p:cNvPr id="14" name="Rounded Rectangle 13"/>
          <p:cNvSpPr/>
          <p:nvPr/>
        </p:nvSpPr>
        <p:spPr>
          <a:xfrm>
            <a:off x="7086600" y="4160520"/>
            <a:ext cx="4754880" cy="1051560"/>
          </a:xfrm>
          <a:prstGeom prst="roundRect">
            <a:avLst>
              <a:gd name="adj" fmla="val 7000"/>
            </a:avLst>
          </a:prstGeom>
          <a:solidFill>
            <a:srgbClr val="84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0" y="4270248"/>
            <a:ext cx="2834640" cy="411480"/>
          </a:xfrm>
          <a:prstGeom prst="rect">
            <a:avLst/>
          </a:prstGeom>
          <a:noFill/>
        </p:spPr>
        <p:txBody>
          <a:bodyPr wrap="square" lIns="36000" rIns="36000" tIns="18000" bIns="18000">
            <a:spAutoFit/>
          </a:bodyPr>
          <a:lstStyle/>
          <a:p>
            <a:pPr algn="l"/>
            <a:r>
              <a:rPr sz="1600" b="1">
                <a:solidFill>
                  <a:srgbClr val="FFFFFF"/>
                </a:solidFill>
              </a:rPr>
              <a:t>U-Turn 3 s</a:t>
            </a:r>
          </a:p>
        </p:txBody>
      </p:sp>
      <p:sp>
        <p:nvSpPr>
          <p:cNvPr id="16" name="TextBox 15"/>
          <p:cNvSpPr txBox="1"/>
          <p:nvPr/>
        </p:nvSpPr>
        <p:spPr>
          <a:xfrm>
            <a:off x="7223760" y="4663440"/>
            <a:ext cx="2834640" cy="365760"/>
          </a:xfrm>
          <a:prstGeom prst="rect">
            <a:avLst/>
          </a:prstGeom>
          <a:noFill/>
        </p:spPr>
        <p:txBody>
          <a:bodyPr wrap="square" lIns="36000" rIns="36000" tIns="18000" bIns="18000">
            <a:spAutoFit/>
          </a:bodyPr>
          <a:lstStyle/>
          <a:p>
            <a:pPr algn="l"/>
            <a:r>
              <a:rPr sz="1100" b="0">
                <a:solidFill>
                  <a:srgbClr val="FFFFFF"/>
                </a:solidFill>
              </a:rPr>
              <a:t>0% overlap</a:t>
            </a:r>
          </a:p>
        </p:txBody>
      </p:sp>
      <p:sp>
        <p:nvSpPr>
          <p:cNvPr id="17" name="TextBox 16"/>
          <p:cNvSpPr txBox="1"/>
          <p:nvPr/>
        </p:nvSpPr>
        <p:spPr>
          <a:xfrm>
            <a:off x="10012680" y="4251959"/>
            <a:ext cx="1783080" cy="868680"/>
          </a:xfrm>
          <a:prstGeom prst="rect">
            <a:avLst/>
          </a:prstGeom>
          <a:noFill/>
        </p:spPr>
        <p:txBody>
          <a:bodyPr wrap="square" lIns="36000" rIns="36000" tIns="18000" bIns="18000" anchor="ctr">
            <a:spAutoFit/>
          </a:bodyPr>
          <a:lstStyle/>
          <a:p>
            <a:pPr algn="ctr"/>
            <a:r>
              <a:rPr sz="2800" b="1">
                <a:solidFill>
                  <a:srgbClr val="FFFFFF"/>
                </a:solidFill>
              </a:rPr>
              <a:t>74.2%</a:t>
            </a:r>
          </a:p>
        </p:txBody>
      </p:sp>
      <p:sp>
        <p:nvSpPr>
          <p:cNvPr id="18" name="Rounded Rectangle 17"/>
          <p:cNvSpPr/>
          <p:nvPr/>
        </p:nvSpPr>
        <p:spPr>
          <a:xfrm>
            <a:off x="502920" y="5760720"/>
            <a:ext cx="11338560" cy="685800"/>
          </a:xfrm>
          <a:prstGeom prst="roundRect">
            <a:avLst>
              <a:gd name="adj" fmla="val 7000"/>
            </a:avLst>
          </a:prstGeom>
          <a:solidFill>
            <a:srgbClr val="F4F8FC"/>
          </a:solidFill>
          <a:ln w="9525">
            <a:solidFill>
              <a:srgbClr val="0047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5800" y="5879592"/>
            <a:ext cx="457200" cy="457200"/>
          </a:xfrm>
          <a:prstGeom prst="roundRect">
            <a:avLst>
              <a:gd name="adj" fmla="val 25000"/>
            </a:avLst>
          </a:prstGeom>
          <a:solidFill>
            <a:srgbClr val="0047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5879592"/>
            <a:ext cx="457200" cy="457200"/>
          </a:xfrm>
          <a:prstGeom prst="rect">
            <a:avLst/>
          </a:prstGeom>
          <a:noFill/>
        </p:spPr>
        <p:txBody>
          <a:bodyPr wrap="square" lIns="36000" rIns="36000" tIns="18000" bIns="18000" anchor="ctr">
            <a:spAutoFit/>
          </a:bodyPr>
          <a:lstStyle/>
          <a:p>
            <a:pPr algn="ctr"/>
            <a:r>
              <a:rPr sz="1600" b="1">
                <a:solidFill>
                  <a:srgbClr val="FFFFFF"/>
                </a:solidFill>
              </a:rPr>
              <a:t>!</a:t>
            </a:r>
          </a:p>
        </p:txBody>
      </p:sp>
      <p:sp>
        <p:nvSpPr>
          <p:cNvPr id="21" name="TextBox 20"/>
          <p:cNvSpPr txBox="1"/>
          <p:nvPr/>
        </p:nvSpPr>
        <p:spPr>
          <a:xfrm>
            <a:off x="1280160" y="5806440"/>
            <a:ext cx="10424160" cy="594360"/>
          </a:xfrm>
          <a:prstGeom prst="rect">
            <a:avLst/>
          </a:prstGeom>
          <a:noFill/>
        </p:spPr>
        <p:txBody>
          <a:bodyPr wrap="square" lIns="36000" rIns="36000" tIns="18000" bIns="18000" anchor="ctr">
            <a:spAutoFit/>
          </a:bodyPr>
          <a:lstStyle/>
          <a:p>
            <a:pPr algn="l"/>
            <a:r>
              <a:rPr sz="1300" b="1">
                <a:solidFill>
                  <a:srgbClr val="002F7A"/>
                </a:solidFill>
              </a:rPr>
              <a:t>Steady-state gait carries the most discriminative features — U-turns dilute signal</a:t>
            </a:r>
          </a:p>
        </p:txBody>
      </p:sp>
      <p:sp>
        <p:nvSpPr>
          <p:cNvPr id="22" name="TextBox 21"/>
          <p:cNvSpPr txBox="1"/>
          <p:nvPr/>
        </p:nvSpPr>
        <p:spPr>
          <a:xfrm>
            <a:off x="457200" y="6446520"/>
            <a:ext cx="7315200" cy="274320"/>
          </a:xfrm>
          <a:prstGeom prst="rect">
            <a:avLst/>
          </a:prstGeom>
          <a:noFill/>
        </p:spPr>
        <p:txBody>
          <a:bodyPr wrap="square" lIns="36000" rIns="36000" tIns="18000" bIns="18000">
            <a:spAutoFit/>
          </a:bodyPr>
          <a:lstStyle/>
          <a:p>
            <a:pPr algn="l"/>
            <a:r>
              <a:rPr sz="1000" b="0">
                <a:solidFill>
                  <a:srgbClr val="96969A"/>
                </a:solidFill>
              </a:rPr>
              <a:t>Presenter 3  |  Phase Comparison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b="1" sz="2800">
                <a:solidFill>
                  <a:srgbClr val="0047BA"/>
                </a:solidFill>
              </a:rPr>
              <a:t>Error Modes &amp; Clinical Correlation</a:t>
            </a:r>
          </a:p>
        </p:txBody>
      </p:sp>
      <p:pic>
        <p:nvPicPr>
          <p:cNvPr id="3" name="Picture 2" descr="step07_corr_vga_stride_absAI_fixed.png"/>
          <p:cNvPicPr>
            <a:picLocks noChangeAspect="1"/>
          </p:cNvPicPr>
          <p:nvPr/>
        </p:nvPicPr>
        <p:blipFill>
          <a:blip r:embed="rId2"/>
          <a:stretch>
            <a:fillRect/>
          </a:stretch>
        </p:blipFill>
        <p:spPr>
          <a:xfrm>
            <a:off x="320040" y="1783080"/>
            <a:ext cx="7132320" cy="2616894"/>
          </a:xfrm>
          <a:prstGeom prst="rect">
            <a:avLst/>
          </a:prstGeom>
        </p:spPr>
      </p:pic>
      <p:sp>
        <p:nvSpPr>
          <p:cNvPr id="4" name="TextBox 3"/>
          <p:cNvSpPr txBox="1"/>
          <p:nvPr/>
        </p:nvSpPr>
        <p:spPr>
          <a:xfrm>
            <a:off x="320040" y="4297680"/>
            <a:ext cx="7132320" cy="274320"/>
          </a:xfrm>
          <a:prstGeom prst="rect">
            <a:avLst/>
          </a:prstGeom>
          <a:noFill/>
        </p:spPr>
        <p:txBody>
          <a:bodyPr wrap="square" lIns="36000" rIns="36000" tIns="18000" bIns="18000">
            <a:spAutoFit/>
          </a:bodyPr>
          <a:lstStyle/>
          <a:p>
            <a:pPr algn="ctr"/>
            <a:r>
              <a:rPr sz="1000" b="0">
                <a:solidFill>
                  <a:srgbClr val="96969A"/>
                </a:solidFill>
              </a:rPr>
              <a:t>VGA score vs. stride asymmetry (Spearman ρ = −0.206, n = 927)</a:t>
            </a:r>
          </a:p>
        </p:txBody>
      </p:sp>
      <p:sp>
        <p:nvSpPr>
          <p:cNvPr id="5" name="TextBox 4"/>
          <p:cNvSpPr txBox="1"/>
          <p:nvPr/>
        </p:nvSpPr>
        <p:spPr>
          <a:xfrm>
            <a:off x="7635240" y="1737360"/>
            <a:ext cx="4206240" cy="365760"/>
          </a:xfrm>
          <a:prstGeom prst="rect">
            <a:avLst/>
          </a:prstGeom>
          <a:noFill/>
        </p:spPr>
        <p:txBody>
          <a:bodyPr wrap="square" lIns="36000" rIns="36000" tIns="18000" bIns="18000">
            <a:spAutoFit/>
          </a:bodyPr>
          <a:lstStyle/>
          <a:p>
            <a:pPr algn="l"/>
            <a:r>
              <a:rPr sz="1300" b="1">
                <a:solidFill>
                  <a:srgbClr val="96969A"/>
                </a:solidFill>
              </a:rPr>
              <a:t>Main error modes</a:t>
            </a:r>
          </a:p>
        </p:txBody>
      </p:sp>
      <p:sp>
        <p:nvSpPr>
          <p:cNvPr id="6" name="Rounded Rectangle 5"/>
          <p:cNvSpPr/>
          <p:nvPr/>
        </p:nvSpPr>
        <p:spPr>
          <a:xfrm>
            <a:off x="7635240" y="2148840"/>
            <a:ext cx="4206240" cy="822960"/>
          </a:xfrm>
          <a:prstGeom prst="roundRect">
            <a:avLst>
              <a:gd name="adj" fmla="val 7000"/>
            </a:avLst>
          </a:prstGeom>
          <a:solidFill>
            <a:srgbClr val="E53E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2194560"/>
            <a:ext cx="2514600" cy="411480"/>
          </a:xfrm>
          <a:prstGeom prst="rect">
            <a:avLst/>
          </a:prstGeom>
          <a:noFill/>
        </p:spPr>
        <p:txBody>
          <a:bodyPr wrap="square" lIns="36000" rIns="36000" tIns="18000" bIns="18000">
            <a:spAutoFit/>
          </a:bodyPr>
          <a:lstStyle/>
          <a:p>
            <a:pPr algn="l"/>
            <a:r>
              <a:rPr sz="1300" b="1">
                <a:solidFill>
                  <a:srgbClr val="FFFFFF"/>
                </a:solidFill>
              </a:rPr>
              <a:t>Severe → Mild</a:t>
            </a:r>
          </a:p>
        </p:txBody>
      </p:sp>
      <p:sp>
        <p:nvSpPr>
          <p:cNvPr id="8" name="TextBox 7"/>
          <p:cNvSpPr txBox="1"/>
          <p:nvPr/>
        </p:nvSpPr>
        <p:spPr>
          <a:xfrm>
            <a:off x="7772400" y="2587752"/>
            <a:ext cx="2514600" cy="365760"/>
          </a:xfrm>
          <a:prstGeom prst="rect">
            <a:avLst/>
          </a:prstGeom>
          <a:noFill/>
        </p:spPr>
        <p:txBody>
          <a:bodyPr wrap="square" lIns="36000" rIns="36000" tIns="18000" bIns="18000">
            <a:spAutoFit/>
          </a:bodyPr>
          <a:lstStyle/>
          <a:p>
            <a:pPr algn="l"/>
            <a:r>
              <a:rPr sz="1000" b="0">
                <a:solidFill>
                  <a:srgbClr val="FFFFFF"/>
                </a:solidFill>
              </a:rPr>
              <a:t>Late-recovery patients</a:t>
            </a:r>
          </a:p>
        </p:txBody>
      </p:sp>
      <p:sp>
        <p:nvSpPr>
          <p:cNvPr id="9" name="TextBox 8"/>
          <p:cNvSpPr txBox="1"/>
          <p:nvPr/>
        </p:nvSpPr>
        <p:spPr>
          <a:xfrm>
            <a:off x="10241280" y="2240280"/>
            <a:ext cx="1508760" cy="640080"/>
          </a:xfrm>
          <a:prstGeom prst="rect">
            <a:avLst/>
          </a:prstGeom>
          <a:noFill/>
        </p:spPr>
        <p:txBody>
          <a:bodyPr wrap="square" lIns="36000" rIns="36000" tIns="18000" bIns="18000" anchor="ctr">
            <a:spAutoFit/>
          </a:bodyPr>
          <a:lstStyle/>
          <a:p>
            <a:pPr algn="ctr"/>
            <a:r>
              <a:rPr sz="2200" b="1">
                <a:solidFill>
                  <a:srgbClr val="FFFFFF"/>
                </a:solidFill>
              </a:rPr>
              <a:t>12.3%</a:t>
            </a:r>
          </a:p>
        </p:txBody>
      </p:sp>
      <p:sp>
        <p:nvSpPr>
          <p:cNvPr id="10" name="Rounded Rectangle 9"/>
          <p:cNvSpPr/>
          <p:nvPr/>
        </p:nvSpPr>
        <p:spPr>
          <a:xfrm>
            <a:off x="7635240" y="3063240"/>
            <a:ext cx="4206240" cy="822960"/>
          </a:xfrm>
          <a:prstGeom prst="roundRect">
            <a:avLst>
              <a:gd name="adj" fmla="val 7000"/>
            </a:avLst>
          </a:prstGeom>
          <a:solidFill>
            <a:srgbClr val="F5CE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0" y="3108960"/>
            <a:ext cx="2514600" cy="411480"/>
          </a:xfrm>
          <a:prstGeom prst="rect">
            <a:avLst/>
          </a:prstGeom>
          <a:noFill/>
        </p:spPr>
        <p:txBody>
          <a:bodyPr wrap="square" lIns="36000" rIns="36000" tIns="18000" bIns="18000">
            <a:spAutoFit/>
          </a:bodyPr>
          <a:lstStyle/>
          <a:p>
            <a:pPr algn="l"/>
            <a:r>
              <a:rPr sz="1300" b="1">
                <a:solidFill>
                  <a:srgbClr val="FFFFFF"/>
                </a:solidFill>
              </a:rPr>
              <a:t>Mild → HC</a:t>
            </a:r>
          </a:p>
        </p:txBody>
      </p:sp>
      <p:sp>
        <p:nvSpPr>
          <p:cNvPr id="12" name="TextBox 11"/>
          <p:cNvSpPr txBox="1"/>
          <p:nvPr/>
        </p:nvSpPr>
        <p:spPr>
          <a:xfrm>
            <a:off x="7772400" y="3502152"/>
            <a:ext cx="2514600" cy="365760"/>
          </a:xfrm>
          <a:prstGeom prst="rect">
            <a:avLst/>
          </a:prstGeom>
          <a:noFill/>
        </p:spPr>
        <p:txBody>
          <a:bodyPr wrap="square" lIns="36000" rIns="36000" tIns="18000" bIns="18000">
            <a:spAutoFit/>
          </a:bodyPr>
          <a:lstStyle/>
          <a:p>
            <a:pPr algn="l"/>
            <a:r>
              <a:rPr sz="1000" b="0">
                <a:solidFill>
                  <a:srgbClr val="FFFFFF"/>
                </a:solidFill>
              </a:rPr>
              <a:t>Near-normal gait</a:t>
            </a:r>
          </a:p>
        </p:txBody>
      </p:sp>
      <p:sp>
        <p:nvSpPr>
          <p:cNvPr id="13" name="TextBox 12"/>
          <p:cNvSpPr txBox="1"/>
          <p:nvPr/>
        </p:nvSpPr>
        <p:spPr>
          <a:xfrm>
            <a:off x="10241280" y="3154680"/>
            <a:ext cx="1508760" cy="640080"/>
          </a:xfrm>
          <a:prstGeom prst="rect">
            <a:avLst/>
          </a:prstGeom>
          <a:noFill/>
        </p:spPr>
        <p:txBody>
          <a:bodyPr wrap="square" lIns="36000" rIns="36000" tIns="18000" bIns="18000" anchor="ctr">
            <a:spAutoFit/>
          </a:bodyPr>
          <a:lstStyle/>
          <a:p>
            <a:pPr algn="ctr"/>
            <a:r>
              <a:rPr sz="2200" b="1">
                <a:solidFill>
                  <a:srgbClr val="FFFFFF"/>
                </a:solidFill>
              </a:rPr>
              <a:t>8.1%</a:t>
            </a:r>
          </a:p>
        </p:txBody>
      </p:sp>
      <p:sp>
        <p:nvSpPr>
          <p:cNvPr id="14" name="Rounded Rectangle 13"/>
          <p:cNvSpPr/>
          <p:nvPr/>
        </p:nvSpPr>
        <p:spPr>
          <a:xfrm>
            <a:off x="7635240" y="3977639"/>
            <a:ext cx="4206240" cy="822960"/>
          </a:xfrm>
          <a:prstGeom prst="roundRect">
            <a:avLst>
              <a:gd name="adj" fmla="val 7000"/>
            </a:avLst>
          </a:prstGeom>
          <a:solidFill>
            <a:srgbClr val="84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0" y="4023359"/>
            <a:ext cx="2514600" cy="411480"/>
          </a:xfrm>
          <a:prstGeom prst="rect">
            <a:avLst/>
          </a:prstGeom>
          <a:noFill/>
        </p:spPr>
        <p:txBody>
          <a:bodyPr wrap="square" lIns="36000" rIns="36000" tIns="18000" bIns="18000">
            <a:spAutoFit/>
          </a:bodyPr>
          <a:lstStyle/>
          <a:p>
            <a:pPr algn="l"/>
            <a:r>
              <a:rPr sz="1300" b="1">
                <a:solidFill>
                  <a:srgbClr val="FFFFFF"/>
                </a:solidFill>
              </a:rPr>
              <a:t>Mild → Severe</a:t>
            </a:r>
          </a:p>
        </p:txBody>
      </p:sp>
      <p:sp>
        <p:nvSpPr>
          <p:cNvPr id="16" name="TextBox 15"/>
          <p:cNvSpPr txBox="1"/>
          <p:nvPr/>
        </p:nvSpPr>
        <p:spPr>
          <a:xfrm>
            <a:off x="7772400" y="4416552"/>
            <a:ext cx="2514600" cy="365760"/>
          </a:xfrm>
          <a:prstGeom prst="rect">
            <a:avLst/>
          </a:prstGeom>
          <a:noFill/>
        </p:spPr>
        <p:txBody>
          <a:bodyPr wrap="square" lIns="36000" rIns="36000" tIns="18000" bIns="18000">
            <a:spAutoFit/>
          </a:bodyPr>
          <a:lstStyle/>
          <a:p>
            <a:pPr algn="l"/>
            <a:r>
              <a:rPr sz="1000" b="0">
                <a:solidFill>
                  <a:srgbClr val="FFFFFF"/>
                </a:solidFill>
              </a:rPr>
              <a:t>Compensatory patterns</a:t>
            </a:r>
          </a:p>
        </p:txBody>
      </p:sp>
      <p:sp>
        <p:nvSpPr>
          <p:cNvPr id="17" name="TextBox 16"/>
          <p:cNvSpPr txBox="1"/>
          <p:nvPr/>
        </p:nvSpPr>
        <p:spPr>
          <a:xfrm>
            <a:off x="10241280" y="4069079"/>
            <a:ext cx="1508760" cy="640080"/>
          </a:xfrm>
          <a:prstGeom prst="rect">
            <a:avLst/>
          </a:prstGeom>
          <a:noFill/>
        </p:spPr>
        <p:txBody>
          <a:bodyPr wrap="square" lIns="36000" rIns="36000" tIns="18000" bIns="18000" anchor="ctr">
            <a:spAutoFit/>
          </a:bodyPr>
          <a:lstStyle/>
          <a:p>
            <a:pPr algn="ctr"/>
            <a:r>
              <a:rPr sz="2200" b="1">
                <a:solidFill>
                  <a:srgbClr val="FFFFFF"/>
                </a:solidFill>
              </a:rPr>
              <a:t>5.7%</a:t>
            </a:r>
          </a:p>
        </p:txBody>
      </p:sp>
      <p:sp>
        <p:nvSpPr>
          <p:cNvPr id="18" name="Rounded Rectangle 17"/>
          <p:cNvSpPr/>
          <p:nvPr/>
        </p:nvSpPr>
        <p:spPr>
          <a:xfrm>
            <a:off x="502920" y="4800600"/>
            <a:ext cx="2926080" cy="1371600"/>
          </a:xfrm>
          <a:prstGeom prst="roundRect">
            <a:avLst>
              <a:gd name="adj" fmla="val 7000"/>
            </a:avLst>
          </a:prstGeom>
          <a:solidFill>
            <a:srgbClr val="0047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4873752"/>
            <a:ext cx="2926080" cy="822960"/>
          </a:xfrm>
          <a:prstGeom prst="rect">
            <a:avLst/>
          </a:prstGeom>
          <a:noFill/>
        </p:spPr>
        <p:txBody>
          <a:bodyPr wrap="square" lIns="36000" rIns="36000" tIns="18000" bIns="18000" anchor="ctr">
            <a:spAutoFit/>
          </a:bodyPr>
          <a:lstStyle/>
          <a:p>
            <a:pPr algn="ctr"/>
            <a:r>
              <a:rPr sz="3600" b="1">
                <a:solidFill>
                  <a:srgbClr val="FFFFFF"/>
                </a:solidFill>
              </a:rPr>
              <a:t>r = 0.68</a:t>
            </a:r>
          </a:p>
        </p:txBody>
      </p:sp>
      <p:sp>
        <p:nvSpPr>
          <p:cNvPr id="20" name="TextBox 19"/>
          <p:cNvSpPr txBox="1"/>
          <p:nvPr/>
        </p:nvSpPr>
        <p:spPr>
          <a:xfrm>
            <a:off x="502920" y="5715000"/>
            <a:ext cx="2926080" cy="411480"/>
          </a:xfrm>
          <a:prstGeom prst="rect">
            <a:avLst/>
          </a:prstGeom>
          <a:noFill/>
        </p:spPr>
        <p:txBody>
          <a:bodyPr wrap="square" lIns="36000" rIns="36000" tIns="18000" bIns="18000">
            <a:spAutoFit/>
          </a:bodyPr>
          <a:lstStyle/>
          <a:p>
            <a:pPr algn="ctr"/>
            <a:r>
              <a:rPr sz="1000" b="0">
                <a:solidFill>
                  <a:srgbClr val="FFFFFF"/>
                </a:solidFill>
              </a:rPr>
              <a:t>VGA ↔ stride variability (p&lt;0.001)</a:t>
            </a:r>
          </a:p>
        </p:txBody>
      </p:sp>
      <p:sp>
        <p:nvSpPr>
          <p:cNvPr id="21" name="Rounded Rectangle 20"/>
          <p:cNvSpPr/>
          <p:nvPr/>
        </p:nvSpPr>
        <p:spPr>
          <a:xfrm>
            <a:off x="3611880" y="4800600"/>
            <a:ext cx="8229600" cy="1371600"/>
          </a:xfrm>
          <a:prstGeom prst="roundRect">
            <a:avLst>
              <a:gd name="adj" fmla="val 7000"/>
            </a:avLst>
          </a:prstGeom>
          <a:solidFill>
            <a:srgbClr val="F4F8FC"/>
          </a:solidFill>
          <a:ln w="9525">
            <a:solidFill>
              <a:srgbClr val="0047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49039" y="4892040"/>
            <a:ext cx="228600" cy="320040"/>
          </a:xfrm>
          <a:prstGeom prst="rect">
            <a:avLst/>
          </a:prstGeom>
          <a:noFill/>
        </p:spPr>
        <p:txBody>
          <a:bodyPr wrap="square" lIns="36000" rIns="36000" tIns="18000" bIns="18000">
            <a:spAutoFit/>
          </a:bodyPr>
          <a:lstStyle/>
          <a:p>
            <a:pPr algn="l"/>
            <a:r>
              <a:rPr sz="1200" b="1">
                <a:solidFill>
                  <a:srgbClr val="00CE7C"/>
                </a:solidFill>
              </a:rPr>
              <a:t>→</a:t>
            </a:r>
          </a:p>
        </p:txBody>
      </p:sp>
      <p:sp>
        <p:nvSpPr>
          <p:cNvPr id="23" name="TextBox 22"/>
          <p:cNvSpPr txBox="1"/>
          <p:nvPr/>
        </p:nvSpPr>
        <p:spPr>
          <a:xfrm>
            <a:off x="4023360" y="4873752"/>
            <a:ext cx="7772400" cy="365760"/>
          </a:xfrm>
          <a:prstGeom prst="rect">
            <a:avLst/>
          </a:prstGeom>
          <a:noFill/>
        </p:spPr>
        <p:txBody>
          <a:bodyPr wrap="square" lIns="36000" rIns="36000" tIns="18000" bIns="18000" anchor="ctr">
            <a:spAutoFit/>
          </a:bodyPr>
          <a:lstStyle/>
          <a:p>
            <a:pPr algn="l"/>
            <a:r>
              <a:rPr sz="1200" b="0">
                <a:solidFill>
                  <a:srgbClr val="2B2B2B"/>
                </a:solidFill>
              </a:rPr>
              <a:t>Cohen's d: asymmetry indices show large effects between Mild and Severe</a:t>
            </a:r>
          </a:p>
        </p:txBody>
      </p:sp>
      <p:sp>
        <p:nvSpPr>
          <p:cNvPr id="24" name="TextBox 23"/>
          <p:cNvSpPr txBox="1"/>
          <p:nvPr/>
        </p:nvSpPr>
        <p:spPr>
          <a:xfrm>
            <a:off x="3749039" y="5276088"/>
            <a:ext cx="228600" cy="320040"/>
          </a:xfrm>
          <a:prstGeom prst="rect">
            <a:avLst/>
          </a:prstGeom>
          <a:noFill/>
        </p:spPr>
        <p:txBody>
          <a:bodyPr wrap="square" lIns="36000" rIns="36000" tIns="18000" bIns="18000">
            <a:spAutoFit/>
          </a:bodyPr>
          <a:lstStyle/>
          <a:p>
            <a:pPr algn="l"/>
            <a:r>
              <a:rPr sz="1200" b="1">
                <a:solidFill>
                  <a:srgbClr val="00CE7C"/>
                </a:solidFill>
              </a:rPr>
              <a:t>→</a:t>
            </a:r>
          </a:p>
        </p:txBody>
      </p:sp>
      <p:sp>
        <p:nvSpPr>
          <p:cNvPr id="25" name="TextBox 24"/>
          <p:cNvSpPr txBox="1"/>
          <p:nvPr/>
        </p:nvSpPr>
        <p:spPr>
          <a:xfrm>
            <a:off x="4023360" y="5257800"/>
            <a:ext cx="7772400" cy="365760"/>
          </a:xfrm>
          <a:prstGeom prst="rect">
            <a:avLst/>
          </a:prstGeom>
          <a:noFill/>
        </p:spPr>
        <p:txBody>
          <a:bodyPr wrap="square" lIns="36000" rIns="36000" tIns="18000" bIns="18000" anchor="ctr">
            <a:spAutoFit/>
          </a:bodyPr>
          <a:lstStyle/>
          <a:p>
            <a:pPr algn="l"/>
            <a:r>
              <a:rPr sz="1200" b="0">
                <a:solidFill>
                  <a:srgbClr val="2B2B2B"/>
                </a:solidFill>
              </a:rPr>
              <a:t>ML errors cluster where clinicians also disagree (ordinal boundaries)</a:t>
            </a:r>
          </a:p>
        </p:txBody>
      </p:sp>
      <p:sp>
        <p:nvSpPr>
          <p:cNvPr id="26" name="TextBox 25"/>
          <p:cNvSpPr txBox="1"/>
          <p:nvPr/>
        </p:nvSpPr>
        <p:spPr>
          <a:xfrm>
            <a:off x="3749039" y="5660136"/>
            <a:ext cx="228600" cy="320040"/>
          </a:xfrm>
          <a:prstGeom prst="rect">
            <a:avLst/>
          </a:prstGeom>
          <a:noFill/>
        </p:spPr>
        <p:txBody>
          <a:bodyPr wrap="square" lIns="36000" rIns="36000" tIns="18000" bIns="18000">
            <a:spAutoFit/>
          </a:bodyPr>
          <a:lstStyle/>
          <a:p>
            <a:pPr algn="l"/>
            <a:r>
              <a:rPr sz="1200" b="1">
                <a:solidFill>
                  <a:srgbClr val="00CE7C"/>
                </a:solidFill>
              </a:rPr>
              <a:t>→</a:t>
            </a:r>
          </a:p>
        </p:txBody>
      </p:sp>
      <p:sp>
        <p:nvSpPr>
          <p:cNvPr id="27" name="TextBox 26"/>
          <p:cNvSpPr txBox="1"/>
          <p:nvPr/>
        </p:nvSpPr>
        <p:spPr>
          <a:xfrm>
            <a:off x="4023360" y="5641848"/>
            <a:ext cx="7772400" cy="365760"/>
          </a:xfrm>
          <a:prstGeom prst="rect">
            <a:avLst/>
          </a:prstGeom>
          <a:noFill/>
        </p:spPr>
        <p:txBody>
          <a:bodyPr wrap="square" lIns="36000" rIns="36000" tIns="18000" bIns="18000" anchor="ctr">
            <a:spAutoFit/>
          </a:bodyPr>
          <a:lstStyle/>
          <a:p>
            <a:pPr algn="l"/>
            <a:r>
              <a:rPr sz="1200" b="0">
                <a:solidFill>
                  <a:srgbClr val="2B2B2B"/>
                </a:solidFill>
              </a:rPr>
              <a:t>IMU-derived features provide objective complement to subjective VGA</a:t>
            </a:r>
          </a:p>
        </p:txBody>
      </p:sp>
      <p:sp>
        <p:nvSpPr>
          <p:cNvPr id="28" name="TextBox 27"/>
          <p:cNvSpPr txBox="1"/>
          <p:nvPr/>
        </p:nvSpPr>
        <p:spPr>
          <a:xfrm>
            <a:off x="457200" y="6446520"/>
            <a:ext cx="7315200" cy="274320"/>
          </a:xfrm>
          <a:prstGeom prst="rect">
            <a:avLst/>
          </a:prstGeom>
          <a:noFill/>
        </p:spPr>
        <p:txBody>
          <a:bodyPr wrap="square" lIns="36000" rIns="36000" tIns="18000" bIns="18000">
            <a:spAutoFit/>
          </a:bodyPr>
          <a:lstStyle/>
          <a:p>
            <a:pPr algn="l"/>
            <a:r>
              <a:rPr sz="1000" b="0">
                <a:solidFill>
                  <a:srgbClr val="96969A"/>
                </a:solidFill>
              </a:rPr>
              <a:t>Presenter 3  |  Error Analysis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b="1" sz="2800">
                <a:solidFill>
                  <a:srgbClr val="0047BA"/>
                </a:solidFill>
              </a:rPr>
              <a:t>Leave-One-Cohort-Out  &amp;  Nested CV</a:t>
            </a:r>
          </a:p>
        </p:txBody>
      </p:sp>
      <p:sp>
        <p:nvSpPr>
          <p:cNvPr id="3" name="Rounded Rectangle 2"/>
          <p:cNvSpPr/>
          <p:nvPr/>
        </p:nvSpPr>
        <p:spPr>
          <a:xfrm>
            <a:off x="502920" y="1783080"/>
            <a:ext cx="2697480" cy="1234440"/>
          </a:xfrm>
          <a:prstGeom prst="roundRect">
            <a:avLst>
              <a:gd name="adj" fmla="val 7000"/>
            </a:avLst>
          </a:prstGeom>
          <a:solidFill>
            <a:srgbClr val="0047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874519"/>
            <a:ext cx="2697480" cy="411480"/>
          </a:xfrm>
          <a:prstGeom prst="rect">
            <a:avLst/>
          </a:prstGeom>
          <a:noFill/>
        </p:spPr>
        <p:txBody>
          <a:bodyPr wrap="square" lIns="36000" rIns="36000" tIns="18000" bIns="18000">
            <a:spAutoFit/>
          </a:bodyPr>
          <a:lstStyle/>
          <a:p>
            <a:pPr algn="ctr"/>
            <a:r>
              <a:rPr sz="1300" b="1">
                <a:solidFill>
                  <a:srgbClr val="FFFFFF"/>
                </a:solidFill>
              </a:rPr>
              <a:t>Calcaneus Fx</a:t>
            </a:r>
          </a:p>
        </p:txBody>
      </p:sp>
      <p:sp>
        <p:nvSpPr>
          <p:cNvPr id="5" name="TextBox 4"/>
          <p:cNvSpPr txBox="1"/>
          <p:nvPr/>
        </p:nvSpPr>
        <p:spPr>
          <a:xfrm>
            <a:off x="502920" y="2286000"/>
            <a:ext cx="2697480" cy="640080"/>
          </a:xfrm>
          <a:prstGeom prst="rect">
            <a:avLst/>
          </a:prstGeom>
          <a:noFill/>
        </p:spPr>
        <p:txBody>
          <a:bodyPr wrap="square" lIns="36000" rIns="36000" tIns="18000" bIns="18000" anchor="ctr">
            <a:spAutoFit/>
          </a:bodyPr>
          <a:lstStyle/>
          <a:p>
            <a:pPr algn="ctr"/>
            <a:r>
              <a:rPr sz="2800" b="1">
                <a:solidFill>
                  <a:srgbClr val="FFFFFF"/>
                </a:solidFill>
              </a:rPr>
              <a:t>76.8%</a:t>
            </a:r>
          </a:p>
        </p:txBody>
      </p:sp>
      <p:sp>
        <p:nvSpPr>
          <p:cNvPr id="6" name="Rounded Rectangle 5"/>
          <p:cNvSpPr/>
          <p:nvPr/>
        </p:nvSpPr>
        <p:spPr>
          <a:xfrm>
            <a:off x="3310128" y="1783080"/>
            <a:ext cx="2697480" cy="1234440"/>
          </a:xfrm>
          <a:prstGeom prst="roundRect">
            <a:avLst>
              <a:gd name="adj" fmla="val 7000"/>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10128" y="1874519"/>
            <a:ext cx="2697480" cy="411480"/>
          </a:xfrm>
          <a:prstGeom prst="rect">
            <a:avLst/>
          </a:prstGeom>
          <a:noFill/>
        </p:spPr>
        <p:txBody>
          <a:bodyPr wrap="square" lIns="36000" rIns="36000" tIns="18000" bIns="18000">
            <a:spAutoFit/>
          </a:bodyPr>
          <a:lstStyle/>
          <a:p>
            <a:pPr algn="ctr"/>
            <a:r>
              <a:rPr sz="1300" b="1">
                <a:solidFill>
                  <a:srgbClr val="FFFFFF"/>
                </a:solidFill>
              </a:rPr>
              <a:t>Ankle Fx</a:t>
            </a:r>
          </a:p>
        </p:txBody>
      </p:sp>
      <p:sp>
        <p:nvSpPr>
          <p:cNvPr id="8" name="TextBox 7"/>
          <p:cNvSpPr txBox="1"/>
          <p:nvPr/>
        </p:nvSpPr>
        <p:spPr>
          <a:xfrm>
            <a:off x="3310128" y="2286000"/>
            <a:ext cx="2697480" cy="640080"/>
          </a:xfrm>
          <a:prstGeom prst="rect">
            <a:avLst/>
          </a:prstGeom>
          <a:noFill/>
        </p:spPr>
        <p:txBody>
          <a:bodyPr wrap="square" lIns="36000" rIns="36000" tIns="18000" bIns="18000" anchor="ctr">
            <a:spAutoFit/>
          </a:bodyPr>
          <a:lstStyle/>
          <a:p>
            <a:pPr algn="ctr"/>
            <a:r>
              <a:rPr sz="2800" b="1">
                <a:solidFill>
                  <a:srgbClr val="FFFFFF"/>
                </a:solidFill>
              </a:rPr>
              <a:t>79.2%</a:t>
            </a:r>
          </a:p>
        </p:txBody>
      </p:sp>
      <p:sp>
        <p:nvSpPr>
          <p:cNvPr id="9" name="Rounded Rectangle 8"/>
          <p:cNvSpPr/>
          <p:nvPr/>
        </p:nvSpPr>
        <p:spPr>
          <a:xfrm>
            <a:off x="6117336" y="1783080"/>
            <a:ext cx="2697480" cy="1234440"/>
          </a:xfrm>
          <a:prstGeom prst="roundRect">
            <a:avLst>
              <a:gd name="adj" fmla="val 7000"/>
            </a:avLst>
          </a:prstGeom>
          <a:solidFill>
            <a:srgbClr val="E53E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17336" y="1874519"/>
            <a:ext cx="2697480" cy="411480"/>
          </a:xfrm>
          <a:prstGeom prst="rect">
            <a:avLst/>
          </a:prstGeom>
          <a:noFill/>
        </p:spPr>
        <p:txBody>
          <a:bodyPr wrap="square" lIns="36000" rIns="36000" tIns="18000" bIns="18000">
            <a:spAutoFit/>
          </a:bodyPr>
          <a:lstStyle/>
          <a:p>
            <a:pPr algn="ctr"/>
            <a:r>
              <a:rPr sz="1300" b="1">
                <a:solidFill>
                  <a:srgbClr val="FFFFFF"/>
                </a:solidFill>
              </a:rPr>
              <a:t>Tibial Plat. Fx</a:t>
            </a:r>
          </a:p>
        </p:txBody>
      </p:sp>
      <p:sp>
        <p:nvSpPr>
          <p:cNvPr id="11" name="TextBox 10"/>
          <p:cNvSpPr txBox="1"/>
          <p:nvPr/>
        </p:nvSpPr>
        <p:spPr>
          <a:xfrm>
            <a:off x="6117336" y="2286000"/>
            <a:ext cx="2697480" cy="640080"/>
          </a:xfrm>
          <a:prstGeom prst="rect">
            <a:avLst/>
          </a:prstGeom>
          <a:noFill/>
        </p:spPr>
        <p:txBody>
          <a:bodyPr wrap="square" lIns="36000" rIns="36000" tIns="18000" bIns="18000" anchor="ctr">
            <a:spAutoFit/>
          </a:bodyPr>
          <a:lstStyle/>
          <a:p>
            <a:pPr algn="ctr"/>
            <a:r>
              <a:rPr sz="2800" b="1">
                <a:solidFill>
                  <a:srgbClr val="FFFFFF"/>
                </a:solidFill>
              </a:rPr>
              <a:t>73.5%</a:t>
            </a:r>
          </a:p>
        </p:txBody>
      </p:sp>
      <p:sp>
        <p:nvSpPr>
          <p:cNvPr id="12" name="Rounded Rectangle 11"/>
          <p:cNvSpPr/>
          <p:nvPr/>
        </p:nvSpPr>
        <p:spPr>
          <a:xfrm>
            <a:off x="8924544" y="1783080"/>
            <a:ext cx="2697480" cy="1234440"/>
          </a:xfrm>
          <a:prstGeom prst="roundRect">
            <a:avLst>
              <a:gd name="adj" fmla="val 7000"/>
            </a:avLst>
          </a:prstGeom>
          <a:solidFill>
            <a:srgbClr val="E53E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24544" y="1874519"/>
            <a:ext cx="2697480" cy="411480"/>
          </a:xfrm>
          <a:prstGeom prst="rect">
            <a:avLst/>
          </a:prstGeom>
          <a:noFill/>
        </p:spPr>
        <p:txBody>
          <a:bodyPr wrap="square" lIns="36000" rIns="36000" tIns="18000" bIns="18000">
            <a:spAutoFit/>
          </a:bodyPr>
          <a:lstStyle/>
          <a:p>
            <a:pPr algn="ctr"/>
            <a:r>
              <a:rPr sz="1300" b="1">
                <a:solidFill>
                  <a:srgbClr val="FFFFFF"/>
                </a:solidFill>
              </a:rPr>
              <a:t>Femoral Fx</a:t>
            </a:r>
          </a:p>
        </p:txBody>
      </p:sp>
      <p:sp>
        <p:nvSpPr>
          <p:cNvPr id="14" name="TextBox 13"/>
          <p:cNvSpPr txBox="1"/>
          <p:nvPr/>
        </p:nvSpPr>
        <p:spPr>
          <a:xfrm>
            <a:off x="8924544" y="2286000"/>
            <a:ext cx="2697480" cy="640080"/>
          </a:xfrm>
          <a:prstGeom prst="rect">
            <a:avLst/>
          </a:prstGeom>
          <a:noFill/>
        </p:spPr>
        <p:txBody>
          <a:bodyPr wrap="square" lIns="36000" rIns="36000" tIns="18000" bIns="18000" anchor="ctr">
            <a:spAutoFit/>
          </a:bodyPr>
          <a:lstStyle/>
          <a:p>
            <a:pPr algn="ctr"/>
            <a:r>
              <a:rPr sz="2800" b="1">
                <a:solidFill>
                  <a:srgbClr val="FFFFFF"/>
                </a:solidFill>
              </a:rPr>
              <a:t>71.9%</a:t>
            </a:r>
          </a:p>
        </p:txBody>
      </p:sp>
      <p:sp>
        <p:nvSpPr>
          <p:cNvPr id="15" name="Rounded Rectangle 14"/>
          <p:cNvSpPr/>
          <p:nvPr/>
        </p:nvSpPr>
        <p:spPr>
          <a:xfrm>
            <a:off x="502920" y="3200400"/>
            <a:ext cx="2697480" cy="1234440"/>
          </a:xfrm>
          <a:prstGeom prst="roundRect">
            <a:avLst>
              <a:gd name="adj" fmla="val 7000"/>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291840"/>
            <a:ext cx="2697480" cy="411480"/>
          </a:xfrm>
          <a:prstGeom prst="rect">
            <a:avLst/>
          </a:prstGeom>
          <a:noFill/>
        </p:spPr>
        <p:txBody>
          <a:bodyPr wrap="square" lIns="36000" rIns="36000" tIns="18000" bIns="18000">
            <a:spAutoFit/>
          </a:bodyPr>
          <a:lstStyle/>
          <a:p>
            <a:pPr algn="ctr"/>
            <a:r>
              <a:rPr sz="1300" b="1">
                <a:solidFill>
                  <a:srgbClr val="FFFFFF"/>
                </a:solidFill>
              </a:rPr>
              <a:t>Knee Replace.</a:t>
            </a:r>
          </a:p>
        </p:txBody>
      </p:sp>
      <p:sp>
        <p:nvSpPr>
          <p:cNvPr id="17" name="TextBox 16"/>
          <p:cNvSpPr txBox="1"/>
          <p:nvPr/>
        </p:nvSpPr>
        <p:spPr>
          <a:xfrm>
            <a:off x="502920" y="3703320"/>
            <a:ext cx="2697480" cy="640080"/>
          </a:xfrm>
          <a:prstGeom prst="rect">
            <a:avLst/>
          </a:prstGeom>
          <a:noFill/>
        </p:spPr>
        <p:txBody>
          <a:bodyPr wrap="square" lIns="36000" rIns="36000" tIns="18000" bIns="18000" anchor="ctr">
            <a:spAutoFit/>
          </a:bodyPr>
          <a:lstStyle/>
          <a:p>
            <a:pPr algn="ctr"/>
            <a:r>
              <a:rPr sz="2800" b="1">
                <a:solidFill>
                  <a:srgbClr val="FFFFFF"/>
                </a:solidFill>
              </a:rPr>
              <a:t>78.4%</a:t>
            </a:r>
          </a:p>
        </p:txBody>
      </p:sp>
      <p:sp>
        <p:nvSpPr>
          <p:cNvPr id="18" name="Rounded Rectangle 17"/>
          <p:cNvSpPr/>
          <p:nvPr/>
        </p:nvSpPr>
        <p:spPr>
          <a:xfrm>
            <a:off x="3310128" y="3200400"/>
            <a:ext cx="2697480" cy="1234440"/>
          </a:xfrm>
          <a:prstGeom prst="roundRect">
            <a:avLst>
              <a:gd name="adj" fmla="val 7000"/>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10128" y="3291840"/>
            <a:ext cx="2697480" cy="411480"/>
          </a:xfrm>
          <a:prstGeom prst="rect">
            <a:avLst/>
          </a:prstGeom>
          <a:noFill/>
        </p:spPr>
        <p:txBody>
          <a:bodyPr wrap="square" lIns="36000" rIns="36000" tIns="18000" bIns="18000">
            <a:spAutoFit/>
          </a:bodyPr>
          <a:lstStyle/>
          <a:p>
            <a:pPr algn="ctr"/>
            <a:r>
              <a:rPr sz="1300" b="1">
                <a:solidFill>
                  <a:srgbClr val="FFFFFF"/>
                </a:solidFill>
              </a:rPr>
              <a:t>Hip Replace.</a:t>
            </a:r>
          </a:p>
        </p:txBody>
      </p:sp>
      <p:sp>
        <p:nvSpPr>
          <p:cNvPr id="20" name="TextBox 19"/>
          <p:cNvSpPr txBox="1"/>
          <p:nvPr/>
        </p:nvSpPr>
        <p:spPr>
          <a:xfrm>
            <a:off x="3310128" y="3703320"/>
            <a:ext cx="2697480" cy="640080"/>
          </a:xfrm>
          <a:prstGeom prst="rect">
            <a:avLst/>
          </a:prstGeom>
          <a:noFill/>
        </p:spPr>
        <p:txBody>
          <a:bodyPr wrap="square" lIns="36000" rIns="36000" tIns="18000" bIns="18000" anchor="ctr">
            <a:spAutoFit/>
          </a:bodyPr>
          <a:lstStyle/>
          <a:p>
            <a:pPr algn="ctr"/>
            <a:r>
              <a:rPr sz="2800" b="1">
                <a:solidFill>
                  <a:srgbClr val="FFFFFF"/>
                </a:solidFill>
              </a:rPr>
              <a:t>80.1%</a:t>
            </a:r>
          </a:p>
        </p:txBody>
      </p:sp>
      <p:sp>
        <p:nvSpPr>
          <p:cNvPr id="21" name="Rounded Rectangle 20"/>
          <p:cNvSpPr/>
          <p:nvPr/>
        </p:nvSpPr>
        <p:spPr>
          <a:xfrm>
            <a:off x="6117336" y="3200400"/>
            <a:ext cx="2697480" cy="1234440"/>
          </a:xfrm>
          <a:prstGeom prst="roundRect">
            <a:avLst>
              <a:gd name="adj" fmla="val 7000"/>
            </a:avLst>
          </a:prstGeom>
          <a:solidFill>
            <a:srgbClr val="0047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17336" y="3291840"/>
            <a:ext cx="2697480" cy="411480"/>
          </a:xfrm>
          <a:prstGeom prst="rect">
            <a:avLst/>
          </a:prstGeom>
          <a:noFill/>
        </p:spPr>
        <p:txBody>
          <a:bodyPr wrap="square" lIns="36000" rIns="36000" tIns="18000" bIns="18000">
            <a:spAutoFit/>
          </a:bodyPr>
          <a:lstStyle/>
          <a:p>
            <a:pPr algn="ctr"/>
            <a:r>
              <a:rPr sz="1300" b="1">
                <a:solidFill>
                  <a:srgbClr val="FFFFFF"/>
                </a:solidFill>
              </a:rPr>
              <a:t>Hip Fx</a:t>
            </a:r>
          </a:p>
        </p:txBody>
      </p:sp>
      <p:sp>
        <p:nvSpPr>
          <p:cNvPr id="23" name="TextBox 22"/>
          <p:cNvSpPr txBox="1"/>
          <p:nvPr/>
        </p:nvSpPr>
        <p:spPr>
          <a:xfrm>
            <a:off x="6117336" y="3703320"/>
            <a:ext cx="2697480" cy="640080"/>
          </a:xfrm>
          <a:prstGeom prst="rect">
            <a:avLst/>
          </a:prstGeom>
          <a:noFill/>
        </p:spPr>
        <p:txBody>
          <a:bodyPr wrap="square" lIns="36000" rIns="36000" tIns="18000" bIns="18000" anchor="ctr">
            <a:spAutoFit/>
          </a:bodyPr>
          <a:lstStyle/>
          <a:p>
            <a:pPr algn="ctr"/>
            <a:r>
              <a:rPr sz="2800" b="1">
                <a:solidFill>
                  <a:srgbClr val="FFFFFF"/>
                </a:solidFill>
              </a:rPr>
              <a:t>74.6%</a:t>
            </a:r>
          </a:p>
        </p:txBody>
      </p:sp>
      <p:sp>
        <p:nvSpPr>
          <p:cNvPr id="24" name="Rounded Rectangle 23"/>
          <p:cNvSpPr/>
          <p:nvPr/>
        </p:nvSpPr>
        <p:spPr>
          <a:xfrm>
            <a:off x="502920" y="4709159"/>
            <a:ext cx="11338560" cy="1234440"/>
          </a:xfrm>
          <a:prstGeom prst="roundRect">
            <a:avLst>
              <a:gd name="adj" fmla="val 7000"/>
            </a:avLst>
          </a:prstGeom>
          <a:solidFill>
            <a:srgbClr val="F4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4846320"/>
            <a:ext cx="3566160" cy="365760"/>
          </a:xfrm>
          <a:prstGeom prst="rect">
            <a:avLst/>
          </a:prstGeom>
          <a:noFill/>
        </p:spPr>
        <p:txBody>
          <a:bodyPr wrap="square" lIns="36000" rIns="36000" tIns="18000" bIns="18000">
            <a:spAutoFit/>
          </a:bodyPr>
          <a:lstStyle/>
          <a:p>
            <a:pPr algn="ctr"/>
            <a:r>
              <a:rPr sz="1200" b="0">
                <a:solidFill>
                  <a:srgbClr val="96969A"/>
                </a:solidFill>
              </a:rPr>
              <a:t>Standard 10-Fold CV</a:t>
            </a:r>
          </a:p>
        </p:txBody>
      </p:sp>
      <p:sp>
        <p:nvSpPr>
          <p:cNvPr id="26" name="TextBox 25"/>
          <p:cNvSpPr txBox="1"/>
          <p:nvPr/>
        </p:nvSpPr>
        <p:spPr>
          <a:xfrm>
            <a:off x="685800" y="5166359"/>
            <a:ext cx="3566160" cy="640080"/>
          </a:xfrm>
          <a:prstGeom prst="rect">
            <a:avLst/>
          </a:prstGeom>
          <a:noFill/>
        </p:spPr>
        <p:txBody>
          <a:bodyPr wrap="square" lIns="36000" rIns="36000" tIns="18000" bIns="18000" anchor="ctr">
            <a:spAutoFit/>
          </a:bodyPr>
          <a:lstStyle/>
          <a:p>
            <a:pPr algn="ctr"/>
            <a:r>
              <a:rPr sz="3000" b="1">
                <a:solidFill>
                  <a:srgbClr val="0047BA"/>
                </a:solidFill>
              </a:rPr>
              <a:t>81.0%</a:t>
            </a:r>
          </a:p>
        </p:txBody>
      </p:sp>
      <p:sp>
        <p:nvSpPr>
          <p:cNvPr id="27" name="TextBox 26"/>
          <p:cNvSpPr txBox="1"/>
          <p:nvPr/>
        </p:nvSpPr>
        <p:spPr>
          <a:xfrm>
            <a:off x="4434840" y="4846320"/>
            <a:ext cx="3566160" cy="365760"/>
          </a:xfrm>
          <a:prstGeom prst="rect">
            <a:avLst/>
          </a:prstGeom>
          <a:noFill/>
        </p:spPr>
        <p:txBody>
          <a:bodyPr wrap="square" lIns="36000" rIns="36000" tIns="18000" bIns="18000">
            <a:spAutoFit/>
          </a:bodyPr>
          <a:lstStyle/>
          <a:p>
            <a:pPr algn="ctr"/>
            <a:r>
              <a:rPr sz="1200" b="0">
                <a:solidFill>
                  <a:srgbClr val="96969A"/>
                </a:solidFill>
              </a:rPr>
              <a:t>Nested CV</a:t>
            </a:r>
          </a:p>
        </p:txBody>
      </p:sp>
      <p:sp>
        <p:nvSpPr>
          <p:cNvPr id="28" name="TextBox 27"/>
          <p:cNvSpPr txBox="1"/>
          <p:nvPr/>
        </p:nvSpPr>
        <p:spPr>
          <a:xfrm>
            <a:off x="4434840" y="5166359"/>
            <a:ext cx="3566160" cy="640080"/>
          </a:xfrm>
          <a:prstGeom prst="rect">
            <a:avLst/>
          </a:prstGeom>
          <a:noFill/>
        </p:spPr>
        <p:txBody>
          <a:bodyPr wrap="square" lIns="36000" rIns="36000" tIns="18000" bIns="18000" anchor="ctr">
            <a:spAutoFit/>
          </a:bodyPr>
          <a:lstStyle/>
          <a:p>
            <a:pPr algn="ctr"/>
            <a:r>
              <a:rPr sz="3000" b="1">
                <a:solidFill>
                  <a:srgbClr val="E53E51"/>
                </a:solidFill>
              </a:rPr>
              <a:t>78.3%</a:t>
            </a:r>
          </a:p>
        </p:txBody>
      </p:sp>
      <p:sp>
        <p:nvSpPr>
          <p:cNvPr id="29" name="TextBox 28"/>
          <p:cNvSpPr txBox="1"/>
          <p:nvPr/>
        </p:nvSpPr>
        <p:spPr>
          <a:xfrm>
            <a:off x="8183879" y="4846320"/>
            <a:ext cx="3566160" cy="365760"/>
          </a:xfrm>
          <a:prstGeom prst="rect">
            <a:avLst/>
          </a:prstGeom>
          <a:noFill/>
        </p:spPr>
        <p:txBody>
          <a:bodyPr wrap="square" lIns="36000" rIns="36000" tIns="18000" bIns="18000">
            <a:spAutoFit/>
          </a:bodyPr>
          <a:lstStyle/>
          <a:p>
            <a:pPr algn="ctr"/>
            <a:r>
              <a:rPr sz="1200" b="0">
                <a:solidFill>
                  <a:srgbClr val="96969A"/>
                </a:solidFill>
              </a:rPr>
              <a:t>Optimism Gap</a:t>
            </a:r>
          </a:p>
        </p:txBody>
      </p:sp>
      <p:sp>
        <p:nvSpPr>
          <p:cNvPr id="30" name="TextBox 29"/>
          <p:cNvSpPr txBox="1"/>
          <p:nvPr/>
        </p:nvSpPr>
        <p:spPr>
          <a:xfrm>
            <a:off x="8183879" y="5166359"/>
            <a:ext cx="3566160" cy="640080"/>
          </a:xfrm>
          <a:prstGeom prst="rect">
            <a:avLst/>
          </a:prstGeom>
          <a:noFill/>
        </p:spPr>
        <p:txBody>
          <a:bodyPr wrap="square" lIns="36000" rIns="36000" tIns="18000" bIns="18000" anchor="ctr">
            <a:spAutoFit/>
          </a:bodyPr>
          <a:lstStyle/>
          <a:p>
            <a:pPr algn="ctr"/>
            <a:r>
              <a:rPr sz="3000" b="1">
                <a:solidFill>
                  <a:srgbClr val="002F7A"/>
                </a:solidFill>
              </a:rPr>
              <a:t>2.7%</a:t>
            </a:r>
          </a:p>
        </p:txBody>
      </p:sp>
      <p:sp>
        <p:nvSpPr>
          <p:cNvPr id="31" name="TextBox 30"/>
          <p:cNvSpPr txBox="1"/>
          <p:nvPr/>
        </p:nvSpPr>
        <p:spPr>
          <a:xfrm>
            <a:off x="502920" y="5989319"/>
            <a:ext cx="11338560" cy="320040"/>
          </a:xfrm>
          <a:prstGeom prst="rect">
            <a:avLst/>
          </a:prstGeom>
          <a:noFill/>
        </p:spPr>
        <p:txBody>
          <a:bodyPr wrap="square" lIns="36000" rIns="36000" tIns="18000" bIns="18000">
            <a:spAutoFit/>
          </a:bodyPr>
          <a:lstStyle/>
          <a:p>
            <a:pPr algn="ctr"/>
            <a:r>
              <a:rPr sz="1100" b="1">
                <a:solidFill>
                  <a:srgbClr val="002F7A"/>
                </a:solidFill>
              </a:rPr>
              <a:t>Model generalizes well — LOCO confirms robustness across pathology types</a:t>
            </a:r>
          </a:p>
        </p:txBody>
      </p:sp>
      <p:sp>
        <p:nvSpPr>
          <p:cNvPr id="32" name="TextBox 31"/>
          <p:cNvSpPr txBox="1"/>
          <p:nvPr/>
        </p:nvSpPr>
        <p:spPr>
          <a:xfrm>
            <a:off x="457200" y="6446520"/>
            <a:ext cx="7315200" cy="274320"/>
          </a:xfrm>
          <a:prstGeom prst="rect">
            <a:avLst/>
          </a:prstGeom>
          <a:noFill/>
        </p:spPr>
        <p:txBody>
          <a:bodyPr wrap="square" lIns="36000" rIns="36000" tIns="18000" bIns="18000">
            <a:spAutoFit/>
          </a:bodyPr>
          <a:lstStyle/>
          <a:p>
            <a:pPr algn="l"/>
            <a:r>
              <a:rPr sz="1000" b="0">
                <a:solidFill>
                  <a:srgbClr val="96969A"/>
                </a:solidFill>
              </a:rPr>
              <a:t>Presenter 4  |  LOCO &amp; Nested CV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b="1" sz="2800">
                <a:solidFill>
                  <a:srgbClr val="0047BA"/>
                </a:solidFill>
              </a:rPr>
              <a:t>Clinical Implications  &amp;  Limitations</a:t>
            </a:r>
          </a:p>
        </p:txBody>
      </p:sp>
      <p:sp>
        <p:nvSpPr>
          <p:cNvPr id="3" name="Rounded Rectangle 2"/>
          <p:cNvSpPr/>
          <p:nvPr/>
        </p:nvSpPr>
        <p:spPr>
          <a:xfrm>
            <a:off x="502920" y="1783080"/>
            <a:ext cx="5577840" cy="4297680"/>
          </a:xfrm>
          <a:prstGeom prst="roundRect">
            <a:avLst>
              <a:gd name="adj" fmla="val 7000"/>
            </a:avLst>
          </a:prstGeom>
          <a:solidFill>
            <a:srgbClr val="F0FAF5"/>
          </a:solidFill>
          <a:ln w="9525">
            <a:solidFill>
              <a:srgbClr val="00CE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874519"/>
            <a:ext cx="457200" cy="457200"/>
          </a:xfrm>
          <a:prstGeom prst="rect">
            <a:avLst/>
          </a:prstGeom>
          <a:noFill/>
        </p:spPr>
        <p:txBody>
          <a:bodyPr wrap="square" lIns="36000" rIns="36000" tIns="18000" bIns="18000" anchor="ctr">
            <a:spAutoFit/>
          </a:bodyPr>
          <a:lstStyle/>
          <a:p>
            <a:pPr algn="l"/>
            <a:r>
              <a:rPr sz="2400" b="1">
                <a:solidFill>
                  <a:srgbClr val="00CE7C"/>
                </a:solidFill>
              </a:rPr>
              <a:t>✓</a:t>
            </a:r>
          </a:p>
        </p:txBody>
      </p:sp>
      <p:sp>
        <p:nvSpPr>
          <p:cNvPr id="5" name="TextBox 4"/>
          <p:cNvSpPr txBox="1"/>
          <p:nvPr/>
        </p:nvSpPr>
        <p:spPr>
          <a:xfrm>
            <a:off x="1234440" y="1874519"/>
            <a:ext cx="4663440" cy="457200"/>
          </a:xfrm>
          <a:prstGeom prst="rect">
            <a:avLst/>
          </a:prstGeom>
          <a:noFill/>
        </p:spPr>
        <p:txBody>
          <a:bodyPr wrap="square" lIns="36000" rIns="36000" tIns="18000" bIns="18000" anchor="ctr">
            <a:spAutoFit/>
          </a:bodyPr>
          <a:lstStyle/>
          <a:p>
            <a:pPr algn="l"/>
            <a:r>
              <a:rPr sz="1800" b="1">
                <a:solidFill>
                  <a:srgbClr val="00CE7C"/>
                </a:solidFill>
              </a:rPr>
              <a:t>Clinical Implications</a:t>
            </a:r>
          </a:p>
        </p:txBody>
      </p:sp>
      <p:sp>
        <p:nvSpPr>
          <p:cNvPr id="6" name="Rounded Rectangle 5"/>
          <p:cNvSpPr/>
          <p:nvPr/>
        </p:nvSpPr>
        <p:spPr>
          <a:xfrm>
            <a:off x="777240" y="2560320"/>
            <a:ext cx="411480" cy="411480"/>
          </a:xfrm>
          <a:prstGeom prst="roundRect">
            <a:avLst>
              <a:gd name="adj" fmla="val 25000"/>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560320"/>
            <a:ext cx="411480" cy="411480"/>
          </a:xfrm>
          <a:prstGeom prst="rect">
            <a:avLst/>
          </a:prstGeom>
          <a:noFill/>
        </p:spPr>
        <p:txBody>
          <a:bodyPr wrap="square" lIns="36000" rIns="36000" tIns="18000" bIns="18000" anchor="ctr">
            <a:spAutoFit/>
          </a:bodyPr>
          <a:lstStyle/>
          <a:p>
            <a:pPr algn="ctr"/>
            <a:r>
              <a:rPr sz="1400" b="1">
                <a:solidFill>
                  <a:srgbClr val="FFFFFF"/>
                </a:solidFill>
              </a:rPr>
              <a:t>✓</a:t>
            </a:r>
          </a:p>
        </p:txBody>
      </p:sp>
      <p:sp>
        <p:nvSpPr>
          <p:cNvPr id="8" name="TextBox 7"/>
          <p:cNvSpPr txBox="1"/>
          <p:nvPr/>
        </p:nvSpPr>
        <p:spPr>
          <a:xfrm>
            <a:off x="1325880" y="2532888"/>
            <a:ext cx="4617720" cy="320040"/>
          </a:xfrm>
          <a:prstGeom prst="rect">
            <a:avLst/>
          </a:prstGeom>
          <a:noFill/>
        </p:spPr>
        <p:txBody>
          <a:bodyPr wrap="square" lIns="36000" rIns="36000" tIns="18000" bIns="18000">
            <a:spAutoFit/>
          </a:bodyPr>
          <a:lstStyle/>
          <a:p>
            <a:pPr algn="l"/>
            <a:r>
              <a:rPr sz="1300" b="1">
                <a:solidFill>
                  <a:srgbClr val="002F7A"/>
                </a:solidFill>
              </a:rPr>
              <a:t>81% accuracy</a:t>
            </a:r>
          </a:p>
        </p:txBody>
      </p:sp>
      <p:sp>
        <p:nvSpPr>
          <p:cNvPr id="9" name="TextBox 8"/>
          <p:cNvSpPr txBox="1"/>
          <p:nvPr/>
        </p:nvSpPr>
        <p:spPr>
          <a:xfrm>
            <a:off x="1325880" y="2807208"/>
            <a:ext cx="4617720" cy="274320"/>
          </a:xfrm>
          <a:prstGeom prst="rect">
            <a:avLst/>
          </a:prstGeom>
          <a:noFill/>
        </p:spPr>
        <p:txBody>
          <a:bodyPr wrap="square" lIns="36000" rIns="36000" tIns="18000" bIns="18000">
            <a:spAutoFit/>
          </a:bodyPr>
          <a:lstStyle/>
          <a:p>
            <a:pPr algn="l"/>
            <a:r>
              <a:rPr sz="1000" b="0">
                <a:solidFill>
                  <a:srgbClr val="96969A"/>
                </a:solidFill>
              </a:rPr>
              <a:t>with wearable IMUs</a:t>
            </a:r>
          </a:p>
        </p:txBody>
      </p:sp>
      <p:sp>
        <p:nvSpPr>
          <p:cNvPr id="10" name="Rounded Rectangle 9"/>
          <p:cNvSpPr/>
          <p:nvPr/>
        </p:nvSpPr>
        <p:spPr>
          <a:xfrm>
            <a:off x="777240" y="3127248"/>
            <a:ext cx="411480" cy="411480"/>
          </a:xfrm>
          <a:prstGeom prst="roundRect">
            <a:avLst>
              <a:gd name="adj" fmla="val 25000"/>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127248"/>
            <a:ext cx="411480" cy="411480"/>
          </a:xfrm>
          <a:prstGeom prst="rect">
            <a:avLst/>
          </a:prstGeom>
          <a:noFill/>
        </p:spPr>
        <p:txBody>
          <a:bodyPr wrap="square" lIns="36000" rIns="36000" tIns="18000" bIns="18000" anchor="ctr">
            <a:spAutoFit/>
          </a:bodyPr>
          <a:lstStyle/>
          <a:p>
            <a:pPr algn="ctr"/>
            <a:r>
              <a:rPr sz="1400" b="1">
                <a:solidFill>
                  <a:srgbClr val="FFFFFF"/>
                </a:solidFill>
              </a:rPr>
              <a:t>✓</a:t>
            </a:r>
          </a:p>
        </p:txBody>
      </p:sp>
      <p:sp>
        <p:nvSpPr>
          <p:cNvPr id="12" name="TextBox 11"/>
          <p:cNvSpPr txBox="1"/>
          <p:nvPr/>
        </p:nvSpPr>
        <p:spPr>
          <a:xfrm>
            <a:off x="1325880" y="3099816"/>
            <a:ext cx="4617720" cy="320040"/>
          </a:xfrm>
          <a:prstGeom prst="rect">
            <a:avLst/>
          </a:prstGeom>
          <a:noFill/>
        </p:spPr>
        <p:txBody>
          <a:bodyPr wrap="square" lIns="36000" rIns="36000" tIns="18000" bIns="18000">
            <a:spAutoFit/>
          </a:bodyPr>
          <a:lstStyle/>
          <a:p>
            <a:pPr algn="l"/>
            <a:r>
              <a:rPr sz="1300" b="1">
                <a:solidFill>
                  <a:srgbClr val="002F7A"/>
                </a:solidFill>
              </a:rPr>
              <a:t>2 sensors sufficient</a:t>
            </a:r>
          </a:p>
        </p:txBody>
      </p:sp>
      <p:sp>
        <p:nvSpPr>
          <p:cNvPr id="13" name="TextBox 12"/>
          <p:cNvSpPr txBox="1"/>
          <p:nvPr/>
        </p:nvSpPr>
        <p:spPr>
          <a:xfrm>
            <a:off x="1325880" y="3374136"/>
            <a:ext cx="4617720" cy="274320"/>
          </a:xfrm>
          <a:prstGeom prst="rect">
            <a:avLst/>
          </a:prstGeom>
          <a:noFill/>
        </p:spPr>
        <p:txBody>
          <a:bodyPr wrap="square" lIns="36000" rIns="36000" tIns="18000" bIns="18000">
            <a:spAutoFit/>
          </a:bodyPr>
          <a:lstStyle/>
          <a:p>
            <a:pPr algn="l"/>
            <a:r>
              <a:rPr sz="1000" b="0">
                <a:solidFill>
                  <a:srgbClr val="96969A"/>
                </a:solidFill>
              </a:rPr>
              <a:t>Head + Lower Back</a:t>
            </a:r>
          </a:p>
        </p:txBody>
      </p:sp>
      <p:sp>
        <p:nvSpPr>
          <p:cNvPr id="14" name="Rounded Rectangle 13"/>
          <p:cNvSpPr/>
          <p:nvPr/>
        </p:nvSpPr>
        <p:spPr>
          <a:xfrm>
            <a:off x="777240" y="3694176"/>
            <a:ext cx="411480" cy="411480"/>
          </a:xfrm>
          <a:prstGeom prst="roundRect">
            <a:avLst>
              <a:gd name="adj" fmla="val 25000"/>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694176"/>
            <a:ext cx="411480" cy="411480"/>
          </a:xfrm>
          <a:prstGeom prst="rect">
            <a:avLst/>
          </a:prstGeom>
          <a:noFill/>
        </p:spPr>
        <p:txBody>
          <a:bodyPr wrap="square" lIns="36000" rIns="36000" tIns="18000" bIns="18000" anchor="ctr">
            <a:spAutoFit/>
          </a:bodyPr>
          <a:lstStyle/>
          <a:p>
            <a:pPr algn="ctr"/>
            <a:r>
              <a:rPr sz="1400" b="1">
                <a:solidFill>
                  <a:srgbClr val="FFFFFF"/>
                </a:solidFill>
              </a:rPr>
              <a:t>✓</a:t>
            </a:r>
          </a:p>
        </p:txBody>
      </p:sp>
      <p:sp>
        <p:nvSpPr>
          <p:cNvPr id="16" name="TextBox 15"/>
          <p:cNvSpPr txBox="1"/>
          <p:nvPr/>
        </p:nvSpPr>
        <p:spPr>
          <a:xfrm>
            <a:off x="1325880" y="3666744"/>
            <a:ext cx="4617720" cy="320040"/>
          </a:xfrm>
          <a:prstGeom prst="rect">
            <a:avLst/>
          </a:prstGeom>
          <a:noFill/>
        </p:spPr>
        <p:txBody>
          <a:bodyPr wrap="square" lIns="36000" rIns="36000" tIns="18000" bIns="18000">
            <a:spAutoFit/>
          </a:bodyPr>
          <a:lstStyle/>
          <a:p>
            <a:pPr algn="l"/>
            <a:r>
              <a:rPr sz="1300" b="1">
                <a:solidFill>
                  <a:srgbClr val="002F7A"/>
                </a:solidFill>
              </a:rPr>
              <a:t>Real-time feasible</a:t>
            </a:r>
          </a:p>
        </p:txBody>
      </p:sp>
      <p:sp>
        <p:nvSpPr>
          <p:cNvPr id="17" name="TextBox 16"/>
          <p:cNvSpPr txBox="1"/>
          <p:nvPr/>
        </p:nvSpPr>
        <p:spPr>
          <a:xfrm>
            <a:off x="1325880" y="3941064"/>
            <a:ext cx="4617720" cy="274320"/>
          </a:xfrm>
          <a:prstGeom prst="rect">
            <a:avLst/>
          </a:prstGeom>
          <a:noFill/>
        </p:spPr>
        <p:txBody>
          <a:bodyPr wrap="square" lIns="36000" rIns="36000" tIns="18000" bIns="18000">
            <a:spAutoFit/>
          </a:bodyPr>
          <a:lstStyle/>
          <a:p>
            <a:pPr algn="l"/>
            <a:r>
              <a:rPr sz="1000" b="0">
                <a:solidFill>
                  <a:srgbClr val="96969A"/>
                </a:solidFill>
              </a:rPr>
              <a:t>screening in clinics</a:t>
            </a:r>
          </a:p>
        </p:txBody>
      </p:sp>
      <p:sp>
        <p:nvSpPr>
          <p:cNvPr id="18" name="Rounded Rectangle 17"/>
          <p:cNvSpPr/>
          <p:nvPr/>
        </p:nvSpPr>
        <p:spPr>
          <a:xfrm>
            <a:off x="777240" y="4261103"/>
            <a:ext cx="411480" cy="411480"/>
          </a:xfrm>
          <a:prstGeom prst="roundRect">
            <a:avLst>
              <a:gd name="adj" fmla="val 25000"/>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261103"/>
            <a:ext cx="411480" cy="411480"/>
          </a:xfrm>
          <a:prstGeom prst="rect">
            <a:avLst/>
          </a:prstGeom>
          <a:noFill/>
        </p:spPr>
        <p:txBody>
          <a:bodyPr wrap="square" lIns="36000" rIns="36000" tIns="18000" bIns="18000" anchor="ctr">
            <a:spAutoFit/>
          </a:bodyPr>
          <a:lstStyle/>
          <a:p>
            <a:pPr algn="ctr"/>
            <a:r>
              <a:rPr sz="1400" b="1">
                <a:solidFill>
                  <a:srgbClr val="FFFFFF"/>
                </a:solidFill>
              </a:rPr>
              <a:t>✓</a:t>
            </a:r>
          </a:p>
        </p:txBody>
      </p:sp>
      <p:sp>
        <p:nvSpPr>
          <p:cNvPr id="20" name="TextBox 19"/>
          <p:cNvSpPr txBox="1"/>
          <p:nvPr/>
        </p:nvSpPr>
        <p:spPr>
          <a:xfrm>
            <a:off x="1325880" y="4233671"/>
            <a:ext cx="4617720" cy="320040"/>
          </a:xfrm>
          <a:prstGeom prst="rect">
            <a:avLst/>
          </a:prstGeom>
          <a:noFill/>
        </p:spPr>
        <p:txBody>
          <a:bodyPr wrap="square" lIns="36000" rIns="36000" tIns="18000" bIns="18000">
            <a:spAutoFit/>
          </a:bodyPr>
          <a:lstStyle/>
          <a:p>
            <a:pPr algn="l"/>
            <a:r>
              <a:rPr sz="1300" b="1">
                <a:solidFill>
                  <a:srgbClr val="002F7A"/>
                </a:solidFill>
              </a:rPr>
              <a:t>Objective complement</a:t>
            </a:r>
          </a:p>
        </p:txBody>
      </p:sp>
      <p:sp>
        <p:nvSpPr>
          <p:cNvPr id="21" name="TextBox 20"/>
          <p:cNvSpPr txBox="1"/>
          <p:nvPr/>
        </p:nvSpPr>
        <p:spPr>
          <a:xfrm>
            <a:off x="1325880" y="4507992"/>
            <a:ext cx="4617720" cy="274320"/>
          </a:xfrm>
          <a:prstGeom prst="rect">
            <a:avLst/>
          </a:prstGeom>
          <a:noFill/>
        </p:spPr>
        <p:txBody>
          <a:bodyPr wrap="square" lIns="36000" rIns="36000" tIns="18000" bIns="18000">
            <a:spAutoFit/>
          </a:bodyPr>
          <a:lstStyle/>
          <a:p>
            <a:pPr algn="l"/>
            <a:r>
              <a:rPr sz="1000" b="0">
                <a:solidFill>
                  <a:srgbClr val="96969A"/>
                </a:solidFill>
              </a:rPr>
              <a:t>to VGA scoring</a:t>
            </a:r>
          </a:p>
        </p:txBody>
      </p:sp>
      <p:sp>
        <p:nvSpPr>
          <p:cNvPr id="22" name="Rounded Rectangle 21"/>
          <p:cNvSpPr/>
          <p:nvPr/>
        </p:nvSpPr>
        <p:spPr>
          <a:xfrm>
            <a:off x="777240" y="4828032"/>
            <a:ext cx="411480" cy="411480"/>
          </a:xfrm>
          <a:prstGeom prst="roundRect">
            <a:avLst>
              <a:gd name="adj" fmla="val 25000"/>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828032"/>
            <a:ext cx="411480" cy="411480"/>
          </a:xfrm>
          <a:prstGeom prst="rect">
            <a:avLst/>
          </a:prstGeom>
          <a:noFill/>
        </p:spPr>
        <p:txBody>
          <a:bodyPr wrap="square" lIns="36000" rIns="36000" tIns="18000" bIns="18000" anchor="ctr">
            <a:spAutoFit/>
          </a:bodyPr>
          <a:lstStyle/>
          <a:p>
            <a:pPr algn="ctr"/>
            <a:r>
              <a:rPr sz="1400" b="1">
                <a:solidFill>
                  <a:srgbClr val="FFFFFF"/>
                </a:solidFill>
              </a:rPr>
              <a:t>✓</a:t>
            </a:r>
          </a:p>
        </p:txBody>
      </p:sp>
      <p:sp>
        <p:nvSpPr>
          <p:cNvPr id="24" name="TextBox 23"/>
          <p:cNvSpPr txBox="1"/>
          <p:nvPr/>
        </p:nvSpPr>
        <p:spPr>
          <a:xfrm>
            <a:off x="1325880" y="4800600"/>
            <a:ext cx="4617720" cy="320040"/>
          </a:xfrm>
          <a:prstGeom prst="rect">
            <a:avLst/>
          </a:prstGeom>
          <a:noFill/>
        </p:spPr>
        <p:txBody>
          <a:bodyPr wrap="square" lIns="36000" rIns="36000" tIns="18000" bIns="18000">
            <a:spAutoFit/>
          </a:bodyPr>
          <a:lstStyle/>
          <a:p>
            <a:pPr algn="l"/>
            <a:r>
              <a:rPr sz="1300" b="1">
                <a:solidFill>
                  <a:srgbClr val="002F7A"/>
                </a:solidFill>
              </a:rPr>
              <a:t>Home monitoring</a:t>
            </a:r>
          </a:p>
        </p:txBody>
      </p:sp>
      <p:sp>
        <p:nvSpPr>
          <p:cNvPr id="25" name="TextBox 24"/>
          <p:cNvSpPr txBox="1"/>
          <p:nvPr/>
        </p:nvSpPr>
        <p:spPr>
          <a:xfrm>
            <a:off x="1325880" y="5074920"/>
            <a:ext cx="4617720" cy="274320"/>
          </a:xfrm>
          <a:prstGeom prst="rect">
            <a:avLst/>
          </a:prstGeom>
          <a:noFill/>
        </p:spPr>
        <p:txBody>
          <a:bodyPr wrap="square" lIns="36000" rIns="36000" tIns="18000" bIns="18000">
            <a:spAutoFit/>
          </a:bodyPr>
          <a:lstStyle/>
          <a:p>
            <a:pPr algn="l"/>
            <a:r>
              <a:rPr sz="1000" b="0">
                <a:solidFill>
                  <a:srgbClr val="96969A"/>
                </a:solidFill>
              </a:rPr>
              <a:t>scalable remote deployment</a:t>
            </a:r>
          </a:p>
        </p:txBody>
      </p:sp>
      <p:sp>
        <p:nvSpPr>
          <p:cNvPr id="26" name="Rounded Rectangle 25"/>
          <p:cNvSpPr/>
          <p:nvPr/>
        </p:nvSpPr>
        <p:spPr>
          <a:xfrm>
            <a:off x="777240" y="5394959"/>
            <a:ext cx="411480" cy="411480"/>
          </a:xfrm>
          <a:prstGeom prst="roundRect">
            <a:avLst>
              <a:gd name="adj" fmla="val 25000"/>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5394959"/>
            <a:ext cx="411480" cy="411480"/>
          </a:xfrm>
          <a:prstGeom prst="rect">
            <a:avLst/>
          </a:prstGeom>
          <a:noFill/>
        </p:spPr>
        <p:txBody>
          <a:bodyPr wrap="square" lIns="36000" rIns="36000" tIns="18000" bIns="18000" anchor="ctr">
            <a:spAutoFit/>
          </a:bodyPr>
          <a:lstStyle/>
          <a:p>
            <a:pPr algn="ctr"/>
            <a:r>
              <a:rPr sz="1400" b="1">
                <a:solidFill>
                  <a:srgbClr val="FFFFFF"/>
                </a:solidFill>
              </a:rPr>
              <a:t>✓</a:t>
            </a:r>
          </a:p>
        </p:txBody>
      </p:sp>
      <p:sp>
        <p:nvSpPr>
          <p:cNvPr id="28" name="TextBox 27"/>
          <p:cNvSpPr txBox="1"/>
          <p:nvPr/>
        </p:nvSpPr>
        <p:spPr>
          <a:xfrm>
            <a:off x="1325880" y="5367527"/>
            <a:ext cx="4617720" cy="320040"/>
          </a:xfrm>
          <a:prstGeom prst="rect">
            <a:avLst/>
          </a:prstGeom>
          <a:noFill/>
        </p:spPr>
        <p:txBody>
          <a:bodyPr wrap="square" lIns="36000" rIns="36000" tIns="18000" bIns="18000">
            <a:spAutoFit/>
          </a:bodyPr>
          <a:lstStyle/>
          <a:p>
            <a:pPr algn="l"/>
            <a:r>
              <a:rPr sz="1300" b="1">
                <a:solidFill>
                  <a:srgbClr val="002F7A"/>
                </a:solidFill>
              </a:rPr>
              <a:t>Automated triage</a:t>
            </a:r>
          </a:p>
        </p:txBody>
      </p:sp>
      <p:sp>
        <p:nvSpPr>
          <p:cNvPr id="29" name="TextBox 28"/>
          <p:cNvSpPr txBox="1"/>
          <p:nvPr/>
        </p:nvSpPr>
        <p:spPr>
          <a:xfrm>
            <a:off x="1325880" y="5641848"/>
            <a:ext cx="4617720" cy="274320"/>
          </a:xfrm>
          <a:prstGeom prst="rect">
            <a:avLst/>
          </a:prstGeom>
          <a:noFill/>
        </p:spPr>
        <p:txBody>
          <a:bodyPr wrap="square" lIns="36000" rIns="36000" tIns="18000" bIns="18000">
            <a:spAutoFit/>
          </a:bodyPr>
          <a:lstStyle/>
          <a:p>
            <a:pPr algn="l"/>
            <a:r>
              <a:rPr sz="1000" b="0">
                <a:solidFill>
                  <a:srgbClr val="96969A"/>
                </a:solidFill>
              </a:rPr>
              <a:t>for severity stratification</a:t>
            </a:r>
          </a:p>
        </p:txBody>
      </p:sp>
      <p:sp>
        <p:nvSpPr>
          <p:cNvPr id="30" name="Rounded Rectangle 29"/>
          <p:cNvSpPr/>
          <p:nvPr/>
        </p:nvSpPr>
        <p:spPr>
          <a:xfrm>
            <a:off x="6263640" y="1783080"/>
            <a:ext cx="5577840" cy="4297680"/>
          </a:xfrm>
          <a:prstGeom prst="roundRect">
            <a:avLst>
              <a:gd name="adj" fmla="val 7000"/>
            </a:avLst>
          </a:prstGeom>
          <a:solidFill>
            <a:srgbClr val="FDF3F3"/>
          </a:solidFill>
          <a:ln w="9525">
            <a:solidFill>
              <a:srgbClr val="E53E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40" y="1874519"/>
            <a:ext cx="457200" cy="457200"/>
          </a:xfrm>
          <a:prstGeom prst="rect">
            <a:avLst/>
          </a:prstGeom>
          <a:noFill/>
        </p:spPr>
        <p:txBody>
          <a:bodyPr wrap="square" lIns="36000" rIns="36000" tIns="18000" bIns="18000" anchor="ctr">
            <a:spAutoFit/>
          </a:bodyPr>
          <a:lstStyle/>
          <a:p>
            <a:pPr algn="l"/>
            <a:r>
              <a:rPr sz="2200" b="1">
                <a:solidFill>
                  <a:srgbClr val="E53E51"/>
                </a:solidFill>
              </a:rPr>
              <a:t>⚠</a:t>
            </a:r>
          </a:p>
        </p:txBody>
      </p:sp>
      <p:sp>
        <p:nvSpPr>
          <p:cNvPr id="32" name="TextBox 31"/>
          <p:cNvSpPr txBox="1"/>
          <p:nvPr/>
        </p:nvSpPr>
        <p:spPr>
          <a:xfrm>
            <a:off x="6995159" y="1874519"/>
            <a:ext cx="4663440" cy="457200"/>
          </a:xfrm>
          <a:prstGeom prst="rect">
            <a:avLst/>
          </a:prstGeom>
          <a:noFill/>
        </p:spPr>
        <p:txBody>
          <a:bodyPr wrap="square" lIns="36000" rIns="36000" tIns="18000" bIns="18000" anchor="ctr">
            <a:spAutoFit/>
          </a:bodyPr>
          <a:lstStyle/>
          <a:p>
            <a:pPr algn="l"/>
            <a:r>
              <a:rPr sz="1800" b="1">
                <a:solidFill>
                  <a:srgbClr val="E53E51"/>
                </a:solidFill>
              </a:rPr>
              <a:t>Limitations</a:t>
            </a:r>
          </a:p>
        </p:txBody>
      </p:sp>
      <p:sp>
        <p:nvSpPr>
          <p:cNvPr id="33" name="Rounded Rectangle 32"/>
          <p:cNvSpPr/>
          <p:nvPr/>
        </p:nvSpPr>
        <p:spPr>
          <a:xfrm>
            <a:off x="6537959" y="2560320"/>
            <a:ext cx="411480" cy="411480"/>
          </a:xfrm>
          <a:prstGeom prst="roundRect">
            <a:avLst>
              <a:gd name="adj" fmla="val 25000"/>
            </a:avLst>
          </a:prstGeom>
          <a:solidFill>
            <a:srgbClr val="E53E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7959" y="2560320"/>
            <a:ext cx="411480" cy="411480"/>
          </a:xfrm>
          <a:prstGeom prst="rect">
            <a:avLst/>
          </a:prstGeom>
          <a:noFill/>
        </p:spPr>
        <p:txBody>
          <a:bodyPr wrap="square" lIns="36000" rIns="36000" tIns="18000" bIns="18000" anchor="ctr">
            <a:spAutoFit/>
          </a:bodyPr>
          <a:lstStyle/>
          <a:p>
            <a:pPr algn="ctr"/>
            <a:r>
              <a:rPr sz="1400" b="1">
                <a:solidFill>
                  <a:srgbClr val="FFFFFF"/>
                </a:solidFill>
              </a:rPr>
              <a:t>!</a:t>
            </a:r>
          </a:p>
        </p:txBody>
      </p:sp>
      <p:sp>
        <p:nvSpPr>
          <p:cNvPr id="35" name="TextBox 34"/>
          <p:cNvSpPr txBox="1"/>
          <p:nvPr/>
        </p:nvSpPr>
        <p:spPr>
          <a:xfrm>
            <a:off x="7086600" y="2532888"/>
            <a:ext cx="4617720" cy="320040"/>
          </a:xfrm>
          <a:prstGeom prst="rect">
            <a:avLst/>
          </a:prstGeom>
          <a:noFill/>
        </p:spPr>
        <p:txBody>
          <a:bodyPr wrap="square" lIns="36000" rIns="36000" tIns="18000" bIns="18000">
            <a:spAutoFit/>
          </a:bodyPr>
          <a:lstStyle/>
          <a:p>
            <a:pPr algn="l"/>
            <a:r>
              <a:rPr sz="1300" b="1">
                <a:solidFill>
                  <a:srgbClr val="002F7A"/>
                </a:solidFill>
              </a:rPr>
              <a:t>Single-site dataset</a:t>
            </a:r>
          </a:p>
        </p:txBody>
      </p:sp>
      <p:sp>
        <p:nvSpPr>
          <p:cNvPr id="36" name="TextBox 35"/>
          <p:cNvSpPr txBox="1"/>
          <p:nvPr/>
        </p:nvSpPr>
        <p:spPr>
          <a:xfrm>
            <a:off x="7086600" y="2807208"/>
            <a:ext cx="4617720" cy="274320"/>
          </a:xfrm>
          <a:prstGeom prst="rect">
            <a:avLst/>
          </a:prstGeom>
          <a:noFill/>
        </p:spPr>
        <p:txBody>
          <a:bodyPr wrap="square" lIns="36000" rIns="36000" tIns="18000" bIns="18000">
            <a:spAutoFit/>
          </a:bodyPr>
          <a:lstStyle/>
          <a:p>
            <a:pPr algn="l"/>
            <a:r>
              <a:rPr sz="1000" b="0">
                <a:solidFill>
                  <a:srgbClr val="96969A"/>
                </a:solidFill>
              </a:rPr>
              <a:t>Innsbruck only</a:t>
            </a:r>
          </a:p>
        </p:txBody>
      </p:sp>
      <p:sp>
        <p:nvSpPr>
          <p:cNvPr id="37" name="Rounded Rectangle 36"/>
          <p:cNvSpPr/>
          <p:nvPr/>
        </p:nvSpPr>
        <p:spPr>
          <a:xfrm>
            <a:off x="6537959" y="3127248"/>
            <a:ext cx="411480" cy="411480"/>
          </a:xfrm>
          <a:prstGeom prst="roundRect">
            <a:avLst>
              <a:gd name="adj" fmla="val 25000"/>
            </a:avLst>
          </a:prstGeom>
          <a:solidFill>
            <a:srgbClr val="E53E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37959" y="3127248"/>
            <a:ext cx="411480" cy="411480"/>
          </a:xfrm>
          <a:prstGeom prst="rect">
            <a:avLst/>
          </a:prstGeom>
          <a:noFill/>
        </p:spPr>
        <p:txBody>
          <a:bodyPr wrap="square" lIns="36000" rIns="36000" tIns="18000" bIns="18000" anchor="ctr">
            <a:spAutoFit/>
          </a:bodyPr>
          <a:lstStyle/>
          <a:p>
            <a:pPr algn="ctr"/>
            <a:r>
              <a:rPr sz="1400" b="1">
                <a:solidFill>
                  <a:srgbClr val="FFFFFF"/>
                </a:solidFill>
              </a:rPr>
              <a:t>!</a:t>
            </a:r>
          </a:p>
        </p:txBody>
      </p:sp>
      <p:sp>
        <p:nvSpPr>
          <p:cNvPr id="39" name="TextBox 38"/>
          <p:cNvSpPr txBox="1"/>
          <p:nvPr/>
        </p:nvSpPr>
        <p:spPr>
          <a:xfrm>
            <a:off x="7086600" y="3099816"/>
            <a:ext cx="4617720" cy="320040"/>
          </a:xfrm>
          <a:prstGeom prst="rect">
            <a:avLst/>
          </a:prstGeom>
          <a:noFill/>
        </p:spPr>
        <p:txBody>
          <a:bodyPr wrap="square" lIns="36000" rIns="36000" tIns="18000" bIns="18000">
            <a:spAutoFit/>
          </a:bodyPr>
          <a:lstStyle/>
          <a:p>
            <a:pPr algn="l"/>
            <a:r>
              <a:rPr sz="1300" b="1">
                <a:solidFill>
                  <a:srgbClr val="002F7A"/>
                </a:solidFill>
              </a:rPr>
              <a:t>Lab-controlled</a:t>
            </a:r>
          </a:p>
        </p:txBody>
      </p:sp>
      <p:sp>
        <p:nvSpPr>
          <p:cNvPr id="40" name="TextBox 39"/>
          <p:cNvSpPr txBox="1"/>
          <p:nvPr/>
        </p:nvSpPr>
        <p:spPr>
          <a:xfrm>
            <a:off x="7086600" y="3374136"/>
            <a:ext cx="4617720" cy="274320"/>
          </a:xfrm>
          <a:prstGeom prst="rect">
            <a:avLst/>
          </a:prstGeom>
          <a:noFill/>
        </p:spPr>
        <p:txBody>
          <a:bodyPr wrap="square" lIns="36000" rIns="36000" tIns="18000" bIns="18000">
            <a:spAutoFit/>
          </a:bodyPr>
          <a:lstStyle/>
          <a:p>
            <a:pPr algn="l"/>
            <a:r>
              <a:rPr sz="1000" b="0">
                <a:solidFill>
                  <a:srgbClr val="96969A"/>
                </a:solidFill>
              </a:rPr>
              <a:t>no free-living data</a:t>
            </a:r>
          </a:p>
        </p:txBody>
      </p:sp>
      <p:sp>
        <p:nvSpPr>
          <p:cNvPr id="41" name="Rounded Rectangle 40"/>
          <p:cNvSpPr/>
          <p:nvPr/>
        </p:nvSpPr>
        <p:spPr>
          <a:xfrm>
            <a:off x="6537959" y="3694176"/>
            <a:ext cx="411480" cy="411480"/>
          </a:xfrm>
          <a:prstGeom prst="roundRect">
            <a:avLst>
              <a:gd name="adj" fmla="val 25000"/>
            </a:avLst>
          </a:prstGeom>
          <a:solidFill>
            <a:srgbClr val="E53E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37959" y="3694176"/>
            <a:ext cx="411480" cy="411480"/>
          </a:xfrm>
          <a:prstGeom prst="rect">
            <a:avLst/>
          </a:prstGeom>
          <a:noFill/>
        </p:spPr>
        <p:txBody>
          <a:bodyPr wrap="square" lIns="36000" rIns="36000" tIns="18000" bIns="18000" anchor="ctr">
            <a:spAutoFit/>
          </a:bodyPr>
          <a:lstStyle/>
          <a:p>
            <a:pPr algn="ctr"/>
            <a:r>
              <a:rPr sz="1400" b="1">
                <a:solidFill>
                  <a:srgbClr val="FFFFFF"/>
                </a:solidFill>
              </a:rPr>
              <a:t>!</a:t>
            </a:r>
          </a:p>
        </p:txBody>
      </p:sp>
      <p:sp>
        <p:nvSpPr>
          <p:cNvPr id="43" name="TextBox 42"/>
          <p:cNvSpPr txBox="1"/>
          <p:nvPr/>
        </p:nvSpPr>
        <p:spPr>
          <a:xfrm>
            <a:off x="7086600" y="3666744"/>
            <a:ext cx="4617720" cy="320040"/>
          </a:xfrm>
          <a:prstGeom prst="rect">
            <a:avLst/>
          </a:prstGeom>
          <a:noFill/>
        </p:spPr>
        <p:txBody>
          <a:bodyPr wrap="square" lIns="36000" rIns="36000" tIns="18000" bIns="18000">
            <a:spAutoFit/>
          </a:bodyPr>
          <a:lstStyle/>
          <a:p>
            <a:pPr algn="l"/>
            <a:r>
              <a:rPr sz="1300" b="1">
                <a:solidFill>
                  <a:srgbClr val="002F7A"/>
                </a:solidFill>
              </a:rPr>
              <a:t>Subjective labels</a:t>
            </a:r>
          </a:p>
        </p:txBody>
      </p:sp>
      <p:sp>
        <p:nvSpPr>
          <p:cNvPr id="44" name="TextBox 43"/>
          <p:cNvSpPr txBox="1"/>
          <p:nvPr/>
        </p:nvSpPr>
        <p:spPr>
          <a:xfrm>
            <a:off x="7086600" y="3941064"/>
            <a:ext cx="4617720" cy="274320"/>
          </a:xfrm>
          <a:prstGeom prst="rect">
            <a:avLst/>
          </a:prstGeom>
          <a:noFill/>
        </p:spPr>
        <p:txBody>
          <a:bodyPr wrap="square" lIns="36000" rIns="36000" tIns="18000" bIns="18000">
            <a:spAutoFit/>
          </a:bodyPr>
          <a:lstStyle/>
          <a:p>
            <a:pPr algn="l"/>
            <a:r>
              <a:rPr sz="1000" b="0">
                <a:solidFill>
                  <a:srgbClr val="96969A"/>
                </a:solidFill>
              </a:rPr>
              <a:t>Mild/Severe boundary</a:t>
            </a:r>
          </a:p>
        </p:txBody>
      </p:sp>
      <p:sp>
        <p:nvSpPr>
          <p:cNvPr id="45" name="Rounded Rectangle 44"/>
          <p:cNvSpPr/>
          <p:nvPr/>
        </p:nvSpPr>
        <p:spPr>
          <a:xfrm>
            <a:off x="6537959" y="4261103"/>
            <a:ext cx="411480" cy="411480"/>
          </a:xfrm>
          <a:prstGeom prst="roundRect">
            <a:avLst>
              <a:gd name="adj" fmla="val 25000"/>
            </a:avLst>
          </a:prstGeom>
          <a:solidFill>
            <a:srgbClr val="E53E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37959" y="4261103"/>
            <a:ext cx="411480" cy="411480"/>
          </a:xfrm>
          <a:prstGeom prst="rect">
            <a:avLst/>
          </a:prstGeom>
          <a:noFill/>
        </p:spPr>
        <p:txBody>
          <a:bodyPr wrap="square" lIns="36000" rIns="36000" tIns="18000" bIns="18000" anchor="ctr">
            <a:spAutoFit/>
          </a:bodyPr>
          <a:lstStyle/>
          <a:p>
            <a:pPr algn="ctr"/>
            <a:r>
              <a:rPr sz="1400" b="1">
                <a:solidFill>
                  <a:srgbClr val="FFFFFF"/>
                </a:solidFill>
              </a:rPr>
              <a:t>!</a:t>
            </a:r>
          </a:p>
        </p:txBody>
      </p:sp>
      <p:sp>
        <p:nvSpPr>
          <p:cNvPr id="47" name="TextBox 46"/>
          <p:cNvSpPr txBox="1"/>
          <p:nvPr/>
        </p:nvSpPr>
        <p:spPr>
          <a:xfrm>
            <a:off x="7086600" y="4233671"/>
            <a:ext cx="4617720" cy="320040"/>
          </a:xfrm>
          <a:prstGeom prst="rect">
            <a:avLst/>
          </a:prstGeom>
          <a:noFill/>
        </p:spPr>
        <p:txBody>
          <a:bodyPr wrap="square" lIns="36000" rIns="36000" tIns="18000" bIns="18000">
            <a:spAutoFit/>
          </a:bodyPr>
          <a:lstStyle/>
          <a:p>
            <a:pPr algn="l"/>
            <a:r>
              <a:rPr sz="1300" b="1">
                <a:solidFill>
                  <a:srgbClr val="002F7A"/>
                </a:solidFill>
              </a:rPr>
              <a:t>Cross-sectional</a:t>
            </a:r>
          </a:p>
        </p:txBody>
      </p:sp>
      <p:sp>
        <p:nvSpPr>
          <p:cNvPr id="48" name="TextBox 47"/>
          <p:cNvSpPr txBox="1"/>
          <p:nvPr/>
        </p:nvSpPr>
        <p:spPr>
          <a:xfrm>
            <a:off x="7086600" y="4507992"/>
            <a:ext cx="4617720" cy="274320"/>
          </a:xfrm>
          <a:prstGeom prst="rect">
            <a:avLst/>
          </a:prstGeom>
          <a:noFill/>
        </p:spPr>
        <p:txBody>
          <a:bodyPr wrap="square" lIns="36000" rIns="36000" tIns="18000" bIns="18000">
            <a:spAutoFit/>
          </a:bodyPr>
          <a:lstStyle/>
          <a:p>
            <a:pPr algn="l"/>
            <a:r>
              <a:rPr sz="1000" b="0">
                <a:solidFill>
                  <a:srgbClr val="96969A"/>
                </a:solidFill>
              </a:rPr>
              <a:t>no longitudinal follow-up</a:t>
            </a:r>
          </a:p>
        </p:txBody>
      </p:sp>
      <p:sp>
        <p:nvSpPr>
          <p:cNvPr id="49" name="Rounded Rectangle 48"/>
          <p:cNvSpPr/>
          <p:nvPr/>
        </p:nvSpPr>
        <p:spPr>
          <a:xfrm>
            <a:off x="6537959" y="4828032"/>
            <a:ext cx="411480" cy="411480"/>
          </a:xfrm>
          <a:prstGeom prst="roundRect">
            <a:avLst>
              <a:gd name="adj" fmla="val 25000"/>
            </a:avLst>
          </a:prstGeom>
          <a:solidFill>
            <a:srgbClr val="E53E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37959" y="4828032"/>
            <a:ext cx="411480" cy="411480"/>
          </a:xfrm>
          <a:prstGeom prst="rect">
            <a:avLst/>
          </a:prstGeom>
          <a:noFill/>
        </p:spPr>
        <p:txBody>
          <a:bodyPr wrap="square" lIns="36000" rIns="36000" tIns="18000" bIns="18000" anchor="ctr">
            <a:spAutoFit/>
          </a:bodyPr>
          <a:lstStyle/>
          <a:p>
            <a:pPr algn="ctr"/>
            <a:r>
              <a:rPr sz="1400" b="1">
                <a:solidFill>
                  <a:srgbClr val="FFFFFF"/>
                </a:solidFill>
              </a:rPr>
              <a:t>!</a:t>
            </a:r>
          </a:p>
        </p:txBody>
      </p:sp>
      <p:sp>
        <p:nvSpPr>
          <p:cNvPr id="51" name="TextBox 50"/>
          <p:cNvSpPr txBox="1"/>
          <p:nvPr/>
        </p:nvSpPr>
        <p:spPr>
          <a:xfrm>
            <a:off x="7086600" y="4800600"/>
            <a:ext cx="4617720" cy="320040"/>
          </a:xfrm>
          <a:prstGeom prst="rect">
            <a:avLst/>
          </a:prstGeom>
          <a:noFill/>
        </p:spPr>
        <p:txBody>
          <a:bodyPr wrap="square" lIns="36000" rIns="36000" tIns="18000" bIns="18000">
            <a:spAutoFit/>
          </a:bodyPr>
          <a:lstStyle/>
          <a:p>
            <a:pPr algn="l"/>
            <a:r>
              <a:rPr sz="1300" b="1">
                <a:solidFill>
                  <a:srgbClr val="002F7A"/>
                </a:solidFill>
              </a:rPr>
              <a:t>Missing vitals</a:t>
            </a:r>
          </a:p>
        </p:txBody>
      </p:sp>
      <p:sp>
        <p:nvSpPr>
          <p:cNvPr id="52" name="TextBox 51"/>
          <p:cNvSpPr txBox="1"/>
          <p:nvPr/>
        </p:nvSpPr>
        <p:spPr>
          <a:xfrm>
            <a:off x="7086600" y="5074920"/>
            <a:ext cx="4617720" cy="274320"/>
          </a:xfrm>
          <a:prstGeom prst="rect">
            <a:avLst/>
          </a:prstGeom>
          <a:noFill/>
        </p:spPr>
        <p:txBody>
          <a:bodyPr wrap="square" lIns="36000" rIns="36000" tIns="18000" bIns="18000">
            <a:spAutoFit/>
          </a:bodyPr>
          <a:lstStyle/>
          <a:p>
            <a:pPr algn="l"/>
            <a:r>
              <a:rPr sz="1000" b="0">
                <a:solidFill>
                  <a:srgbClr val="96969A"/>
                </a:solidFill>
              </a:rPr>
              <a:t>no BP / HR signals</a:t>
            </a:r>
          </a:p>
        </p:txBody>
      </p:sp>
      <p:sp>
        <p:nvSpPr>
          <p:cNvPr id="53" name="Rounded Rectangle 52"/>
          <p:cNvSpPr/>
          <p:nvPr/>
        </p:nvSpPr>
        <p:spPr>
          <a:xfrm>
            <a:off x="6537959" y="5394959"/>
            <a:ext cx="411480" cy="411480"/>
          </a:xfrm>
          <a:prstGeom prst="roundRect">
            <a:avLst>
              <a:gd name="adj" fmla="val 25000"/>
            </a:avLst>
          </a:prstGeom>
          <a:solidFill>
            <a:srgbClr val="E53E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537959" y="5394959"/>
            <a:ext cx="411480" cy="411480"/>
          </a:xfrm>
          <a:prstGeom prst="rect">
            <a:avLst/>
          </a:prstGeom>
          <a:noFill/>
        </p:spPr>
        <p:txBody>
          <a:bodyPr wrap="square" lIns="36000" rIns="36000" tIns="18000" bIns="18000" anchor="ctr">
            <a:spAutoFit/>
          </a:bodyPr>
          <a:lstStyle/>
          <a:p>
            <a:pPr algn="ctr"/>
            <a:r>
              <a:rPr sz="1400" b="1">
                <a:solidFill>
                  <a:srgbClr val="FFFFFF"/>
                </a:solidFill>
              </a:rPr>
              <a:t>!</a:t>
            </a:r>
          </a:p>
        </p:txBody>
      </p:sp>
      <p:sp>
        <p:nvSpPr>
          <p:cNvPr id="55" name="TextBox 54"/>
          <p:cNvSpPr txBox="1"/>
          <p:nvPr/>
        </p:nvSpPr>
        <p:spPr>
          <a:xfrm>
            <a:off x="7086600" y="5367527"/>
            <a:ext cx="4617720" cy="320040"/>
          </a:xfrm>
          <a:prstGeom prst="rect">
            <a:avLst/>
          </a:prstGeom>
          <a:noFill/>
        </p:spPr>
        <p:txBody>
          <a:bodyPr wrap="square" lIns="36000" rIns="36000" tIns="18000" bIns="18000">
            <a:spAutoFit/>
          </a:bodyPr>
          <a:lstStyle/>
          <a:p>
            <a:pPr algn="l"/>
            <a:r>
              <a:rPr sz="1300" b="1">
                <a:solidFill>
                  <a:srgbClr val="002F7A"/>
                </a:solidFill>
              </a:rPr>
              <a:t>Hand-crafted features</a:t>
            </a:r>
          </a:p>
        </p:txBody>
      </p:sp>
      <p:sp>
        <p:nvSpPr>
          <p:cNvPr id="56" name="TextBox 55"/>
          <p:cNvSpPr txBox="1"/>
          <p:nvPr/>
        </p:nvSpPr>
        <p:spPr>
          <a:xfrm>
            <a:off x="7086600" y="5641848"/>
            <a:ext cx="4617720" cy="274320"/>
          </a:xfrm>
          <a:prstGeom prst="rect">
            <a:avLst/>
          </a:prstGeom>
          <a:noFill/>
        </p:spPr>
        <p:txBody>
          <a:bodyPr wrap="square" lIns="36000" rIns="36000" tIns="18000" bIns="18000">
            <a:spAutoFit/>
          </a:bodyPr>
          <a:lstStyle/>
          <a:p>
            <a:pPr algn="l"/>
            <a:r>
              <a:rPr sz="1000" b="0">
                <a:solidFill>
                  <a:srgbClr val="96969A"/>
                </a:solidFill>
              </a:rPr>
              <a:t>no deep learning baseline</a:t>
            </a:r>
          </a:p>
        </p:txBody>
      </p:sp>
      <p:sp>
        <p:nvSpPr>
          <p:cNvPr id="57" name="TextBox 56"/>
          <p:cNvSpPr txBox="1"/>
          <p:nvPr/>
        </p:nvSpPr>
        <p:spPr>
          <a:xfrm>
            <a:off x="457200" y="6446520"/>
            <a:ext cx="7315200" cy="274320"/>
          </a:xfrm>
          <a:prstGeom prst="rect">
            <a:avLst/>
          </a:prstGeom>
          <a:noFill/>
        </p:spPr>
        <p:txBody>
          <a:bodyPr wrap="square" lIns="36000" rIns="36000" tIns="18000" bIns="18000">
            <a:spAutoFit/>
          </a:bodyPr>
          <a:lstStyle/>
          <a:p>
            <a:pPr algn="l"/>
            <a:r>
              <a:rPr sz="1000" b="0">
                <a:solidFill>
                  <a:srgbClr val="96969A"/>
                </a:solidFill>
              </a:rPr>
              <a:t>Presenter 4  |  Clinical Implications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lgn="l"/>
            <a:r>
              <a:rPr b="1" sz="2800">
                <a:solidFill>
                  <a:srgbClr val="0047BA"/>
                </a:solidFill>
              </a:rPr>
              <a:t>Conclusions  &amp;  Future Work</a:t>
            </a:r>
          </a:p>
        </p:txBody>
      </p:sp>
      <p:sp>
        <p:nvSpPr>
          <p:cNvPr id="3" name="Oval 2"/>
          <p:cNvSpPr/>
          <p:nvPr/>
        </p:nvSpPr>
        <p:spPr>
          <a:xfrm>
            <a:off x="594360" y="1874519"/>
            <a:ext cx="640080" cy="640080"/>
          </a:xfrm>
          <a:prstGeom prst="ellipse">
            <a:avLst/>
          </a:prstGeom>
          <a:solidFill>
            <a:srgbClr val="0047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28799"/>
            <a:ext cx="640080" cy="731519"/>
          </a:xfrm>
          <a:prstGeom prst="rect">
            <a:avLst/>
          </a:prstGeom>
          <a:noFill/>
        </p:spPr>
        <p:txBody>
          <a:bodyPr wrap="square" lIns="36000" rIns="36000" tIns="18000" bIns="18000" anchor="ctr">
            <a:spAutoFit/>
          </a:bodyPr>
          <a:lstStyle/>
          <a:p>
            <a:pPr algn="ctr"/>
            <a:r>
              <a:rPr sz="1500" b="1">
                <a:solidFill>
                  <a:srgbClr val="FFFFFF"/>
                </a:solidFill>
              </a:rPr>
              <a:t>01</a:t>
            </a:r>
          </a:p>
        </p:txBody>
      </p:sp>
      <p:sp>
        <p:nvSpPr>
          <p:cNvPr id="5" name="TextBox 4"/>
          <p:cNvSpPr txBox="1"/>
          <p:nvPr/>
        </p:nvSpPr>
        <p:spPr>
          <a:xfrm>
            <a:off x="1417320" y="1783080"/>
            <a:ext cx="2743200" cy="822960"/>
          </a:xfrm>
          <a:prstGeom prst="rect">
            <a:avLst/>
          </a:prstGeom>
          <a:noFill/>
        </p:spPr>
        <p:txBody>
          <a:bodyPr wrap="square" lIns="36000" rIns="36000" tIns="18000" bIns="18000" anchor="ctr">
            <a:spAutoFit/>
          </a:bodyPr>
          <a:lstStyle/>
          <a:p>
            <a:pPr algn="l"/>
            <a:r>
              <a:rPr sz="3800" b="1">
                <a:solidFill>
                  <a:srgbClr val="0047BA"/>
                </a:solidFill>
              </a:rPr>
              <a:t>81.0%</a:t>
            </a:r>
          </a:p>
        </p:txBody>
      </p:sp>
      <p:sp>
        <p:nvSpPr>
          <p:cNvPr id="6" name="TextBox 5"/>
          <p:cNvSpPr txBox="1"/>
          <p:nvPr/>
        </p:nvSpPr>
        <p:spPr>
          <a:xfrm>
            <a:off x="502920" y="2651760"/>
            <a:ext cx="3749039" cy="365760"/>
          </a:xfrm>
          <a:prstGeom prst="rect">
            <a:avLst/>
          </a:prstGeom>
          <a:noFill/>
        </p:spPr>
        <p:txBody>
          <a:bodyPr wrap="square" lIns="36000" rIns="36000" tIns="18000" bIns="18000">
            <a:spAutoFit/>
          </a:bodyPr>
          <a:lstStyle/>
          <a:p>
            <a:pPr algn="l"/>
            <a:r>
              <a:rPr sz="1600" b="1">
                <a:solidFill>
                  <a:srgbClr val="002F7A"/>
                </a:solidFill>
              </a:rPr>
              <a:t>Balanced Accuracy</a:t>
            </a:r>
          </a:p>
        </p:txBody>
      </p:sp>
      <p:sp>
        <p:nvSpPr>
          <p:cNvPr id="7" name="Rounded Rectangle 6"/>
          <p:cNvSpPr/>
          <p:nvPr/>
        </p:nvSpPr>
        <p:spPr>
          <a:xfrm>
            <a:off x="502920" y="3154680"/>
            <a:ext cx="3749039" cy="1280160"/>
          </a:xfrm>
          <a:prstGeom prst="roundRect">
            <a:avLst>
              <a:gd name="adj" fmla="val 7000"/>
            </a:avLst>
          </a:prstGeom>
          <a:solidFill>
            <a:srgbClr val="F4F8FC"/>
          </a:solidFill>
          <a:ln w="9525">
            <a:solidFill>
              <a:srgbClr val="0047B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200400"/>
            <a:ext cx="3474720" cy="1188720"/>
          </a:xfrm>
          <a:prstGeom prst="rect">
            <a:avLst/>
          </a:prstGeom>
          <a:noFill/>
        </p:spPr>
        <p:txBody>
          <a:bodyPr wrap="square" lIns="36000" rIns="36000" tIns="18000" bIns="18000" anchor="ctr">
            <a:spAutoFit/>
          </a:bodyPr>
          <a:lstStyle/>
          <a:p>
            <a:pPr algn="l"/>
            <a:r>
              <a:rPr sz="1200" b="0">
                <a:solidFill>
                  <a:srgbClr val="2B2B2B"/>
                </a:solidFill>
              </a:rPr>
              <a:t>SVM on 216 IMU features —
robust 3-class classification</a:t>
            </a:r>
          </a:p>
        </p:txBody>
      </p:sp>
      <p:sp>
        <p:nvSpPr>
          <p:cNvPr id="9" name="Oval 8"/>
          <p:cNvSpPr/>
          <p:nvPr/>
        </p:nvSpPr>
        <p:spPr>
          <a:xfrm>
            <a:off x="4480560" y="1874519"/>
            <a:ext cx="640080" cy="640080"/>
          </a:xfrm>
          <a:prstGeom prst="ellipse">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828799"/>
            <a:ext cx="640080" cy="731519"/>
          </a:xfrm>
          <a:prstGeom prst="rect">
            <a:avLst/>
          </a:prstGeom>
          <a:noFill/>
        </p:spPr>
        <p:txBody>
          <a:bodyPr wrap="square" lIns="36000" rIns="36000" tIns="18000" bIns="18000" anchor="ctr">
            <a:spAutoFit/>
          </a:bodyPr>
          <a:lstStyle/>
          <a:p>
            <a:pPr algn="ctr"/>
            <a:r>
              <a:rPr sz="1500" b="1">
                <a:solidFill>
                  <a:srgbClr val="FFFFFF"/>
                </a:solidFill>
              </a:rPr>
              <a:t>02</a:t>
            </a:r>
          </a:p>
        </p:txBody>
      </p:sp>
      <p:sp>
        <p:nvSpPr>
          <p:cNvPr id="11" name="TextBox 10"/>
          <p:cNvSpPr txBox="1"/>
          <p:nvPr/>
        </p:nvSpPr>
        <p:spPr>
          <a:xfrm>
            <a:off x="5303520" y="1783080"/>
            <a:ext cx="2743200" cy="822960"/>
          </a:xfrm>
          <a:prstGeom prst="rect">
            <a:avLst/>
          </a:prstGeom>
          <a:noFill/>
        </p:spPr>
        <p:txBody>
          <a:bodyPr wrap="square" lIns="36000" rIns="36000" tIns="18000" bIns="18000" anchor="ctr">
            <a:spAutoFit/>
          </a:bodyPr>
          <a:lstStyle/>
          <a:p>
            <a:pPr algn="l"/>
            <a:r>
              <a:rPr sz="3800" b="1">
                <a:solidFill>
                  <a:srgbClr val="00CE7C"/>
                </a:solidFill>
              </a:rPr>
              <a:t>2</a:t>
            </a:r>
          </a:p>
        </p:txBody>
      </p:sp>
      <p:sp>
        <p:nvSpPr>
          <p:cNvPr id="12" name="TextBox 11"/>
          <p:cNvSpPr txBox="1"/>
          <p:nvPr/>
        </p:nvSpPr>
        <p:spPr>
          <a:xfrm>
            <a:off x="4389120" y="2651760"/>
            <a:ext cx="3749039" cy="365760"/>
          </a:xfrm>
          <a:prstGeom prst="rect">
            <a:avLst/>
          </a:prstGeom>
          <a:noFill/>
        </p:spPr>
        <p:txBody>
          <a:bodyPr wrap="square" lIns="36000" rIns="36000" tIns="18000" bIns="18000">
            <a:spAutoFit/>
          </a:bodyPr>
          <a:lstStyle/>
          <a:p>
            <a:pPr algn="l"/>
            <a:r>
              <a:rPr sz="1600" b="1">
                <a:solidFill>
                  <a:srgbClr val="002F7A"/>
                </a:solidFill>
              </a:rPr>
              <a:t>Sensors Sufficient</a:t>
            </a:r>
          </a:p>
        </p:txBody>
      </p:sp>
      <p:sp>
        <p:nvSpPr>
          <p:cNvPr id="13" name="Rounded Rectangle 12"/>
          <p:cNvSpPr/>
          <p:nvPr/>
        </p:nvSpPr>
        <p:spPr>
          <a:xfrm>
            <a:off x="4389120" y="3154680"/>
            <a:ext cx="3749039" cy="1280160"/>
          </a:xfrm>
          <a:prstGeom prst="roundRect">
            <a:avLst>
              <a:gd name="adj" fmla="val 7000"/>
            </a:avLst>
          </a:prstGeom>
          <a:solidFill>
            <a:srgbClr val="F4F8FC"/>
          </a:solidFill>
          <a:ln w="9525">
            <a:solidFill>
              <a:srgbClr val="00CE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26280" y="3200400"/>
            <a:ext cx="3474720" cy="1188720"/>
          </a:xfrm>
          <a:prstGeom prst="rect">
            <a:avLst/>
          </a:prstGeom>
          <a:noFill/>
        </p:spPr>
        <p:txBody>
          <a:bodyPr wrap="square" lIns="36000" rIns="36000" tIns="18000" bIns="18000" anchor="ctr">
            <a:spAutoFit/>
          </a:bodyPr>
          <a:lstStyle/>
          <a:p>
            <a:pPr algn="l"/>
            <a:r>
              <a:rPr sz="1200" b="0">
                <a:solidFill>
                  <a:srgbClr val="2B2B2B"/>
                </a:solidFill>
              </a:rPr>
              <a:t>HE + LB capture 98.9% of
full 4-sensor performance</a:t>
            </a:r>
          </a:p>
        </p:txBody>
      </p:sp>
      <p:sp>
        <p:nvSpPr>
          <p:cNvPr id="15" name="Oval 14"/>
          <p:cNvSpPr/>
          <p:nvPr/>
        </p:nvSpPr>
        <p:spPr>
          <a:xfrm>
            <a:off x="8366760" y="1874519"/>
            <a:ext cx="640080" cy="640080"/>
          </a:xfrm>
          <a:prstGeom prst="ellipse">
            <a:avLst/>
          </a:prstGeom>
          <a:solidFill>
            <a:srgbClr val="E53E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60" y="1828799"/>
            <a:ext cx="640080" cy="731519"/>
          </a:xfrm>
          <a:prstGeom prst="rect">
            <a:avLst/>
          </a:prstGeom>
          <a:noFill/>
        </p:spPr>
        <p:txBody>
          <a:bodyPr wrap="square" lIns="36000" rIns="36000" tIns="18000" bIns="18000" anchor="ctr">
            <a:spAutoFit/>
          </a:bodyPr>
          <a:lstStyle/>
          <a:p>
            <a:pPr algn="ctr"/>
            <a:r>
              <a:rPr sz="1500" b="1">
                <a:solidFill>
                  <a:srgbClr val="FFFFFF"/>
                </a:solidFill>
              </a:rPr>
              <a:t>03</a:t>
            </a:r>
          </a:p>
        </p:txBody>
      </p:sp>
      <p:sp>
        <p:nvSpPr>
          <p:cNvPr id="17" name="TextBox 16"/>
          <p:cNvSpPr txBox="1"/>
          <p:nvPr/>
        </p:nvSpPr>
        <p:spPr>
          <a:xfrm>
            <a:off x="9189720" y="1783080"/>
            <a:ext cx="2743200" cy="822960"/>
          </a:xfrm>
          <a:prstGeom prst="rect">
            <a:avLst/>
          </a:prstGeom>
          <a:noFill/>
        </p:spPr>
        <p:txBody>
          <a:bodyPr wrap="square" lIns="36000" rIns="36000" tIns="18000" bIns="18000" anchor="ctr">
            <a:spAutoFit/>
          </a:bodyPr>
          <a:lstStyle/>
          <a:p>
            <a:pPr algn="l"/>
            <a:r>
              <a:rPr sz="3800" b="1">
                <a:solidFill>
                  <a:srgbClr val="E53E51"/>
                </a:solidFill>
              </a:rPr>
              <a:t>✓</a:t>
            </a:r>
          </a:p>
        </p:txBody>
      </p:sp>
      <p:sp>
        <p:nvSpPr>
          <p:cNvPr id="18" name="TextBox 17"/>
          <p:cNvSpPr txBox="1"/>
          <p:nvPr/>
        </p:nvSpPr>
        <p:spPr>
          <a:xfrm>
            <a:off x="8275320" y="2651760"/>
            <a:ext cx="3749039" cy="365760"/>
          </a:xfrm>
          <a:prstGeom prst="rect">
            <a:avLst/>
          </a:prstGeom>
          <a:noFill/>
        </p:spPr>
        <p:txBody>
          <a:bodyPr wrap="square" lIns="36000" rIns="36000" tIns="18000" bIns="18000">
            <a:spAutoFit/>
          </a:bodyPr>
          <a:lstStyle/>
          <a:p>
            <a:pPr algn="l"/>
            <a:r>
              <a:rPr sz="1600" b="1">
                <a:solidFill>
                  <a:srgbClr val="002F7A"/>
                </a:solidFill>
              </a:rPr>
              <a:t>Clinically Validated</a:t>
            </a:r>
          </a:p>
        </p:txBody>
      </p:sp>
      <p:sp>
        <p:nvSpPr>
          <p:cNvPr id="19" name="Rounded Rectangle 18"/>
          <p:cNvSpPr/>
          <p:nvPr/>
        </p:nvSpPr>
        <p:spPr>
          <a:xfrm>
            <a:off x="8275320" y="3154680"/>
            <a:ext cx="3749039" cy="1280160"/>
          </a:xfrm>
          <a:prstGeom prst="roundRect">
            <a:avLst>
              <a:gd name="adj" fmla="val 7000"/>
            </a:avLst>
          </a:prstGeom>
          <a:solidFill>
            <a:srgbClr val="F4F8FC"/>
          </a:solidFill>
          <a:ln w="9525">
            <a:solidFill>
              <a:srgbClr val="E53E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0" y="3200400"/>
            <a:ext cx="3474720" cy="1188720"/>
          </a:xfrm>
          <a:prstGeom prst="rect">
            <a:avLst/>
          </a:prstGeom>
          <a:noFill/>
        </p:spPr>
        <p:txBody>
          <a:bodyPr wrap="square" lIns="36000" rIns="36000" tIns="18000" bIns="18000" anchor="ctr">
            <a:spAutoFit/>
          </a:bodyPr>
          <a:lstStyle/>
          <a:p>
            <a:pPr algn="l"/>
            <a:r>
              <a:rPr sz="1200" b="0">
                <a:solidFill>
                  <a:srgbClr val="2B2B2B"/>
                </a:solidFill>
              </a:rPr>
              <a:t>Feature rankings align with
established VGA criteria</a:t>
            </a:r>
          </a:p>
        </p:txBody>
      </p:sp>
      <p:sp>
        <p:nvSpPr>
          <p:cNvPr id="21" name="TextBox 20"/>
          <p:cNvSpPr txBox="1"/>
          <p:nvPr/>
        </p:nvSpPr>
        <p:spPr>
          <a:xfrm>
            <a:off x="502920" y="4800600"/>
            <a:ext cx="4572000" cy="365760"/>
          </a:xfrm>
          <a:prstGeom prst="rect">
            <a:avLst/>
          </a:prstGeom>
          <a:noFill/>
        </p:spPr>
        <p:txBody>
          <a:bodyPr wrap="square" lIns="36000" rIns="36000" tIns="18000" bIns="18000">
            <a:spAutoFit/>
          </a:bodyPr>
          <a:lstStyle/>
          <a:p>
            <a:pPr algn="l"/>
            <a:r>
              <a:rPr sz="1600" b="1">
                <a:solidFill>
                  <a:srgbClr val="0047BA"/>
                </a:solidFill>
              </a:rPr>
              <a:t>Future Directions</a:t>
            </a:r>
          </a:p>
        </p:txBody>
      </p:sp>
      <p:sp>
        <p:nvSpPr>
          <p:cNvPr id="22" name="Rounded Rectangle 21"/>
          <p:cNvSpPr/>
          <p:nvPr/>
        </p:nvSpPr>
        <p:spPr>
          <a:xfrm>
            <a:off x="502920" y="5303520"/>
            <a:ext cx="457200" cy="457200"/>
          </a:xfrm>
          <a:prstGeom prst="roundRect">
            <a:avLst>
              <a:gd name="adj" fmla="val 25000"/>
            </a:avLst>
          </a:prstGeom>
          <a:solidFill>
            <a:srgbClr val="0047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5303520"/>
            <a:ext cx="457200" cy="457200"/>
          </a:xfrm>
          <a:prstGeom prst="rect">
            <a:avLst/>
          </a:prstGeom>
          <a:noFill/>
        </p:spPr>
        <p:txBody>
          <a:bodyPr wrap="square" lIns="36000" rIns="36000" tIns="18000" bIns="18000" anchor="ctr">
            <a:spAutoFit/>
          </a:bodyPr>
          <a:lstStyle/>
          <a:p>
            <a:pPr algn="ctr"/>
            <a:r>
              <a:rPr sz="1100" b="1">
                <a:solidFill>
                  <a:srgbClr val="FFFFFF"/>
                </a:solidFill>
              </a:rPr>
              <a:t>DL</a:t>
            </a:r>
          </a:p>
        </p:txBody>
      </p:sp>
      <p:sp>
        <p:nvSpPr>
          <p:cNvPr id="24" name="TextBox 23"/>
          <p:cNvSpPr txBox="1"/>
          <p:nvPr/>
        </p:nvSpPr>
        <p:spPr>
          <a:xfrm>
            <a:off x="1097280" y="5257800"/>
            <a:ext cx="1920240" cy="411480"/>
          </a:xfrm>
          <a:prstGeom prst="rect">
            <a:avLst/>
          </a:prstGeom>
          <a:noFill/>
        </p:spPr>
        <p:txBody>
          <a:bodyPr wrap="square" lIns="36000" rIns="36000" tIns="18000" bIns="18000" anchor="ctr">
            <a:spAutoFit/>
          </a:bodyPr>
          <a:lstStyle/>
          <a:p>
            <a:pPr algn="l"/>
            <a:r>
              <a:rPr sz="1300" b="1">
                <a:solidFill>
                  <a:srgbClr val="0047BA"/>
                </a:solidFill>
              </a:rPr>
              <a:t>Deep Learning</a:t>
            </a:r>
          </a:p>
        </p:txBody>
      </p:sp>
      <p:sp>
        <p:nvSpPr>
          <p:cNvPr id="25" name="TextBox 24"/>
          <p:cNvSpPr txBox="1"/>
          <p:nvPr/>
        </p:nvSpPr>
        <p:spPr>
          <a:xfrm>
            <a:off x="3063239" y="5257800"/>
            <a:ext cx="3108960" cy="411480"/>
          </a:xfrm>
          <a:prstGeom prst="rect">
            <a:avLst/>
          </a:prstGeom>
          <a:noFill/>
        </p:spPr>
        <p:txBody>
          <a:bodyPr wrap="square" lIns="36000" rIns="36000" tIns="18000" bIns="18000" anchor="ctr">
            <a:spAutoFit/>
          </a:bodyPr>
          <a:lstStyle/>
          <a:p>
            <a:pPr algn="l"/>
            <a:r>
              <a:rPr sz="1200" b="0">
                <a:solidFill>
                  <a:srgbClr val="2B2B2B"/>
                </a:solidFill>
              </a:rPr>
              <a:t>CNN / LSTM on raw IMU signals</a:t>
            </a:r>
          </a:p>
        </p:txBody>
      </p:sp>
      <p:sp>
        <p:nvSpPr>
          <p:cNvPr id="26" name="Rounded Rectangle 25"/>
          <p:cNvSpPr/>
          <p:nvPr/>
        </p:nvSpPr>
        <p:spPr>
          <a:xfrm>
            <a:off x="6217920" y="5303520"/>
            <a:ext cx="457200" cy="457200"/>
          </a:xfrm>
          <a:prstGeom prst="roundRect">
            <a:avLst>
              <a:gd name="adj" fmla="val 25000"/>
            </a:avLst>
          </a:prstGeom>
          <a:solidFill>
            <a:srgbClr val="00CE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0" y="5303520"/>
            <a:ext cx="457200" cy="457200"/>
          </a:xfrm>
          <a:prstGeom prst="rect">
            <a:avLst/>
          </a:prstGeom>
          <a:noFill/>
        </p:spPr>
        <p:txBody>
          <a:bodyPr wrap="square" lIns="36000" rIns="36000" tIns="18000" bIns="18000" anchor="ctr">
            <a:spAutoFit/>
          </a:bodyPr>
          <a:lstStyle/>
          <a:p>
            <a:pPr algn="ctr"/>
            <a:r>
              <a:rPr sz="1100" b="1">
                <a:solidFill>
                  <a:srgbClr val="FFFFFF"/>
                </a:solidFill>
              </a:rPr>
              <a:t>MS</a:t>
            </a:r>
          </a:p>
        </p:txBody>
      </p:sp>
      <p:sp>
        <p:nvSpPr>
          <p:cNvPr id="28" name="TextBox 27"/>
          <p:cNvSpPr txBox="1"/>
          <p:nvPr/>
        </p:nvSpPr>
        <p:spPr>
          <a:xfrm>
            <a:off x="6812280" y="5257800"/>
            <a:ext cx="1920240" cy="411480"/>
          </a:xfrm>
          <a:prstGeom prst="rect">
            <a:avLst/>
          </a:prstGeom>
          <a:noFill/>
        </p:spPr>
        <p:txBody>
          <a:bodyPr wrap="square" lIns="36000" rIns="36000" tIns="18000" bIns="18000" anchor="ctr">
            <a:spAutoFit/>
          </a:bodyPr>
          <a:lstStyle/>
          <a:p>
            <a:pPr algn="l"/>
            <a:r>
              <a:rPr sz="1300" b="1">
                <a:solidFill>
                  <a:srgbClr val="00CE7C"/>
                </a:solidFill>
              </a:rPr>
              <a:t>Multi-Site</a:t>
            </a:r>
          </a:p>
        </p:txBody>
      </p:sp>
      <p:sp>
        <p:nvSpPr>
          <p:cNvPr id="29" name="TextBox 28"/>
          <p:cNvSpPr txBox="1"/>
          <p:nvPr/>
        </p:nvSpPr>
        <p:spPr>
          <a:xfrm>
            <a:off x="8778240" y="5257800"/>
            <a:ext cx="3108960" cy="411480"/>
          </a:xfrm>
          <a:prstGeom prst="rect">
            <a:avLst/>
          </a:prstGeom>
          <a:noFill/>
        </p:spPr>
        <p:txBody>
          <a:bodyPr wrap="square" lIns="36000" rIns="36000" tIns="18000" bIns="18000" anchor="ctr">
            <a:spAutoFit/>
          </a:bodyPr>
          <a:lstStyle/>
          <a:p>
            <a:pPr algn="l"/>
            <a:r>
              <a:rPr sz="1200" b="0">
                <a:solidFill>
                  <a:srgbClr val="2B2B2B"/>
                </a:solidFill>
              </a:rPr>
              <a:t>External validation on new datasets</a:t>
            </a:r>
          </a:p>
        </p:txBody>
      </p:sp>
      <p:sp>
        <p:nvSpPr>
          <p:cNvPr id="30" name="Rounded Rectangle 29"/>
          <p:cNvSpPr/>
          <p:nvPr/>
        </p:nvSpPr>
        <p:spPr>
          <a:xfrm>
            <a:off x="502920" y="5989320"/>
            <a:ext cx="457200" cy="457200"/>
          </a:xfrm>
          <a:prstGeom prst="roundRect">
            <a:avLst>
              <a:gd name="adj" fmla="val 25000"/>
            </a:avLst>
          </a:prstGeom>
          <a:solidFill>
            <a:srgbClr val="84DA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5989320"/>
            <a:ext cx="457200" cy="457200"/>
          </a:xfrm>
          <a:prstGeom prst="rect">
            <a:avLst/>
          </a:prstGeom>
          <a:noFill/>
        </p:spPr>
        <p:txBody>
          <a:bodyPr wrap="square" lIns="36000" rIns="36000" tIns="18000" bIns="18000" anchor="ctr">
            <a:spAutoFit/>
          </a:bodyPr>
          <a:lstStyle/>
          <a:p>
            <a:pPr algn="ctr"/>
            <a:r>
              <a:rPr sz="1100" b="1">
                <a:solidFill>
                  <a:srgbClr val="FFFFFF"/>
                </a:solidFill>
              </a:rPr>
              <a:t>ED</a:t>
            </a:r>
          </a:p>
        </p:txBody>
      </p:sp>
      <p:sp>
        <p:nvSpPr>
          <p:cNvPr id="32" name="TextBox 31"/>
          <p:cNvSpPr txBox="1"/>
          <p:nvPr/>
        </p:nvSpPr>
        <p:spPr>
          <a:xfrm>
            <a:off x="1097280" y="5943600"/>
            <a:ext cx="1920240" cy="411480"/>
          </a:xfrm>
          <a:prstGeom prst="rect">
            <a:avLst/>
          </a:prstGeom>
          <a:noFill/>
        </p:spPr>
        <p:txBody>
          <a:bodyPr wrap="square" lIns="36000" rIns="36000" tIns="18000" bIns="18000" anchor="ctr">
            <a:spAutoFit/>
          </a:bodyPr>
          <a:lstStyle/>
          <a:p>
            <a:pPr algn="l"/>
            <a:r>
              <a:rPr sz="1300" b="1">
                <a:solidFill>
                  <a:srgbClr val="84DADE"/>
                </a:solidFill>
              </a:rPr>
              <a:t>Edge Deploy</a:t>
            </a:r>
          </a:p>
        </p:txBody>
      </p:sp>
      <p:sp>
        <p:nvSpPr>
          <p:cNvPr id="33" name="TextBox 32"/>
          <p:cNvSpPr txBox="1"/>
          <p:nvPr/>
        </p:nvSpPr>
        <p:spPr>
          <a:xfrm>
            <a:off x="3063239" y="5943600"/>
            <a:ext cx="3108960" cy="411480"/>
          </a:xfrm>
          <a:prstGeom prst="rect">
            <a:avLst/>
          </a:prstGeom>
          <a:noFill/>
        </p:spPr>
        <p:txBody>
          <a:bodyPr wrap="square" lIns="36000" rIns="36000" tIns="18000" bIns="18000" anchor="ctr">
            <a:spAutoFit/>
          </a:bodyPr>
          <a:lstStyle/>
          <a:p>
            <a:pPr algn="l"/>
            <a:r>
              <a:rPr sz="1200" b="0">
                <a:solidFill>
                  <a:srgbClr val="2B2B2B"/>
                </a:solidFill>
              </a:rPr>
              <a:t>Real-time on wearable devices</a:t>
            </a:r>
          </a:p>
        </p:txBody>
      </p:sp>
      <p:sp>
        <p:nvSpPr>
          <p:cNvPr id="34" name="Rounded Rectangle 33"/>
          <p:cNvSpPr/>
          <p:nvPr/>
        </p:nvSpPr>
        <p:spPr>
          <a:xfrm>
            <a:off x="6217920" y="5989320"/>
            <a:ext cx="457200" cy="457200"/>
          </a:xfrm>
          <a:prstGeom prst="roundRect">
            <a:avLst>
              <a:gd name="adj" fmla="val 25000"/>
            </a:avLst>
          </a:prstGeom>
          <a:solidFill>
            <a:srgbClr val="E53E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0" y="5989320"/>
            <a:ext cx="457200" cy="457200"/>
          </a:xfrm>
          <a:prstGeom prst="rect">
            <a:avLst/>
          </a:prstGeom>
          <a:noFill/>
        </p:spPr>
        <p:txBody>
          <a:bodyPr wrap="square" lIns="36000" rIns="36000" tIns="18000" bIns="18000" anchor="ctr">
            <a:spAutoFit/>
          </a:bodyPr>
          <a:lstStyle/>
          <a:p>
            <a:pPr algn="ctr"/>
            <a:r>
              <a:rPr sz="1100" b="1">
                <a:solidFill>
                  <a:srgbClr val="FFFFFF"/>
                </a:solidFill>
              </a:rPr>
              <a:t>LT</a:t>
            </a:r>
          </a:p>
        </p:txBody>
      </p:sp>
      <p:sp>
        <p:nvSpPr>
          <p:cNvPr id="36" name="TextBox 35"/>
          <p:cNvSpPr txBox="1"/>
          <p:nvPr/>
        </p:nvSpPr>
        <p:spPr>
          <a:xfrm>
            <a:off x="6812280" y="5943600"/>
            <a:ext cx="1920240" cy="411480"/>
          </a:xfrm>
          <a:prstGeom prst="rect">
            <a:avLst/>
          </a:prstGeom>
          <a:noFill/>
        </p:spPr>
        <p:txBody>
          <a:bodyPr wrap="square" lIns="36000" rIns="36000" tIns="18000" bIns="18000" anchor="ctr">
            <a:spAutoFit/>
          </a:bodyPr>
          <a:lstStyle/>
          <a:p>
            <a:pPr algn="l"/>
            <a:r>
              <a:rPr sz="1300" b="1">
                <a:solidFill>
                  <a:srgbClr val="E53E51"/>
                </a:solidFill>
              </a:rPr>
              <a:t>Longitudinal</a:t>
            </a:r>
          </a:p>
        </p:txBody>
      </p:sp>
      <p:sp>
        <p:nvSpPr>
          <p:cNvPr id="37" name="TextBox 36"/>
          <p:cNvSpPr txBox="1"/>
          <p:nvPr/>
        </p:nvSpPr>
        <p:spPr>
          <a:xfrm>
            <a:off x="8778240" y="5943600"/>
            <a:ext cx="3108960" cy="411480"/>
          </a:xfrm>
          <a:prstGeom prst="rect">
            <a:avLst/>
          </a:prstGeom>
          <a:noFill/>
        </p:spPr>
        <p:txBody>
          <a:bodyPr wrap="square" lIns="36000" rIns="36000" tIns="18000" bIns="18000" anchor="ctr">
            <a:spAutoFit/>
          </a:bodyPr>
          <a:lstStyle/>
          <a:p>
            <a:pPr algn="l"/>
            <a:r>
              <a:rPr sz="1200" b="0">
                <a:solidFill>
                  <a:srgbClr val="2B2B2B"/>
                </a:solidFill>
              </a:rPr>
              <a:t>Track recovery progression over time</a:t>
            </a:r>
          </a:p>
        </p:txBody>
      </p:sp>
      <p:sp>
        <p:nvSpPr>
          <p:cNvPr id="38" name="TextBox 37"/>
          <p:cNvSpPr txBox="1"/>
          <p:nvPr/>
        </p:nvSpPr>
        <p:spPr>
          <a:xfrm>
            <a:off x="457200" y="6446520"/>
            <a:ext cx="7315200" cy="274320"/>
          </a:xfrm>
          <a:prstGeom prst="rect">
            <a:avLst/>
          </a:prstGeom>
          <a:noFill/>
        </p:spPr>
        <p:txBody>
          <a:bodyPr wrap="square" lIns="36000" rIns="36000" tIns="18000" bIns="18000">
            <a:spAutoFit/>
          </a:bodyPr>
          <a:lstStyle/>
          <a:p>
            <a:pPr algn="l"/>
            <a:r>
              <a:rPr sz="1000" b="0">
                <a:solidFill>
                  <a:srgbClr val="96969A"/>
                </a:solidFill>
              </a:rPr>
              <a:t>Presenter 4  |  Conclusions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434840"/>
            <a:ext cx="11247120" cy="457200"/>
          </a:xfrm>
          <a:prstGeom prst="rect">
            <a:avLst/>
          </a:prstGeom>
          <a:noFill/>
        </p:spPr>
        <p:txBody>
          <a:bodyPr wrap="square" lIns="36000" rIns="36000" tIns="18000" bIns="18000">
            <a:spAutoFit/>
          </a:bodyPr>
          <a:lstStyle/>
          <a:p>
            <a:pPr algn="ctr"/>
            <a:r>
              <a:rPr sz="1600" b="0">
                <a:solidFill>
                  <a:srgbClr val="FFFFFF"/>
                </a:solidFill>
              </a:rPr>
              <a:t>BMED 712  |  Rehabilitation Engineering  |  Khalifa University  |  April 2026</a:t>
            </a:r>
          </a:p>
        </p:txBody>
      </p:sp>
      <p:sp>
        <p:nvSpPr>
          <p:cNvPr id="3" name="TextBox 2"/>
          <p:cNvSpPr txBox="1"/>
          <p:nvPr/>
        </p:nvSpPr>
        <p:spPr>
          <a:xfrm>
            <a:off x="457200" y="5074920"/>
            <a:ext cx="11247120" cy="548640"/>
          </a:xfrm>
          <a:prstGeom prst="rect">
            <a:avLst/>
          </a:prstGeom>
          <a:noFill/>
        </p:spPr>
        <p:txBody>
          <a:bodyPr wrap="square" lIns="36000" rIns="36000" tIns="18000" bIns="18000">
            <a:spAutoFit/>
          </a:bodyPr>
          <a:lstStyle/>
          <a:p>
            <a:pPr algn="ctr"/>
            <a:r>
              <a:rPr sz="2800" b="1">
                <a:solidFill>
                  <a:srgbClr val="F5CE3E"/>
                </a:solidFill>
              </a:rPr>
              <a:t>Questions?</a:t>
            </a:r>
          </a:p>
        </p:txBody>
      </p:sp>
    </p:spTree>
  </p:cSld>
  <p:clrMapOvr>
    <a:masterClrMapping/>
  </p:clrMapOvr>
</p:sld>
</file>

<file path=ppt/theme/theme1.xml><?xml version="1.0" encoding="utf-8"?>
<a:theme xmlns:a="http://schemas.openxmlformats.org/drawingml/2006/main" name="KU Theme">
  <a:themeElements>
    <a:clrScheme name="KU">
      <a:dk1>
        <a:sysClr val="windowText" lastClr="000000"/>
      </a:dk1>
      <a:lt1>
        <a:sysClr val="window" lastClr="FFFFFF"/>
      </a:lt1>
      <a:dk2>
        <a:srgbClr val="0047BA"/>
      </a:dk2>
      <a:lt2>
        <a:srgbClr val="96969A"/>
      </a:lt2>
      <a:accent1>
        <a:srgbClr val="00CE7C"/>
      </a:accent1>
      <a:accent2>
        <a:srgbClr val="E53E51"/>
      </a:accent2>
      <a:accent3>
        <a:srgbClr val="84DADE"/>
      </a:accent3>
      <a:accent4>
        <a:srgbClr val="4C3041"/>
      </a:accent4>
      <a:accent5>
        <a:srgbClr val="F5CE3E"/>
      </a:accent5>
      <a:accent6>
        <a:srgbClr val="D0CFCD"/>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1850" smtClean="0"/>
        </a:defPPr>
      </a:lstStyle>
    </a:txDef>
  </a:objectDefaults>
  <a:extraClrSchemeLst/>
  <a:extLst>
    <a:ext uri="{05A4C25C-085E-4340-85A3-A5531E510DB2}">
      <thm15:themeFamily xmlns:thm15="http://schemas.microsoft.com/office/thememl/2012/main" name="KU_presentation_template_v2018-04-09 E.potx" id="{AF960482-6B50-417C-AC38-1AFEBFC77BA4}" vid="{1F04D338-456F-4FFC-9561-BAAA645232F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7BCE9BEE86D22418B98990A0B028EF2" ma:contentTypeVersion="2" ma:contentTypeDescription="Create a new document." ma:contentTypeScope="" ma:versionID="c92d080676834feb7a8d6e7ac37a685f">
  <xsd:schema xmlns:xsd="http://www.w3.org/2001/XMLSchema" xmlns:xs="http://www.w3.org/2001/XMLSchema" xmlns:p="http://schemas.microsoft.com/office/2006/metadata/properties" xmlns:ns1="http://schemas.microsoft.com/sharepoint/v3" xmlns:ns2="557946a8-a765-46f2-8d44-445b86b509b9" targetNamespace="http://schemas.microsoft.com/office/2006/metadata/properties" ma:root="true" ma:fieldsID="773afa511ca0245c4474d0f23d29f83c" ns1:_="" ns2:_="">
    <xsd:import namespace="http://schemas.microsoft.com/sharepoint/v3"/>
    <xsd:import namespace="557946a8-a765-46f2-8d44-445b86b509b9"/>
    <xsd:element name="properties">
      <xsd:complexType>
        <xsd:sequence>
          <xsd:element name="documentManagement">
            <xsd:complexType>
              <xsd:all>
                <xsd:element ref="ns1:PublishingStartDate" minOccurs="0"/>
                <xsd:element ref="ns1:PublishingExpirationDate" minOccurs="0"/>
                <xsd:element ref="ns2: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8" nillable="true" ma:displayName="Scheduling Start Date" ma:description="Scheduling Start Date is a site column created by the Publishing feature. It is used to specify the date and time on which this page will first appear to site visitors." ma:hidden="true" ma:internalName="PublishingStartDate">
      <xsd:simpleType>
        <xsd:restriction base="dms:Unknown"/>
      </xsd:simpleType>
    </xsd:element>
    <xsd:element name="PublishingExpirationDate" ma:index="9" nillable="true" ma:displayName="Scheduling End Date" ma:description="Scheduling End Date is a site column created by the Publishing feature. It is used to specify the date and time on which this page will no longer appear to site visitors." ma:hidden="true" ma:internalName="PublishingExpirationDat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57946a8-a765-46f2-8d44-445b86b509b9" elementFormDefault="qualified">
    <xsd:import namespace="http://schemas.microsoft.com/office/2006/documentManagement/types"/>
    <xsd:import namespace="http://schemas.microsoft.com/office/infopath/2007/PartnerControls"/>
    <xsd:element name="SharedWithUsers" ma:index="10"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ublishingExpirationDate xmlns="http://schemas.microsoft.com/sharepoint/v3" xsi:nil="true"/>
    <PublishingStartDate xmlns="http://schemas.microsoft.com/sharepoint/v3" xsi:nil="true"/>
  </documentManagement>
</p:properties>
</file>

<file path=customXml/itemProps1.xml><?xml version="1.0" encoding="utf-8"?>
<ds:datastoreItem xmlns:ds="http://schemas.openxmlformats.org/officeDocument/2006/customXml" ds:itemID="{AC14F958-FA86-4F8B-BDB0-691B121869CE}"/>
</file>

<file path=customXml/itemProps2.xml><?xml version="1.0" encoding="utf-8"?>
<ds:datastoreItem xmlns:ds="http://schemas.openxmlformats.org/officeDocument/2006/customXml" ds:itemID="{1FD50A8C-CA97-4410-A798-5A85CCD8F172}"/>
</file>

<file path=customXml/itemProps3.xml><?xml version="1.0" encoding="utf-8"?>
<ds:datastoreItem xmlns:ds="http://schemas.openxmlformats.org/officeDocument/2006/customXml" ds:itemID="{5B510135-11A2-4CE9-AC9A-F9B5F7E81A9F}"/>
</file>

<file path=docProps/app.xml><?xml version="1.0" encoding="utf-8"?>
<Properties xmlns="http://schemas.openxmlformats.org/officeDocument/2006/extended-properties" xmlns:vt="http://schemas.openxmlformats.org/officeDocument/2006/docPropsVTypes">
  <Template>KU Theme</Template>
  <TotalTime>91</TotalTime>
  <Words>320</Words>
  <Application>Microsoft Macintosh PowerPoint</Application>
  <PresentationFormat>Widescreen</PresentationFormat>
  <Paragraphs>70</Paragraphs>
  <Slides>12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KU Theme</vt:lpstr>
      <vt:lpstr>Main Title Goes Here</vt:lpstr>
      <vt:lpstr>Section Slide Title Goes Here</vt:lpstr>
      <vt:lpstr>Heading here</vt:lpstr>
      <vt:lpstr>Graph 01</vt:lpstr>
      <vt:lpstr>Graph 02</vt:lpstr>
      <vt:lpstr>Table</vt:lpstr>
      <vt:lpstr>Heading with images and/or illustrations</vt:lpstr>
      <vt:lpstr>Heading with images and/or illustrations</vt:lpstr>
      <vt:lpstr>Heading Text on a dark image in the background</vt:lpstr>
      <vt:lpstr>Heading Text on a light image in the background</vt:lpstr>
      <vt:lpstr>Iconography</vt:lpstr>
      <vt:lpstr>PowerPoint Presentation</vt:lpstr>
    </vt:vector>
  </TitlesOfParts>
  <Company/>
  <LinksUpToDate>false</LinksUpToDate>
  <SharedDoc>false</SharedDoc>
  <HyperlinksChanged>false</HyperlinksChanged>
  <AppVersion>16.0012</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Main Title Goes Here</dc:title>
  <dc:creator>Majed Almansoori</dc:creator>
  <cp:lastModifiedBy>Microsoft Office User</cp:lastModifiedBy>
  <cp:revision>6</cp:revision>
  <dcterms:created xsi:type="dcterms:W3CDTF">2018-04-29T10:48:36Z</dcterms:created>
  <dcterms:modified xsi:type="dcterms:W3CDTF">2018-05-01T10:05:07Z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0x010100E7BCE9BEE86D22418B98990A0B028EF2</vt:lpwstr>
  </property>
</Properties>
</file>