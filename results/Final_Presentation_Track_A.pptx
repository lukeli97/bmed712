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10"/>
    <p:sldId id="257" r:id="rId11"/>
    <p:sldId id="258" r:id="rId12"/>
    <p:sldId id="259" r:id="rId13"/>
    <p:sldId id="260" r:id="rId9"/>
    <p:sldId id="261" r:id="rId8"/>
    <p:sldId id="262" r:id="rId7"/>
    <p:sldId id="263" r:id="rId6"/>
    <p:sldId id="264" r:id="rId5"/>
    <p:sldId id="265" r:id="rId4"/>
    <p:sldId id="266" r:id="rId3"/>
    <p:sldId id="267" r:id="rId2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14A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210" d="100"/>
          <a:sy n="210" d="100"/>
        </p:scale>
        <p:origin x="2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2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customXml" Target="../customXml/item1.xml"/><Relationship Id="rId20" Type="http://schemas.openxmlformats.org/officeDocument/2006/relationships/customXml" Target="../customXml/item2.xml"/><Relationship Id="rId21" Type="http://schemas.openxmlformats.org/officeDocument/2006/relationships/customXml" Target="../customXml/item3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5/1/18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IMU-Based Gait Pathology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the GaitRec Dataset with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BMED 712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1  (Slides 1-3)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Problem &amp;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3291840" cy="146304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Subjects (8 Cohorts)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463040"/>
            <a:ext cx="3291840" cy="146304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1,356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Walking Trials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463040"/>
            <a:ext cx="3291840" cy="146304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300,991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Feature Windows</a:t>
            </a:r>
          </a:p>
        </p:txBody>
      </p:sp>
      <p:pic>
        <p:nvPicPr>
          <p:cNvPr id="12" name="Picture 11" descr="cohor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91840"/>
            <a:ext cx="6400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212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Class distribution: HC / Mild / Severe across 8 cohorts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91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GaitRec dataset (Medical Univ. Innsbruck)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4 IMU sensors: </a:t>
            </a:r>
            <a:r>
              <a:rPr sz="1300">
                <a:solidFill>
                  <a:srgbClr val="333333"/>
                </a:solidFill>
              </a:rPr>
              <a:t>HE, LB, LF, RF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3 signals: </a:t>
            </a:r>
            <a:r>
              <a:rPr sz="1300">
                <a:solidFill>
                  <a:srgbClr val="333333"/>
                </a:solidFill>
              </a:rPr>
              <a:t>FreeAcc, Gyr, Mag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3 axes: </a:t>
            </a:r>
            <a:r>
              <a:rPr sz="1300">
                <a:solidFill>
                  <a:srgbClr val="333333"/>
                </a:solidFill>
              </a:rPr>
              <a:t>X (ML), Y (AP), Z (Vert)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6 metrics per channel = 216 features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3-class: </a:t>
            </a:r>
            <a:r>
              <a:rPr sz="1300">
                <a:solidFill>
                  <a:srgbClr val="333333"/>
                </a:solidFill>
              </a:rPr>
              <a:t>HC / Mild / Severe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1  |  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Feature Extraction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2560320" cy="182880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Windowing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6s windows
50% overlap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969A"/>
                </a:solidFill>
              </a:rPr>
              <a:t>▶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463040"/>
            <a:ext cx="2560320" cy="182880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4 sensors x 3ch
x 3 axes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969A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560320" cy="182880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Mean, Std, Min
Max, DomF, 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6969A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560320" cy="182880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KW H-test
η²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576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IMU Axes: </a:t>
            </a:r>
            <a:r>
              <a:rPr sz="1400">
                <a:solidFill>
                  <a:srgbClr val="333333"/>
                </a:solidFill>
              </a:rPr>
              <a:t>X = Medial-Lateral, Y = Anterior-Posterior, Z = Superior-Inferior (Vertical)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Window configs: </a:t>
            </a:r>
            <a:r>
              <a:rPr sz="1400">
                <a:solidFill>
                  <a:srgbClr val="333333"/>
                </a:solidFill>
              </a:rPr>
              <a:t>Full Gait 6s (50% overlap) + U-Turn 3s (0% overlap)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207 / 216 features significant (p &lt; 0.05, Bonferroni corrected)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Top features: </a:t>
            </a:r>
            <a:r>
              <a:rPr sz="1400">
                <a:solidFill>
                  <a:srgbClr val="333333"/>
                </a:solidFill>
              </a:rPr>
              <a:t>HE_FreeAcc_X_dom_freq (η² = 0.303), HE_FreeAcc_Y_dom_freq (η² = 0.246)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1  |  Feature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Feature Correlation &amp; Descriptive Statistics</a:t>
            </a:r>
          </a:p>
        </p:txBody>
      </p:sp>
      <p:pic>
        <p:nvPicPr>
          <p:cNvPr id="3" name="Picture 2" descr="correlation_heatmap_Full_Gait_6s_ov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75488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Pearson correlation matrix (top 50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Key Observations: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Strong correlation clusters within same-sensor features (r &gt; 0.8)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Foot sensor FreeAcc features are highly redundant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Head sensor (HE) features are more independent → most informative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Gyroscope dominant frequency features are most discriminative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Top 3 by η² effect size: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1. HE_FreeAcc_X_dom_freq (η² = 0.303)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2. HE_FreeAcc_Y_dom_freq (η² = 0.246)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  3. LB_Gyr_Z_spec_centroid (η² = 0.221)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1  |  Descriptive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2  (Slides 4-6)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Classification Pipeline &amp; Cross-Validation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3474720" cy="201168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SVM (RBF)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BAcc: 81.0%
F1: 0.796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463040"/>
            <a:ext cx="3474720" cy="201168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BAcc: 80.1%
F1: 0.788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474720" cy="201168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BAcc: 79.8%
F1: 0.781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234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47BA"/>
                </a:solidFill>
              </a:rPr>
              <a:t>⭐ BEST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CV Strategy: </a:t>
            </a:r>
            <a:r>
              <a:rPr sz="1400">
                <a:solidFill>
                  <a:srgbClr val="333333"/>
                </a:solidFill>
              </a:rPr>
              <a:t>10-fold StratifiedGroupKFold grouped by subject_id (no data leakage)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Nested CV: </a:t>
            </a:r>
            <a:r>
              <a:rPr sz="1400">
                <a:solidFill>
                  <a:srgbClr val="333333"/>
                </a:solidFill>
              </a:rPr>
              <a:t>Outer 10-fold, Inner 5-fold → BAcc = 78.3% (2.7% optimism gap vs standard)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Demographics: </a:t>
            </a:r>
            <a:r>
              <a:rPr sz="1400">
                <a:solidFill>
                  <a:srgbClr val="333333"/>
                </a:solidFill>
              </a:rPr>
              <a:t>Age, gender (one-hot), laterality (one-hot) from _meta.json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Feature sets compared: </a:t>
            </a:r>
            <a:r>
              <a:rPr sz="1400">
                <a:solidFill>
                  <a:srgbClr val="333333"/>
                </a:solidFill>
              </a:rPr>
              <a:t>All 216 / Top 30 / Top 20 / Significant only (p &lt; 0.05)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2  |  ML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Feature Importance &amp; Selection</a:t>
            </a:r>
          </a:p>
        </p:txBody>
      </p:sp>
      <p:pic>
        <p:nvPicPr>
          <p:cNvPr id="3" name="Picture 2" descr="step05_importance_3cla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Permutation importance - top 20 features (3-class SVM)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Top 20 features by KW η²: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Head sensor dominates top ranks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Gyroscope + FreeAcc signals most informative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Top 20 achieves ~95% of full-feature performance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Feature sets tested: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- All 216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- Top 30 (η²)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- Top 20 (η²)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  - Significant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2  |  Feature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Sensor Ablation &amp; Optimal Configuration</a:t>
            </a:r>
          </a:p>
        </p:txBody>
      </p:sp>
      <p:pic>
        <p:nvPicPr>
          <p:cNvPr id="3" name="Picture 2" descr="step04_sensors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Sensor availability Pareto frontier (LR vs RF)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029200" cy="100584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1 Sensor (HE)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508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77.5%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560320"/>
            <a:ext cx="5029200" cy="100584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2 Sensors (HE+LB)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6974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80.1%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49039"/>
            <a:ext cx="5029200" cy="100584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88619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4 Sensors (All)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88619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81.0%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Clinical takeaway: </a:t>
            </a:r>
            <a:r>
              <a:rPr sz="1300">
                <a:solidFill>
                  <a:srgbClr val="333333"/>
                </a:solidFill>
              </a:rPr>
              <a:t>HE + LB = 98.9% of 4-sensor performance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Practical: </a:t>
            </a:r>
            <a:r>
              <a:rPr sz="1300">
                <a:solidFill>
                  <a:srgbClr val="333333"/>
                </a:solidFill>
              </a:rPr>
              <a:t>2 IMUs sufficient for clinical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2  |  Sensor Ablation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3  (Slides 7-9)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3-Class Classification Results</a:t>
            </a:r>
          </a:p>
        </p:txBody>
      </p:sp>
      <p:pic>
        <p:nvPicPr>
          <p:cNvPr id="3" name="Picture 2" descr="step03_confusion_3cla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0432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429768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Confusion matrices: SVM, XGBoost, Random Forest (HC / Mild / Severe)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SVM: </a:t>
            </a:r>
            <a:r>
              <a:rPr sz="1400">
                <a:solidFill>
                  <a:srgbClr val="333333"/>
                </a:solidFill>
              </a:rPr>
              <a:t>BAcc = 81.0%, F1 = 0.796  |  XGBoost: 79.8%, 0.781  |  RF: 80.1%, 0.788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HC vs Pathological: </a:t>
            </a:r>
            <a:r>
              <a:rPr sz="1400">
                <a:solidFill>
                  <a:srgbClr val="333333"/>
                </a:solidFill>
              </a:rPr>
              <a:t>&gt;90% recall  |  Main challenge: Mild vs Severe boundary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Largest error: </a:t>
            </a:r>
            <a:r>
              <a:rPr sz="1400">
                <a:solidFill>
                  <a:srgbClr val="333333"/>
                </a:solidFill>
              </a:rPr>
              <a:t>Severe → Mild (12.3%) — late-recovery patients with near-normal gait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3  |  3-Class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Gait Phase &amp; Configuration Comparison</a:t>
            </a:r>
          </a:p>
        </p:txBody>
      </p:sp>
      <p:pic>
        <p:nvPicPr>
          <p:cNvPr id="3" name="Picture 2" descr="phase_single_v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5836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2920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Full Gait (6s) vs U-Turn (3s) vs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371600"/>
            <a:ext cx="4389120" cy="109728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Full Gait 6s
(50% overlap)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463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81.0%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✔ Best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743200"/>
            <a:ext cx="4389120" cy="109728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U-Turn 3s
(0% overlap)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8346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74.2%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4114800"/>
            <a:ext cx="4389120" cy="109728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Combined
(Full + U-Turn)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79.5%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Steady-state gait provides most discriminative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3  |  Phase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Error Modes &amp; Clinical Correlation</a:t>
            </a:r>
          </a:p>
        </p:txBody>
      </p:sp>
      <p:pic>
        <p:nvPicPr>
          <p:cNvPr id="3" name="Picture 2" descr="step07_corr_vga_stride_absAI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731520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6969A"/>
                </a:solidFill>
              </a:rPr>
              <a:t>VGA score correlations with stride parameters and asymmetry indices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371600"/>
            <a:ext cx="3840480" cy="77724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Severe → Mild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12.3%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Late-recovery patients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286000"/>
            <a:ext cx="3840480" cy="77724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Mild → HC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8.1%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97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Near-normal gait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200400"/>
            <a:ext cx="3840480" cy="77724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Mild → Severe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Compensatory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891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Cohen's d: </a:t>
            </a:r>
            <a:r>
              <a:rPr sz="1300">
                <a:solidFill>
                  <a:srgbClr val="333333"/>
                </a:solidFill>
              </a:rPr>
              <a:t>Asymmetry indices show large effect sizes between Mild and Severe cohorts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VGA scores correlate with IMU-derived stride variability (r = 0.68, p &lt; 0.001)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333333"/>
                </a:solidFill>
              </a:rPr>
              <a:t>Clinical implication: </a:t>
            </a:r>
            <a:r>
              <a:rPr sz="1300">
                <a:solidFill>
                  <a:srgbClr val="333333"/>
                </a:solidFill>
              </a:rPr>
              <a:t>ML errors cluster where clinicians also disagree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3  |  Error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&amp;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4  (Slides 10-12)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Leave-One-Cohort-Out &amp; Nested CV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606040" cy="164592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Calcaneus Fx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76.8%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79" y="1371600"/>
            <a:ext cx="2606040" cy="164592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19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Ankle Fx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19" y="20116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79.2%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2606040" cy="164592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Tibial Plat. 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73.5%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1371600"/>
            <a:ext cx="2606040" cy="1645920"/>
          </a:xfrm>
          <a:prstGeom prst="rect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Femoral Fx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0116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71.9%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83280"/>
            <a:ext cx="2606040" cy="1645920"/>
          </a:xfrm>
          <a:prstGeom prst="rect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520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Knee Replace.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78.4%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79" y="3383280"/>
            <a:ext cx="2606040" cy="1645920"/>
          </a:xfrm>
          <a:prstGeom prst="rect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19" y="3520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Hip Replace.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19" y="40233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80.1%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383280"/>
            <a:ext cx="2606040" cy="1645920"/>
          </a:xfrm>
          <a:prstGeom prst="rect">
            <a:avLst/>
          </a:prstGeom>
          <a:solidFill>
            <a:srgbClr val="84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520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Hip Fx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02336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74.6%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029200"/>
            <a:ext cx="111556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7BA"/>
                </a:solidFill>
              </a:rPr>
              <a:t>Standard 10-Fold CV:  BAcc = 81.0%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53E51"/>
                </a:solidFill>
              </a:rPr>
              <a:t>Nested CV:  BAcc = 78.3%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→  2.7% optimism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Model generalizes well - not overfit. LOCO confirms robustness across pathology types.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4  |  LOCO &amp; Nested CV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Clinical Implications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5486400" cy="4572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CE7C"/>
                </a:solidFill>
              </a:rPr>
              <a:t>Clinical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81% accuracy with wearable IMUs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 sensors (Head + Lower Back) sufficient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Real-time gait screening feasible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Objective complement to VGA scoring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Scalable to home/remote monitoring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Automated severity triage in clinics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53E51"/>
                </a:solidFill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Single-site dataset (Innsbruck)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Lab-controlled environment only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Mild/Severe boundary is subjective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No longitudinal follow-up data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Missing blood pressure / heart rate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216 hand-crafted features (no DL)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4  |  Clinical Implications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47BA"/>
                </a:solidFill>
              </a:rPr>
              <a:t>Conclusions &amp; Future Work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1463040"/>
            <a:ext cx="731520" cy="731520"/>
          </a:xfrm>
          <a:prstGeom prst="ellipse">
            <a:avLst/>
          </a:prstGeom>
          <a:solidFill>
            <a:srgbClr val="0047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BA"/>
                </a:solidFill>
              </a:rPr>
              <a:t>81.0% Balanced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SVM with 216 IMU features
achieves robust 3-class classification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1463040"/>
            <a:ext cx="731520" cy="731520"/>
          </a:xfrm>
          <a:prstGeom prst="ellipse">
            <a:avLst/>
          </a:prstGeom>
          <a:solidFill>
            <a:srgbClr val="00C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E7C"/>
                </a:solidFill>
              </a:rPr>
              <a:t>2 Sensors 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Head + Lower Back IMUs capture
98.9% of 4-sensor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0" y="1463040"/>
            <a:ext cx="731520" cy="731520"/>
          </a:xfrm>
          <a:prstGeom prst="ellipse">
            <a:avLst/>
          </a:prstGeom>
          <a:solidFill>
            <a:srgbClr val="E53E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53E51"/>
                </a:solidFill>
              </a:rPr>
              <a:t>Clinically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926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Feature rankings align with
established VGA scoring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389120"/>
            <a:ext cx="111556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47BA"/>
                </a:solidFill>
              </a:rPr>
              <a:t>Future Directions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/>
            </a:r>
            <a:r>
              <a:rPr sz="1300" b="1">
                <a:solidFill>
                  <a:srgbClr val="0047BA"/>
                </a:solidFill>
              </a:rPr>
              <a:t>Deep Learning: </a:t>
            </a:r>
            <a:r>
              <a:rPr sz="1300">
                <a:solidFill>
                  <a:srgbClr val="333333"/>
                </a:solidFill>
              </a:rPr>
              <a:t>CNN/LSTM on raw IMU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/>
            </a:r>
            <a:r>
              <a:rPr sz="1300" b="1">
                <a:solidFill>
                  <a:srgbClr val="0047BA"/>
                </a:solidFill>
              </a:rPr>
              <a:t>Multi-Site: </a:t>
            </a:r>
            <a:r>
              <a:rPr sz="1300">
                <a:solidFill>
                  <a:srgbClr val="333333"/>
                </a:solidFill>
              </a:rPr>
              <a:t>External validation on other gait datasets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/>
            </a:r>
            <a:r>
              <a:rPr sz="1300" b="1">
                <a:solidFill>
                  <a:srgbClr val="0047BA"/>
                </a:solidFill>
              </a:rPr>
              <a:t>Edge Deployment: </a:t>
            </a:r>
            <a:r>
              <a:rPr sz="1300">
                <a:solidFill>
                  <a:srgbClr val="333333"/>
                </a:solidFill>
              </a:rPr>
              <a:t>Real-time classification on wearable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94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/>
            </a:r>
            <a:r>
              <a:rPr sz="1300" b="1">
                <a:solidFill>
                  <a:srgbClr val="0047BA"/>
                </a:solidFill>
              </a:rPr>
              <a:t>Longitudinal: </a:t>
            </a:r>
            <a:r>
              <a:rPr sz="1300">
                <a:solidFill>
                  <a:srgbClr val="333333"/>
                </a:solidFill>
              </a:rPr>
              <a:t>Track recovery progression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6969A"/>
                </a:solidFill>
              </a:rPr>
              <a:t>Presenter 4  |  Conclusions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BMED 712 – Rehabilitation Engineering  |  Khalifa University  | 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E7C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BCE9BEE86D22418B98990A0B028EF2" ma:contentTypeVersion="2" ma:contentTypeDescription="Create a new document." ma:contentTypeScope="" ma:versionID="c92d080676834feb7a8d6e7ac37a685f">
  <xsd:schema xmlns:xsd="http://www.w3.org/2001/XMLSchema" xmlns:xs="http://www.w3.org/2001/XMLSchema" xmlns:p="http://schemas.microsoft.com/office/2006/metadata/properties" xmlns:ns1="http://schemas.microsoft.com/sharepoint/v3" xmlns:ns2="557946a8-a765-46f2-8d44-445b86b509b9" targetNamespace="http://schemas.microsoft.com/office/2006/metadata/properties" ma:root="true" ma:fieldsID="773afa511ca0245c4474d0f23d29f83c" ns1:_="" ns2:_="">
    <xsd:import namespace="http://schemas.microsoft.com/sharepoint/v3"/>
    <xsd:import namespace="557946a8-a765-46f2-8d44-445b86b509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7946a8-a765-46f2-8d44-445b86b509b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C14F958-FA86-4F8B-BDB0-691B121869CE}"/>
</file>

<file path=customXml/itemProps2.xml><?xml version="1.0" encoding="utf-8"?>
<ds:datastoreItem xmlns:ds="http://schemas.openxmlformats.org/officeDocument/2006/customXml" ds:itemID="{1FD50A8C-CA97-4410-A798-5A85CCD8F172}"/>
</file>

<file path=customXml/itemProps3.xml><?xml version="1.0" encoding="utf-8"?>
<ds:datastoreItem xmlns:ds="http://schemas.openxmlformats.org/officeDocument/2006/customXml" ds:itemID="{5B510135-11A2-4CE9-AC9A-F9B5F7E81A9F}"/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91</TotalTime>
  <Words>320</Words>
  <Application>Microsoft Macintosh PowerPoint</Application>
  <PresentationFormat>Widescreen</PresentationFormat>
  <Paragraphs>70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KU Theme</vt:lpstr>
      <vt:lpstr>Main Title Goes Here</vt:lpstr>
      <vt:lpstr>Section Slide Title Goes Here</vt:lpstr>
      <vt:lpstr>Heading here</vt:lpstr>
      <vt:lpstr>Graph 01</vt:lpstr>
      <vt:lpstr>Graph 02</vt:lpstr>
      <vt:lpstr>Table</vt:lpstr>
      <vt:lpstr>Heading with images and/or illustrations</vt:lpstr>
      <vt:lpstr>Heading with images and/or illustrations</vt:lpstr>
      <vt:lpstr>Heading Text on a dark image in the background</vt:lpstr>
      <vt:lpstr>Heading Text on a light image in the background</vt:lpstr>
      <vt:lpstr>Iconography</vt:lpstr>
      <vt:lpstr>PowerPoint Presentation</vt:lpstr>
    </vt:vector>
  </TitlesOfParts>
  <Company/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Microsoft Office User</cp:lastModifiedBy>
  <cp:revision>6</cp:revision>
  <dcterms:created xsi:type="dcterms:W3CDTF">2018-04-29T10:48:36Z</dcterms:created>
  <dcterms:modified xsi:type="dcterms:W3CDTF">2018-05-01T10:05:07Z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0x010100E7BCE9BEE86D22418B98990A0B028EF2</vt:lpwstr>
  </property>
</Properties>
</file>